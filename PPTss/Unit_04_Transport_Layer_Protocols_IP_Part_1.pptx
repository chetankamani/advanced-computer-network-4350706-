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handoutMasterIdLst>
    <p:handoutMasterId r:id="rId44"/>
  </p:handoutMasterIdLst>
  <p:sldIdLst>
    <p:sldId id="256" r:id="rId2"/>
    <p:sldId id="257" r:id="rId3"/>
    <p:sldId id="306" r:id="rId4"/>
    <p:sldId id="307" r:id="rId5"/>
    <p:sldId id="308"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1" r:id="rId29"/>
    <p:sldId id="332" r:id="rId30"/>
    <p:sldId id="333" r:id="rId31"/>
    <p:sldId id="334" r:id="rId32"/>
    <p:sldId id="335" r:id="rId33"/>
    <p:sldId id="337" r:id="rId34"/>
    <p:sldId id="336" r:id="rId35"/>
    <p:sldId id="338" r:id="rId36"/>
    <p:sldId id="339" r:id="rId37"/>
    <p:sldId id="340" r:id="rId38"/>
    <p:sldId id="341" r:id="rId39"/>
    <p:sldId id="342" r:id="rId40"/>
    <p:sldId id="305" r:id="rId41"/>
    <p:sldId id="304" r:id="rId4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41" autoAdjust="0"/>
  </p:normalViewPr>
  <p:slideViewPr>
    <p:cSldViewPr>
      <p:cViewPr varScale="1">
        <p:scale>
          <a:sx n="78" d="100"/>
          <a:sy n="78" d="100"/>
        </p:scale>
        <p:origin x="787" y="62"/>
      </p:cViewPr>
      <p:guideLst>
        <p:guide pos="3839"/>
        <p:guide orient="horz" pos="2160"/>
      </p:guideLst>
    </p:cSldViewPr>
  </p:slideViewPr>
  <p:notesTextViewPr>
    <p:cViewPr>
      <p:scale>
        <a:sx n="1" d="1"/>
        <a:sy n="1" d="1"/>
      </p:scale>
      <p:origin x="0" y="0"/>
    </p:cViewPr>
  </p:notesTextViewPr>
  <p:notesViewPr>
    <p:cSldViewPr showGuides="1">
      <p:cViewPr varScale="1">
        <p:scale>
          <a:sx n="62" d="100"/>
          <a:sy n="62" d="100"/>
        </p:scale>
        <p:origin x="2371"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10/20/2023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10/20/2023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Unit-4</a:t>
            </a:r>
            <a:br>
              <a:rPr lang="en-US" sz="4000" dirty="0"/>
            </a:br>
            <a:r>
              <a:rPr lang="en-US" sz="4000" dirty="0"/>
              <a:t>Transport Layer Protocols</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normAutofit/>
          </a:bodyPr>
          <a:lstStyle/>
          <a:p>
            <a:r>
              <a:rPr lang="en-US" dirty="0"/>
              <a:t>Introduction</a:t>
            </a:r>
          </a:p>
          <a:p>
            <a:pPr lvl="1"/>
            <a:r>
              <a:rPr lang="en-US" dirty="0"/>
              <a:t>Services</a:t>
            </a:r>
          </a:p>
          <a:p>
            <a:pPr lvl="1"/>
            <a:r>
              <a:rPr lang="en-US" dirty="0"/>
              <a:t>Port Numbers</a:t>
            </a:r>
          </a:p>
          <a:p>
            <a:r>
              <a:rPr lang="en-US" dirty="0"/>
              <a:t>User Datagram Protocols</a:t>
            </a:r>
          </a:p>
          <a:p>
            <a:pPr lvl="1"/>
            <a:r>
              <a:rPr lang="en-US" dirty="0"/>
              <a:t>User Datagram</a:t>
            </a:r>
          </a:p>
          <a:p>
            <a:pPr lvl="1"/>
            <a:r>
              <a:rPr lang="en-US" dirty="0"/>
              <a:t>UDP services</a:t>
            </a:r>
          </a:p>
          <a:p>
            <a:r>
              <a:rPr lang="en-IN" dirty="0"/>
              <a:t>Comparison between UDP and Generic Simple Protocol</a:t>
            </a:r>
            <a:endParaRPr lang="en-US" dirty="0"/>
          </a:p>
          <a:p>
            <a:r>
              <a:rPr lang="en-US" dirty="0"/>
              <a:t>UDP Applications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a:t>
            </a:r>
          </a:p>
        </p:txBody>
      </p:sp>
      <p:pic>
        <p:nvPicPr>
          <p:cNvPr id="9" name="Content Placeholder 8">
            <a:extLst>
              <a:ext uri="{FF2B5EF4-FFF2-40B4-BE49-F238E27FC236}">
                <a16:creationId xmlns:a16="http://schemas.microsoft.com/office/drawing/2014/main" id="{594116E6-C39A-2BBD-7824-D02F6F66E392}"/>
              </a:ext>
            </a:extLst>
          </p:cNvPr>
          <p:cNvPicPr>
            <a:picLocks noGrp="1" noChangeAspect="1"/>
          </p:cNvPicPr>
          <p:nvPr>
            <p:ph idx="1"/>
          </p:nvPr>
        </p:nvPicPr>
        <p:blipFill rotWithShape="1">
          <a:blip r:embed="rId2"/>
          <a:srcRect l="15934" t="28964" r="16830" b="13662"/>
          <a:stretch/>
        </p:blipFill>
        <p:spPr>
          <a:xfrm>
            <a:off x="2277988" y="1916832"/>
            <a:ext cx="8577424" cy="3888432"/>
          </a:xfrm>
        </p:spPr>
      </p:pic>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10" name="TextBox 9">
            <a:extLst>
              <a:ext uri="{FF2B5EF4-FFF2-40B4-BE49-F238E27FC236}">
                <a16:creationId xmlns:a16="http://schemas.microsoft.com/office/drawing/2014/main" id="{8A230619-0E31-4A9F-B876-50F6F258ECD1}"/>
              </a:ext>
            </a:extLst>
          </p:cNvPr>
          <p:cNvSpPr txBox="1"/>
          <p:nvPr/>
        </p:nvSpPr>
        <p:spPr>
          <a:xfrm>
            <a:off x="3502124" y="5932216"/>
            <a:ext cx="6768752" cy="341632"/>
          </a:xfrm>
          <a:prstGeom prst="rect">
            <a:avLst/>
          </a:prstGeom>
          <a:noFill/>
        </p:spPr>
        <p:txBody>
          <a:bodyPr wrap="square" rtlCol="0">
            <a:spAutoFit/>
          </a:bodyPr>
          <a:lstStyle/>
          <a:p>
            <a:pPr>
              <a:lnSpc>
                <a:spcPct val="90000"/>
              </a:lnSpc>
            </a:pPr>
            <a:r>
              <a:rPr lang="en-IN" sz="1800" b="0" i="1" u="none" strike="noStrike" baseline="0" dirty="0">
                <a:latin typeface="Times-Italic"/>
              </a:rPr>
              <a:t>Position of transport-layer protocols in the TCP/IP protocol suite</a:t>
            </a:r>
            <a:endParaRPr lang="en-IN" sz="2400" dirty="0"/>
          </a:p>
        </p:txBody>
      </p:sp>
    </p:spTree>
    <p:extLst>
      <p:ext uri="{BB962C8B-B14F-4D97-AF65-F5344CB8AC3E}">
        <p14:creationId xmlns:p14="http://schemas.microsoft.com/office/powerpoint/2010/main" val="210007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dirty="0"/>
              <a:t>Each Transport Layer Protocol provides a different type of service and should be used appropriately.</a:t>
            </a:r>
          </a:p>
          <a:p>
            <a:r>
              <a:rPr lang="en-IN" b="1" dirty="0">
                <a:solidFill>
                  <a:srgbClr val="FFFF00"/>
                </a:solidFill>
              </a:rPr>
              <a:t>UDP</a:t>
            </a:r>
          </a:p>
          <a:p>
            <a:pPr lvl="1"/>
            <a:r>
              <a:rPr lang="en-IN" dirty="0"/>
              <a:t>UDP is an unreliable connectionless transport-layer protocol used for its simplicity and efficiency in applications where error control can be provided by the application-layer process.</a:t>
            </a:r>
          </a:p>
          <a:p>
            <a:r>
              <a:rPr lang="en-IN" b="1" dirty="0">
                <a:solidFill>
                  <a:srgbClr val="FFFF00"/>
                </a:solidFill>
              </a:rPr>
              <a:t>TCP</a:t>
            </a:r>
          </a:p>
          <a:p>
            <a:pPr lvl="1"/>
            <a:r>
              <a:rPr lang="en-IN" dirty="0"/>
              <a:t>TCP is a reliable connection-oriented protocol that can be used in any application where reliability is important.</a:t>
            </a:r>
          </a:p>
          <a:p>
            <a:r>
              <a:rPr lang="en-IN" b="1" dirty="0">
                <a:solidFill>
                  <a:srgbClr val="FFFF00"/>
                </a:solidFill>
              </a:rPr>
              <a:t>SCTP</a:t>
            </a:r>
          </a:p>
          <a:p>
            <a:pPr lvl="1"/>
            <a:r>
              <a:rPr lang="en-IN" dirty="0"/>
              <a:t>SCTP is a new transport-layer protocol that combines the features of UDP and TCP.</a:t>
            </a:r>
          </a:p>
        </p:txBody>
      </p:sp>
    </p:spTree>
    <p:extLst>
      <p:ext uri="{BB962C8B-B14F-4D97-AF65-F5344CB8AC3E}">
        <p14:creationId xmlns:p14="http://schemas.microsoft.com/office/powerpoint/2010/main" val="2865934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Port Numbers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pPr algn="just"/>
            <a:r>
              <a:rPr lang="en-IN" dirty="0"/>
              <a:t>A Transport-layer protocol usually has several responsibilities. One is to create a </a:t>
            </a:r>
            <a:r>
              <a:rPr lang="en-IN" i="1" dirty="0">
                <a:solidFill>
                  <a:srgbClr val="FFFF00"/>
                </a:solidFill>
              </a:rPr>
              <a:t>process-to-process communication</a:t>
            </a:r>
            <a:r>
              <a:rPr lang="en-IN" dirty="0"/>
              <a:t>; these protocols use port numbers to accomplish this. </a:t>
            </a:r>
          </a:p>
          <a:p>
            <a:pPr algn="just"/>
            <a:r>
              <a:rPr lang="en-IN" dirty="0"/>
              <a:t>Port numbers provide </a:t>
            </a:r>
            <a:r>
              <a:rPr lang="en-IN" i="1" dirty="0">
                <a:solidFill>
                  <a:srgbClr val="FFFF00"/>
                </a:solidFill>
              </a:rPr>
              <a:t>end-to-end addresses at the transport layer </a:t>
            </a:r>
            <a:r>
              <a:rPr lang="en-IN" dirty="0"/>
              <a:t>and allow multiplexing and demultiplexing at this layer, just as IP addresses do at the network layer.</a:t>
            </a:r>
          </a:p>
        </p:txBody>
      </p:sp>
    </p:spTree>
    <p:extLst>
      <p:ext uri="{BB962C8B-B14F-4D97-AF65-F5344CB8AC3E}">
        <p14:creationId xmlns:p14="http://schemas.microsoft.com/office/powerpoint/2010/main" val="423558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Port Numbers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6" name="Content Placeholder 5">
            <a:extLst>
              <a:ext uri="{FF2B5EF4-FFF2-40B4-BE49-F238E27FC236}">
                <a16:creationId xmlns:a16="http://schemas.microsoft.com/office/drawing/2014/main" id="{26A48AE6-A0D5-AF80-393E-A51044F6B1CA}"/>
              </a:ext>
            </a:extLst>
          </p:cNvPr>
          <p:cNvPicPr>
            <a:picLocks noGrp="1" noChangeAspect="1"/>
          </p:cNvPicPr>
          <p:nvPr>
            <p:ph idx="1"/>
          </p:nvPr>
        </p:nvPicPr>
        <p:blipFill rotWithShape="1">
          <a:blip r:embed="rId2"/>
          <a:srcRect l="24165" t="16894" r="15791" b="6648"/>
          <a:stretch/>
        </p:blipFill>
        <p:spPr>
          <a:xfrm>
            <a:off x="3070076" y="1628800"/>
            <a:ext cx="6706138" cy="4536504"/>
          </a:xfrm>
        </p:spPr>
      </p:pic>
      <p:sp>
        <p:nvSpPr>
          <p:cNvPr id="8" name="TextBox 7">
            <a:extLst>
              <a:ext uri="{FF2B5EF4-FFF2-40B4-BE49-F238E27FC236}">
                <a16:creationId xmlns:a16="http://schemas.microsoft.com/office/drawing/2014/main" id="{5AB7EF0C-1F2A-5ABB-A251-63630C39636A}"/>
              </a:ext>
            </a:extLst>
          </p:cNvPr>
          <p:cNvSpPr txBox="1"/>
          <p:nvPr/>
        </p:nvSpPr>
        <p:spPr>
          <a:xfrm>
            <a:off x="3980597" y="6129372"/>
            <a:ext cx="6096000" cy="369332"/>
          </a:xfrm>
          <a:prstGeom prst="rect">
            <a:avLst/>
          </a:prstGeom>
          <a:noFill/>
        </p:spPr>
        <p:txBody>
          <a:bodyPr wrap="square">
            <a:spAutoFit/>
          </a:bodyPr>
          <a:lstStyle/>
          <a:p>
            <a:r>
              <a:rPr lang="en-IN" sz="1800" b="0" i="1" u="none" strike="noStrike" baseline="0" dirty="0">
                <a:latin typeface="Times-Italic"/>
              </a:rPr>
              <a:t>Some well-known ports used with UDP and TCP</a:t>
            </a:r>
            <a:endParaRPr lang="en-IN" dirty="0"/>
          </a:p>
        </p:txBody>
      </p:sp>
    </p:spTree>
    <p:extLst>
      <p:ext uri="{BB962C8B-B14F-4D97-AF65-F5344CB8AC3E}">
        <p14:creationId xmlns:p14="http://schemas.microsoft.com/office/powerpoint/2010/main" val="2216500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User Datagram Protocol</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dirty="0"/>
              <a:t>The User Datagram Protocol (UDP) is a connectionless, unreliable transport protocol. </a:t>
            </a:r>
          </a:p>
          <a:p>
            <a:r>
              <a:rPr lang="en-IN" dirty="0"/>
              <a:t>It does not add anything to the services of IP except for providing process-to-process communication instead of host-to-host communication. </a:t>
            </a:r>
          </a:p>
          <a:p>
            <a:r>
              <a:rPr lang="en-IN" dirty="0"/>
              <a:t>If UDP is so powerless, why would a process want to use it? With the disadvantages come some advantages. </a:t>
            </a:r>
          </a:p>
          <a:p>
            <a:r>
              <a:rPr lang="en-IN" dirty="0"/>
              <a:t>UDP is a very simple protocol using a minimum of overhead. If a process wants to send a small message and does not care much about reliability, it can use UDP. Sending a small message using UDP takes much less interaction between the sender and receiver than using TCP. </a:t>
            </a:r>
          </a:p>
        </p:txBody>
      </p:sp>
    </p:spTree>
    <p:extLst>
      <p:ext uri="{BB962C8B-B14F-4D97-AF65-F5344CB8AC3E}">
        <p14:creationId xmlns:p14="http://schemas.microsoft.com/office/powerpoint/2010/main" val="765211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User Datagram</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pic>
        <p:nvPicPr>
          <p:cNvPr id="6" name="Content Placeholder 5">
            <a:extLst>
              <a:ext uri="{FF2B5EF4-FFF2-40B4-BE49-F238E27FC236}">
                <a16:creationId xmlns:a16="http://schemas.microsoft.com/office/drawing/2014/main" id="{D3AD3544-09F5-31EE-63D7-24A3E7740997}"/>
              </a:ext>
            </a:extLst>
          </p:cNvPr>
          <p:cNvPicPr>
            <a:picLocks noGrp="1" noChangeAspect="1"/>
          </p:cNvPicPr>
          <p:nvPr>
            <p:ph idx="1"/>
          </p:nvPr>
        </p:nvPicPr>
        <p:blipFill rotWithShape="1">
          <a:blip r:embed="rId2"/>
          <a:srcRect l="31229" t="36840" r="27270" b="23269"/>
          <a:stretch/>
        </p:blipFill>
        <p:spPr>
          <a:xfrm>
            <a:off x="2349996" y="1851667"/>
            <a:ext cx="8063252" cy="4117404"/>
          </a:xfrm>
        </p:spPr>
      </p:pic>
    </p:spTree>
    <p:extLst>
      <p:ext uri="{BB962C8B-B14F-4D97-AF65-F5344CB8AC3E}">
        <p14:creationId xmlns:p14="http://schemas.microsoft.com/office/powerpoint/2010/main" val="481454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User Datagram</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lnSpcReduction="10000"/>
          </a:bodyPr>
          <a:lstStyle/>
          <a:p>
            <a:r>
              <a:rPr lang="en-IN" dirty="0"/>
              <a:t>UDP packets, called user datagrams, have a fixed-size header of 8 bytes made of four fields, each of 2 bytes (16 bits). </a:t>
            </a:r>
          </a:p>
          <a:p>
            <a:r>
              <a:rPr lang="en-IN" dirty="0"/>
              <a:t>The first two fields define the source and destination port numbers. </a:t>
            </a:r>
          </a:p>
          <a:p>
            <a:r>
              <a:rPr lang="en-IN" dirty="0"/>
              <a:t>The third field defines the total length of the user datagram, header plus data.</a:t>
            </a:r>
          </a:p>
          <a:p>
            <a:pPr marL="0" indent="0">
              <a:buNone/>
            </a:pPr>
            <a:r>
              <a:rPr lang="en-IN" dirty="0"/>
              <a:t>		</a:t>
            </a:r>
            <a:r>
              <a:rPr lang="en-IN" b="1" dirty="0">
                <a:solidFill>
                  <a:srgbClr val="FFFF00"/>
                </a:solidFill>
              </a:rPr>
              <a:t>Total Length = Header Length + Data Length </a:t>
            </a:r>
          </a:p>
          <a:p>
            <a:r>
              <a:rPr lang="en-IN" dirty="0"/>
              <a:t>The 16 bits can define a total length of 0 to 65,535 bytes. However, the total length needs to be less because a UDP user datagram is stored in an IP datagram with the total length of 65,535 bytes.</a:t>
            </a:r>
          </a:p>
          <a:p>
            <a:r>
              <a:rPr lang="en-IN" dirty="0"/>
              <a:t> The last field can carry the optional checksum.</a:t>
            </a:r>
          </a:p>
        </p:txBody>
      </p:sp>
    </p:spTree>
    <p:extLst>
      <p:ext uri="{BB962C8B-B14F-4D97-AF65-F5344CB8AC3E}">
        <p14:creationId xmlns:p14="http://schemas.microsoft.com/office/powerpoint/2010/main" val="2137777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dirty="0"/>
              <a:t>The following is the content of a UDP header in hexadecimal format.</a:t>
            </a:r>
          </a:p>
          <a:p>
            <a:pPr marL="274320" lvl="1" indent="0" algn="ctr">
              <a:buNone/>
            </a:pPr>
            <a:endParaRPr lang="en-IN" sz="2800" b="1" i="0" u="none" strike="noStrike" baseline="0" dirty="0">
              <a:latin typeface="Times-Bold"/>
            </a:endParaRPr>
          </a:p>
          <a:p>
            <a:pPr marL="274320" lvl="1" indent="0" algn="ctr">
              <a:buNone/>
            </a:pPr>
            <a:r>
              <a:rPr lang="en-IN" sz="2800" b="1" i="0" u="none" strike="noStrike" baseline="0" dirty="0">
                <a:solidFill>
                  <a:srgbClr val="FFFF00"/>
                </a:solidFill>
                <a:latin typeface="Times-Bold"/>
              </a:rPr>
              <a:t>CB84000D001C001C</a:t>
            </a:r>
            <a:endParaRPr lang="en-IN" sz="3200" dirty="0">
              <a:solidFill>
                <a:srgbClr val="FFFF00"/>
              </a:solidFill>
            </a:endParaRPr>
          </a:p>
          <a:p>
            <a:pPr lvl="1"/>
            <a:endParaRPr lang="en-IN" dirty="0"/>
          </a:p>
          <a:p>
            <a:pPr lvl="1"/>
            <a:r>
              <a:rPr lang="en-IN" dirty="0"/>
              <a:t>a. What is the source port number?</a:t>
            </a:r>
          </a:p>
          <a:p>
            <a:pPr lvl="1"/>
            <a:r>
              <a:rPr lang="en-IN" dirty="0"/>
              <a:t>b. What is the destination port number?</a:t>
            </a:r>
          </a:p>
          <a:p>
            <a:pPr lvl="1"/>
            <a:r>
              <a:rPr lang="en-IN" dirty="0"/>
              <a:t>c. What is the total length of the user datagram?</a:t>
            </a:r>
          </a:p>
          <a:p>
            <a:pPr lvl="1"/>
            <a:r>
              <a:rPr lang="en-IN" dirty="0"/>
              <a:t>d. What is the length of the data?</a:t>
            </a:r>
          </a:p>
          <a:p>
            <a:pPr lvl="1"/>
            <a:r>
              <a:rPr lang="en-IN" dirty="0"/>
              <a:t>e. Is the packet directed from a client to a server or vice versa?</a:t>
            </a:r>
          </a:p>
          <a:p>
            <a:pPr lvl="1"/>
            <a:r>
              <a:rPr lang="en-IN" dirty="0"/>
              <a:t>f. What is the client process?</a:t>
            </a:r>
          </a:p>
        </p:txBody>
      </p:sp>
    </p:spTree>
    <p:extLst>
      <p:ext uri="{BB962C8B-B14F-4D97-AF65-F5344CB8AC3E}">
        <p14:creationId xmlns:p14="http://schemas.microsoft.com/office/powerpoint/2010/main" val="1303076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Solution</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fontScale="92500" lnSpcReduction="10000"/>
          </a:bodyPr>
          <a:lstStyle/>
          <a:p>
            <a:r>
              <a:rPr lang="en-IN" dirty="0"/>
              <a:t>a. The source port number is the first four hexadecimal digits (CB84)16, which means that the source port number is 52100.</a:t>
            </a:r>
          </a:p>
          <a:p>
            <a:r>
              <a:rPr lang="en-IN" dirty="0"/>
              <a:t>b. The destination port number is the second four hexadecimal digits (000D)16, which means that the destination port number is 13.</a:t>
            </a:r>
          </a:p>
          <a:p>
            <a:r>
              <a:rPr lang="en-IN" dirty="0"/>
              <a:t>c. The third four hexadecimal digits (001C)16 define the length of the whole UDP packet as 28 bytes.</a:t>
            </a:r>
          </a:p>
          <a:p>
            <a:r>
              <a:rPr lang="en-IN" dirty="0"/>
              <a:t>d. The length of the data is the length of the whole packet minus the length of the header, or 28 − 8 = 20 bytes.</a:t>
            </a:r>
          </a:p>
          <a:p>
            <a:r>
              <a:rPr lang="en-IN" dirty="0"/>
              <a:t>e. Since the destination port number is 13 (well-known port), the packet is from the client to the server.</a:t>
            </a:r>
          </a:p>
          <a:p>
            <a:r>
              <a:rPr lang="en-IN" dirty="0"/>
              <a:t>f. The client process is the Daytime</a:t>
            </a:r>
          </a:p>
        </p:txBody>
      </p:sp>
    </p:spTree>
    <p:extLst>
      <p:ext uri="{BB962C8B-B14F-4D97-AF65-F5344CB8AC3E}">
        <p14:creationId xmlns:p14="http://schemas.microsoft.com/office/powerpoint/2010/main" val="1806959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fontScale="92500" lnSpcReduction="20000"/>
          </a:bodyPr>
          <a:lstStyle/>
          <a:p>
            <a:r>
              <a:rPr lang="en-IN" dirty="0"/>
              <a:t>Process-to-Process Communication</a:t>
            </a:r>
          </a:p>
          <a:p>
            <a:r>
              <a:rPr lang="en-IN" dirty="0"/>
              <a:t>Connectionless Service</a:t>
            </a:r>
          </a:p>
          <a:p>
            <a:r>
              <a:rPr lang="en-IN" dirty="0"/>
              <a:t>Flow Control</a:t>
            </a:r>
          </a:p>
          <a:p>
            <a:r>
              <a:rPr lang="en-IN" dirty="0"/>
              <a:t>Error Control</a:t>
            </a:r>
          </a:p>
          <a:p>
            <a:r>
              <a:rPr lang="en-IN" dirty="0"/>
              <a:t>Checksum</a:t>
            </a:r>
          </a:p>
          <a:p>
            <a:r>
              <a:rPr lang="en-IN" dirty="0"/>
              <a:t>Congestion Control</a:t>
            </a:r>
          </a:p>
          <a:p>
            <a:r>
              <a:rPr lang="en-IN" dirty="0"/>
              <a:t>Encapsulation and Decapsulation</a:t>
            </a:r>
          </a:p>
          <a:p>
            <a:r>
              <a:rPr lang="en-IN" dirty="0"/>
              <a:t>Queuing</a:t>
            </a:r>
          </a:p>
          <a:p>
            <a:r>
              <a:rPr lang="en-IN" dirty="0"/>
              <a:t>Multiplexing and Demultiplexing</a:t>
            </a:r>
          </a:p>
          <a:p>
            <a:endParaRPr lang="en-IN" dirty="0"/>
          </a:p>
        </p:txBody>
      </p:sp>
    </p:spTree>
    <p:extLst>
      <p:ext uri="{BB962C8B-B14F-4D97-AF65-F5344CB8AC3E}">
        <p14:creationId xmlns:p14="http://schemas.microsoft.com/office/powerpoint/2010/main" val="1941956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3600" dirty="0"/>
              <a:t>Process-to-Process Communication</a:t>
            </a:r>
          </a:p>
          <a:p>
            <a:pPr lvl="1"/>
            <a:endParaRPr lang="en-IN" sz="3200" dirty="0"/>
          </a:p>
          <a:p>
            <a:pPr lvl="1"/>
            <a:r>
              <a:rPr lang="en-IN" sz="3200" dirty="0"/>
              <a:t>UDP provides process-to-process communication using socket addresses, a combination of IP addresses and port numbers.</a:t>
            </a:r>
          </a:p>
        </p:txBody>
      </p:sp>
    </p:spTree>
    <p:extLst>
      <p:ext uri="{BB962C8B-B14F-4D97-AF65-F5344CB8AC3E}">
        <p14:creationId xmlns:p14="http://schemas.microsoft.com/office/powerpoint/2010/main" val="3941753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14</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Connectionless Service</a:t>
            </a:r>
          </a:p>
          <a:p>
            <a:pPr lvl="1"/>
            <a:r>
              <a:rPr lang="en-IN" sz="2400" dirty="0"/>
              <a:t>As mentioned previously, UDP provides a connectionless service.</a:t>
            </a:r>
          </a:p>
          <a:p>
            <a:pPr lvl="1"/>
            <a:r>
              <a:rPr lang="en-IN" sz="2400" dirty="0"/>
              <a:t>This means that each user datagram sent by UDP is an independent datagram. There is no relationship between the different user datagrams even if they are coming from the same source process and going to the same destination program. </a:t>
            </a:r>
          </a:p>
          <a:p>
            <a:pPr lvl="1"/>
            <a:r>
              <a:rPr lang="en-IN" sz="2400" dirty="0"/>
              <a:t>The user datagrams are not numbered. </a:t>
            </a:r>
          </a:p>
          <a:p>
            <a:pPr lvl="1"/>
            <a:r>
              <a:rPr lang="en-IN" sz="2400" dirty="0"/>
              <a:t>Also, unlike TCP, there is no connection establishment and no connection termination. This means that each user datagram can travel on a different path. </a:t>
            </a:r>
          </a:p>
        </p:txBody>
      </p:sp>
    </p:spTree>
    <p:extLst>
      <p:ext uri="{BB962C8B-B14F-4D97-AF65-F5344CB8AC3E}">
        <p14:creationId xmlns:p14="http://schemas.microsoft.com/office/powerpoint/2010/main" val="1401559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15</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Connectionless Service</a:t>
            </a:r>
          </a:p>
          <a:p>
            <a:pPr lvl="1"/>
            <a:r>
              <a:rPr lang="en-IN" sz="2400" dirty="0"/>
              <a:t>One of the </a:t>
            </a:r>
            <a:r>
              <a:rPr lang="en-IN" sz="2400" dirty="0">
                <a:solidFill>
                  <a:srgbClr val="FFFF00"/>
                </a:solidFill>
              </a:rPr>
              <a:t>ramifications </a:t>
            </a:r>
            <a:r>
              <a:rPr lang="en-IN" sz="2400" dirty="0"/>
              <a:t>of being connectionless is that the process that uses UDP cannot send a stream of data to UDP and expect UDP to chop them into different, related user datagrams. </a:t>
            </a:r>
          </a:p>
          <a:p>
            <a:pPr lvl="1"/>
            <a:r>
              <a:rPr lang="en-IN" sz="2400" dirty="0"/>
              <a:t>Instead, each request must be small enough to fit into one user datagram. Only those processes sending short messages, messages less than 65,507 bytes (65,535 minus 8 bytes for the UDP header and minus 20 bytes for the IP header), can use UDP.</a:t>
            </a:r>
          </a:p>
        </p:txBody>
      </p:sp>
    </p:spTree>
    <p:extLst>
      <p:ext uri="{BB962C8B-B14F-4D97-AF65-F5344CB8AC3E}">
        <p14:creationId xmlns:p14="http://schemas.microsoft.com/office/powerpoint/2010/main" val="876038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16</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Flow Control</a:t>
            </a:r>
          </a:p>
          <a:p>
            <a:pPr lvl="1"/>
            <a:r>
              <a:rPr lang="en-IN" sz="2400" dirty="0"/>
              <a:t>UDP is a very simple protocol.</a:t>
            </a:r>
            <a:r>
              <a:rPr lang="en-IN" sz="2400" i="1" dirty="0">
                <a:solidFill>
                  <a:srgbClr val="FFFF00"/>
                </a:solidFill>
              </a:rPr>
              <a:t> There is no flow control</a:t>
            </a:r>
            <a:r>
              <a:rPr lang="en-IN" sz="2400" dirty="0"/>
              <a:t>, and hence no window mechanism. </a:t>
            </a:r>
          </a:p>
          <a:p>
            <a:pPr lvl="1"/>
            <a:r>
              <a:rPr lang="en-IN" sz="2400" dirty="0"/>
              <a:t>The receiver may overflow with incoming messages. The lack of flow control means that the process using UDP should provide for this service, if needed.</a:t>
            </a:r>
          </a:p>
        </p:txBody>
      </p:sp>
    </p:spTree>
    <p:extLst>
      <p:ext uri="{BB962C8B-B14F-4D97-AF65-F5344CB8AC3E}">
        <p14:creationId xmlns:p14="http://schemas.microsoft.com/office/powerpoint/2010/main" val="231814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17</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Error Control</a:t>
            </a:r>
          </a:p>
          <a:p>
            <a:pPr lvl="1"/>
            <a:r>
              <a:rPr lang="en-IN" sz="2400" dirty="0">
                <a:solidFill>
                  <a:srgbClr val="FFFF00"/>
                </a:solidFill>
              </a:rPr>
              <a:t>There is no error control mechanism in UDP except for the checksum. </a:t>
            </a:r>
          </a:p>
          <a:p>
            <a:pPr lvl="1"/>
            <a:r>
              <a:rPr lang="en-IN" sz="2400" dirty="0"/>
              <a:t>This means that the sender does not know if a message has been lost or duplicated. </a:t>
            </a:r>
          </a:p>
          <a:p>
            <a:pPr lvl="1"/>
            <a:r>
              <a:rPr lang="en-IN" sz="2400" dirty="0"/>
              <a:t>When the receiver detects an error through the checksum, the user datagram is silently discarded. </a:t>
            </a:r>
          </a:p>
          <a:p>
            <a:pPr lvl="1"/>
            <a:r>
              <a:rPr lang="en-IN" sz="2400" dirty="0"/>
              <a:t>The lack of error control means that the process using UDP should provide for this service, if needed.</a:t>
            </a:r>
          </a:p>
        </p:txBody>
      </p:sp>
    </p:spTree>
    <p:extLst>
      <p:ext uri="{BB962C8B-B14F-4D97-AF65-F5344CB8AC3E}">
        <p14:creationId xmlns:p14="http://schemas.microsoft.com/office/powerpoint/2010/main" val="4239985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18</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Error Control</a:t>
            </a:r>
          </a:p>
          <a:p>
            <a:pPr lvl="1"/>
            <a:r>
              <a:rPr lang="en-IN" sz="2400" dirty="0">
                <a:solidFill>
                  <a:srgbClr val="FFFF00"/>
                </a:solidFill>
              </a:rPr>
              <a:t>There is no error control mechanism in UDP except for the checksum. </a:t>
            </a:r>
          </a:p>
          <a:p>
            <a:pPr lvl="1"/>
            <a:r>
              <a:rPr lang="en-IN" sz="2400" dirty="0"/>
              <a:t>This means that the sender does not know if a message has been lost or duplicated. </a:t>
            </a:r>
          </a:p>
          <a:p>
            <a:pPr lvl="1"/>
            <a:r>
              <a:rPr lang="en-IN" sz="2400" dirty="0"/>
              <a:t>When the receiver detects an error through the checksum, the user datagram is silently discarded. </a:t>
            </a:r>
          </a:p>
          <a:p>
            <a:pPr lvl="1"/>
            <a:r>
              <a:rPr lang="en-IN" sz="2400" dirty="0"/>
              <a:t>The lack of error control means that the process using UDP should provide for this service, if needed.</a:t>
            </a:r>
          </a:p>
        </p:txBody>
      </p:sp>
    </p:spTree>
    <p:extLst>
      <p:ext uri="{BB962C8B-B14F-4D97-AF65-F5344CB8AC3E}">
        <p14:creationId xmlns:p14="http://schemas.microsoft.com/office/powerpoint/2010/main" val="623681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19</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3" y="1681944"/>
            <a:ext cx="9900590" cy="4332312"/>
          </a:xfrm>
        </p:spPr>
        <p:txBody>
          <a:bodyPr>
            <a:normAutofit/>
          </a:bodyPr>
          <a:lstStyle/>
          <a:p>
            <a:r>
              <a:rPr lang="en-IN" dirty="0"/>
              <a:t>Checksum</a:t>
            </a:r>
          </a:p>
          <a:p>
            <a:pPr lvl="1"/>
            <a:r>
              <a:rPr lang="en-IN" dirty="0"/>
              <a:t>UDP checksum calculation includes three sections: </a:t>
            </a:r>
          </a:p>
          <a:p>
            <a:pPr lvl="2"/>
            <a:r>
              <a:rPr lang="en-IN" dirty="0"/>
              <a:t>a </a:t>
            </a:r>
            <a:r>
              <a:rPr lang="en-IN" dirty="0" err="1"/>
              <a:t>pseudoheader</a:t>
            </a:r>
            <a:r>
              <a:rPr lang="en-IN" dirty="0"/>
              <a:t>, the UDP header, and the data coming from the application layer.</a:t>
            </a:r>
          </a:p>
        </p:txBody>
      </p:sp>
      <p:pic>
        <p:nvPicPr>
          <p:cNvPr id="6" name="Picture 5">
            <a:extLst>
              <a:ext uri="{FF2B5EF4-FFF2-40B4-BE49-F238E27FC236}">
                <a16:creationId xmlns:a16="http://schemas.microsoft.com/office/drawing/2014/main" id="{DF32764E-E83B-2486-5BBF-160CBB2A3DBC}"/>
              </a:ext>
            </a:extLst>
          </p:cNvPr>
          <p:cNvPicPr>
            <a:picLocks noChangeAspect="1"/>
          </p:cNvPicPr>
          <p:nvPr/>
        </p:nvPicPr>
        <p:blipFill rotWithShape="1">
          <a:blip r:embed="rId2"/>
          <a:srcRect l="33595" t="34271" r="25642" b="25695"/>
          <a:stretch/>
        </p:blipFill>
        <p:spPr>
          <a:xfrm>
            <a:off x="3574132" y="2874410"/>
            <a:ext cx="6307546" cy="3290893"/>
          </a:xfrm>
          <a:prstGeom prst="rect">
            <a:avLst/>
          </a:prstGeom>
        </p:spPr>
      </p:pic>
      <p:sp>
        <p:nvSpPr>
          <p:cNvPr id="8" name="TextBox 7">
            <a:extLst>
              <a:ext uri="{FF2B5EF4-FFF2-40B4-BE49-F238E27FC236}">
                <a16:creationId xmlns:a16="http://schemas.microsoft.com/office/drawing/2014/main" id="{AD70A136-6667-3E8B-0F27-4DD9634D4A9C}"/>
              </a:ext>
            </a:extLst>
          </p:cNvPr>
          <p:cNvSpPr txBox="1"/>
          <p:nvPr/>
        </p:nvSpPr>
        <p:spPr>
          <a:xfrm>
            <a:off x="5086300" y="6098386"/>
            <a:ext cx="6096000" cy="369332"/>
          </a:xfrm>
          <a:prstGeom prst="rect">
            <a:avLst/>
          </a:prstGeom>
          <a:noFill/>
        </p:spPr>
        <p:txBody>
          <a:bodyPr wrap="square">
            <a:spAutoFit/>
          </a:bodyPr>
          <a:lstStyle/>
          <a:p>
            <a:r>
              <a:rPr lang="en-IN" sz="1800" b="0" i="1" u="none" strike="noStrike" baseline="0" dirty="0" err="1">
                <a:latin typeface="Times-Italic"/>
              </a:rPr>
              <a:t>Pseudoheader</a:t>
            </a:r>
            <a:r>
              <a:rPr lang="en-IN" sz="1800" b="0" i="1" u="none" strike="noStrike" baseline="0" dirty="0">
                <a:latin typeface="Times-Italic"/>
              </a:rPr>
              <a:t> for checksum calculation</a:t>
            </a:r>
            <a:endParaRPr lang="en-IN" dirty="0"/>
          </a:p>
        </p:txBody>
      </p:sp>
    </p:spTree>
    <p:extLst>
      <p:ext uri="{BB962C8B-B14F-4D97-AF65-F5344CB8AC3E}">
        <p14:creationId xmlns:p14="http://schemas.microsoft.com/office/powerpoint/2010/main" val="17383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20</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Checksum</a:t>
            </a:r>
          </a:p>
          <a:p>
            <a:pPr lvl="1"/>
            <a:r>
              <a:rPr lang="en-IN" sz="2400" dirty="0"/>
              <a:t>The </a:t>
            </a:r>
            <a:r>
              <a:rPr lang="en-IN" sz="2400" dirty="0" err="1"/>
              <a:t>pseudoheader</a:t>
            </a:r>
            <a:r>
              <a:rPr lang="en-IN" sz="2400" dirty="0"/>
              <a:t> is the part of the header of the IP packet in which the user datagram is to be encapsulated with some fields filled with 0s.</a:t>
            </a:r>
          </a:p>
          <a:p>
            <a:pPr lvl="1"/>
            <a:r>
              <a:rPr lang="en-IN" sz="2400" dirty="0"/>
              <a:t>If the checksum does not include the </a:t>
            </a:r>
            <a:r>
              <a:rPr lang="en-IN" sz="2400" dirty="0" err="1"/>
              <a:t>pseudoheader</a:t>
            </a:r>
            <a:r>
              <a:rPr lang="en-IN" sz="2400" dirty="0"/>
              <a:t>, a user datagram may arrive safe and sound. However, if the IP header is corrupted, it may be delivered to the wrong host.</a:t>
            </a:r>
          </a:p>
          <a:p>
            <a:pPr lvl="1"/>
            <a:endParaRPr lang="en-IN" sz="2400" dirty="0"/>
          </a:p>
        </p:txBody>
      </p:sp>
    </p:spTree>
    <p:extLst>
      <p:ext uri="{BB962C8B-B14F-4D97-AF65-F5344CB8AC3E}">
        <p14:creationId xmlns:p14="http://schemas.microsoft.com/office/powerpoint/2010/main" val="774837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21</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Checksum</a:t>
            </a:r>
          </a:p>
          <a:p>
            <a:pPr lvl="1"/>
            <a:r>
              <a:rPr lang="en-IN" sz="2400" dirty="0"/>
              <a:t>The protocol field is added to ensure that the packet belongs to UDP, and not to TCP. </a:t>
            </a:r>
          </a:p>
          <a:p>
            <a:pPr lvl="1"/>
            <a:r>
              <a:rPr lang="en-IN" sz="2400" dirty="0"/>
              <a:t>We will see later that if a process can use either UDP or TCP, the destination port number can be the same. </a:t>
            </a:r>
          </a:p>
          <a:p>
            <a:pPr lvl="1"/>
            <a:r>
              <a:rPr lang="en-IN" sz="2400" dirty="0"/>
              <a:t>The value of the protocol field for UDP is 17. If this value is changed during transmission, the checksum calculation at the receiver will detect it and UDP drops the packet. It is not delivered to the wrong protocol.</a:t>
            </a:r>
          </a:p>
        </p:txBody>
      </p:sp>
    </p:spTree>
    <p:extLst>
      <p:ext uri="{BB962C8B-B14F-4D97-AF65-F5344CB8AC3E}">
        <p14:creationId xmlns:p14="http://schemas.microsoft.com/office/powerpoint/2010/main" val="2178297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UDP Services</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800" dirty="0"/>
              <a:t>Optional Inclusion of Checksum</a:t>
            </a:r>
          </a:p>
          <a:p>
            <a:pPr lvl="1"/>
            <a:r>
              <a:rPr lang="en-IN" sz="2400" dirty="0"/>
              <a:t>The sender of a UDP packet can choose not to calculate the checksum. In this case, the checksum field is filled with all 0s before being sent. </a:t>
            </a:r>
          </a:p>
          <a:p>
            <a:pPr lvl="1"/>
            <a:r>
              <a:rPr lang="en-IN" sz="2400" dirty="0"/>
              <a:t>In the situation where the sender decides to calculate the checksum, but it happens that the result is all 0s, the checksum is changed to all 1s before the packet is sent. In other words, the sender complements the sum two times. </a:t>
            </a:r>
          </a:p>
          <a:p>
            <a:pPr lvl="1"/>
            <a:r>
              <a:rPr lang="en-IN" sz="2400" dirty="0"/>
              <a:t>Note that this does not create confusion because the value of the checksum is never all 1s in a normal situation</a:t>
            </a:r>
          </a:p>
        </p:txBody>
      </p:sp>
    </p:spTree>
    <p:extLst>
      <p:ext uri="{BB962C8B-B14F-4D97-AF65-F5344CB8AC3E}">
        <p14:creationId xmlns:p14="http://schemas.microsoft.com/office/powerpoint/2010/main" val="3126217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Example</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23</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Content Placeholder 4">
            <a:extLst>
              <a:ext uri="{FF2B5EF4-FFF2-40B4-BE49-F238E27FC236}">
                <a16:creationId xmlns:a16="http://schemas.microsoft.com/office/drawing/2014/main" id="{25660292-38A5-2AD1-9DBE-A2F11FCACB9B}"/>
              </a:ext>
            </a:extLst>
          </p:cNvPr>
          <p:cNvSpPr>
            <a:spLocks noGrp="1"/>
          </p:cNvSpPr>
          <p:nvPr>
            <p:ph idx="1"/>
          </p:nvPr>
        </p:nvSpPr>
        <p:spPr>
          <a:xfrm>
            <a:off x="1522414" y="1905000"/>
            <a:ext cx="9900590" cy="4332312"/>
          </a:xfrm>
        </p:spPr>
        <p:txBody>
          <a:bodyPr>
            <a:normAutofit/>
          </a:bodyPr>
          <a:lstStyle/>
          <a:p>
            <a:r>
              <a:rPr lang="en-IN" sz="2400" dirty="0"/>
              <a:t>What value is sent for the checksum in each one of the following hypothetical situations?</a:t>
            </a:r>
          </a:p>
          <a:p>
            <a:pPr lvl="1"/>
            <a:r>
              <a:rPr lang="en-IN" dirty="0"/>
              <a:t>a. The sender decides not to include the checksum.</a:t>
            </a:r>
          </a:p>
          <a:p>
            <a:pPr lvl="1"/>
            <a:r>
              <a:rPr lang="en-IN" dirty="0"/>
              <a:t>b. The sender decides to include the checksum, but the value of the sum is all 1s.</a:t>
            </a:r>
          </a:p>
          <a:p>
            <a:pPr lvl="1"/>
            <a:r>
              <a:rPr lang="en-IN" dirty="0"/>
              <a:t>c. The sender decides to include the checksum, but the value of the sum is all 0s.</a:t>
            </a:r>
          </a:p>
        </p:txBody>
      </p:sp>
    </p:spTree>
    <p:extLst>
      <p:ext uri="{BB962C8B-B14F-4D97-AF65-F5344CB8AC3E}">
        <p14:creationId xmlns:p14="http://schemas.microsoft.com/office/powerpoint/2010/main" val="2812499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Services</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lstStyle/>
          <a:p>
            <a:r>
              <a:rPr lang="en-IN" dirty="0"/>
              <a:t>Congestion Control</a:t>
            </a:r>
          </a:p>
          <a:p>
            <a:pPr lvl="1"/>
            <a:r>
              <a:rPr lang="en-IN" dirty="0"/>
              <a:t>Since UDP is a connectionless protocol, it does not provide congestion control. </a:t>
            </a:r>
          </a:p>
          <a:p>
            <a:pPr lvl="1"/>
            <a:r>
              <a:rPr lang="en-IN" dirty="0"/>
              <a:t>UDP assumes that the packets sent are small and sporadic and cannot create congestion in the network. This assumption may or may not be true today, when UDP is used for interactive real-time transfer of audio and video.</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24</a:t>
            </a:fld>
            <a:endParaRPr lang="en-IN" dirty="0"/>
          </a:p>
        </p:txBody>
      </p:sp>
    </p:spTree>
    <p:extLst>
      <p:ext uri="{BB962C8B-B14F-4D97-AF65-F5344CB8AC3E}">
        <p14:creationId xmlns:p14="http://schemas.microsoft.com/office/powerpoint/2010/main" val="1617574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Services</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lstStyle/>
          <a:p>
            <a:r>
              <a:rPr lang="en-IN" dirty="0"/>
              <a:t>Encapsulation and Decapsulation</a:t>
            </a:r>
          </a:p>
          <a:p>
            <a:pPr lvl="1"/>
            <a:r>
              <a:rPr lang="en-IN" dirty="0"/>
              <a:t>To send a message from one process to another, the UDP protocol encapsulates and decapsulates messages.</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25</a:t>
            </a:fld>
            <a:endParaRPr lang="en-IN" dirty="0"/>
          </a:p>
        </p:txBody>
      </p:sp>
    </p:spTree>
    <p:extLst>
      <p:ext uri="{BB962C8B-B14F-4D97-AF65-F5344CB8AC3E}">
        <p14:creationId xmlns:p14="http://schemas.microsoft.com/office/powerpoint/2010/main" val="381907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Services</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dirty="0"/>
              <a:t>Queuing</a:t>
            </a:r>
          </a:p>
          <a:p>
            <a:pPr lvl="1"/>
            <a:r>
              <a:rPr lang="en-IN" dirty="0"/>
              <a:t>We have talked about ports without discussing the actual implementation of them. </a:t>
            </a:r>
          </a:p>
          <a:p>
            <a:pPr lvl="1"/>
            <a:r>
              <a:rPr lang="en-IN" dirty="0"/>
              <a:t>In UDP, queues are associated with ports. At the client site, when a process starts, it requests a port number from the operating system. </a:t>
            </a:r>
          </a:p>
          <a:p>
            <a:pPr lvl="1"/>
            <a:r>
              <a:rPr lang="en-IN" dirty="0"/>
              <a:t>Some implementations create both an incoming and an outgoing queue associated with each process. </a:t>
            </a:r>
          </a:p>
          <a:p>
            <a:pPr lvl="1"/>
            <a:r>
              <a:rPr lang="en-IN" dirty="0"/>
              <a:t>Other implementations create only an incoming queue associated with each process.</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26</a:t>
            </a:fld>
            <a:endParaRPr lang="en-IN" dirty="0"/>
          </a:p>
        </p:txBody>
      </p:sp>
    </p:spTree>
    <p:extLst>
      <p:ext uri="{BB962C8B-B14F-4D97-AF65-F5344CB8AC3E}">
        <p14:creationId xmlns:p14="http://schemas.microsoft.com/office/powerpoint/2010/main" val="408356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Services</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dirty="0"/>
              <a:t>Multiplexing and Demultiplexing</a:t>
            </a:r>
          </a:p>
          <a:p>
            <a:pPr lvl="1"/>
            <a:r>
              <a:rPr lang="en-IN" dirty="0"/>
              <a:t>In a host running a TCP/IP protocol suite, there is only one UDP but possibly several processes that may want to use the services of UDP. </a:t>
            </a:r>
          </a:p>
          <a:p>
            <a:pPr lvl="1"/>
            <a:r>
              <a:rPr lang="en-IN" dirty="0"/>
              <a:t>To handle this situation, UDP multiplexes and demultiplexes.</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27</a:t>
            </a:fld>
            <a:endParaRPr lang="en-IN" dirty="0"/>
          </a:p>
        </p:txBody>
      </p:sp>
    </p:spTree>
    <p:extLst>
      <p:ext uri="{BB962C8B-B14F-4D97-AF65-F5344CB8AC3E}">
        <p14:creationId xmlns:p14="http://schemas.microsoft.com/office/powerpoint/2010/main" val="357586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normAutofit/>
          </a:bodyPr>
          <a:lstStyle/>
          <a:p>
            <a:r>
              <a:rPr lang="en-IN" sz="2400" dirty="0"/>
              <a:t>Comparison between UDP and Generic Simple Protocol</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lstStyle/>
          <a:p>
            <a:r>
              <a:rPr lang="en-IN" dirty="0"/>
              <a:t>We can compare UDP with the connectionless simple protocol we discussed earlier such as IP.</a:t>
            </a:r>
          </a:p>
          <a:p>
            <a:r>
              <a:rPr lang="en-IN" dirty="0"/>
              <a:t>The only difference is that UDP provides an optional checksum to detect corrupted packets at the receiver site. If the checksum is added to the packet, the receiving UDP can check the packet and discard the packet if it is corrupted. No feedback, however, is sent to the sender.</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28</a:t>
            </a:fld>
            <a:endParaRPr lang="en-IN" dirty="0"/>
          </a:p>
        </p:txBody>
      </p:sp>
    </p:spTree>
    <p:extLst>
      <p:ext uri="{BB962C8B-B14F-4D97-AF65-F5344CB8AC3E}">
        <p14:creationId xmlns:p14="http://schemas.microsoft.com/office/powerpoint/2010/main" val="2425149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Applications</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fontScale="92500" lnSpcReduction="10000"/>
          </a:bodyPr>
          <a:lstStyle/>
          <a:p>
            <a:r>
              <a:rPr lang="en-IN" dirty="0"/>
              <a:t>Although UDP meets almost none of the criteria we mentioned earlier for a reliable transport-layer protocol, UDP is preferable for some applications. </a:t>
            </a:r>
          </a:p>
          <a:p>
            <a:r>
              <a:rPr lang="en-IN" dirty="0"/>
              <a:t>The reason is that some services may have some side effects that are either unacceptable or not preferable. An application designer sometimes needs to compromise to get the optimum. </a:t>
            </a:r>
          </a:p>
          <a:p>
            <a:r>
              <a:rPr lang="en-IN" dirty="0"/>
              <a:t>For example, in our daily life, we all know that a one-day delivery of a package by a carrier is more expensive than a three-day delivery. Although high speed and low cost are both desirable features in delivery of a parcel, they are in conflict with each other. We need to choose the optimum. </a:t>
            </a:r>
          </a:p>
          <a:p>
            <a:r>
              <a:rPr lang="en-IN" dirty="0"/>
              <a:t>In this section, we first discuss some features of UDP that may need to be considered when we design an application program and then show some typical applications.</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29</a:t>
            </a:fld>
            <a:endParaRPr lang="en-IN" dirty="0"/>
          </a:p>
        </p:txBody>
      </p:sp>
    </p:spTree>
    <p:extLst>
      <p:ext uri="{BB962C8B-B14F-4D97-AF65-F5344CB8AC3E}">
        <p14:creationId xmlns:p14="http://schemas.microsoft.com/office/powerpoint/2010/main" val="27871657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Feature(Connectionless Service)</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dirty="0"/>
              <a:t>As we mentioned previously, UDP is a connectionless protocol. </a:t>
            </a:r>
          </a:p>
          <a:p>
            <a:r>
              <a:rPr lang="en-IN" dirty="0"/>
              <a:t>Each UDP packet is independent from other packets sent by the same application program. This feature can be considered as an advantage or disadvantage depending on the application requirements. </a:t>
            </a:r>
          </a:p>
          <a:p>
            <a:r>
              <a:rPr lang="en-IN" dirty="0"/>
              <a:t>It is an advantage if, for example, a client application needs to send a short request to a server and to receive a short response. If the request and response can each fit in a single user datagram, a connectionless service may be preferable. The overhead to establish and close a connection may be significant in this case. </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30</a:t>
            </a:fld>
            <a:endParaRPr lang="en-IN" dirty="0"/>
          </a:p>
        </p:txBody>
      </p:sp>
    </p:spTree>
    <p:extLst>
      <p:ext uri="{BB962C8B-B14F-4D97-AF65-F5344CB8AC3E}">
        <p14:creationId xmlns:p14="http://schemas.microsoft.com/office/powerpoint/2010/main" val="183236558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Feature(Connectionless Service)</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dirty="0"/>
              <a:t>In the connection-oriented service, to achieve the above goal, at least 9 packets are exchanged between the client and the server; in connectionless service only 2 packets are exchanged. </a:t>
            </a:r>
          </a:p>
          <a:p>
            <a:r>
              <a:rPr lang="en-IN" dirty="0"/>
              <a:t>The connectionless service provides less delay; the connection-oriented service creates more delay. If delay is an important issue for the application, the connectionless service is preferred.</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31</a:t>
            </a:fld>
            <a:endParaRPr lang="en-IN" dirty="0"/>
          </a:p>
        </p:txBody>
      </p:sp>
    </p:spTree>
    <p:extLst>
      <p:ext uri="{BB962C8B-B14F-4D97-AF65-F5344CB8AC3E}">
        <p14:creationId xmlns:p14="http://schemas.microsoft.com/office/powerpoint/2010/main" val="426709396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Feature(Connectionless Service)</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dirty="0"/>
              <a:t>Example</a:t>
            </a:r>
          </a:p>
          <a:p>
            <a:endParaRPr lang="en-IN" dirty="0"/>
          </a:p>
          <a:p>
            <a:pPr lvl="1"/>
            <a:r>
              <a:rPr lang="en-IN" sz="2800" i="1" dirty="0">
                <a:solidFill>
                  <a:srgbClr val="FFFF00"/>
                </a:solidFill>
              </a:rPr>
              <a:t>A client-server application such as DNS  uses the services of UDP because a client needs to send a short request to a server and to receive a quick response from it. The request and response can each fit in one user datagram. Since only one message is exchanged in each direction, the connectionless feature is not an issue; the client or server does not worry that messages are delivered out of order.</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32</a:t>
            </a:fld>
            <a:endParaRPr lang="en-IN" dirty="0"/>
          </a:p>
        </p:txBody>
      </p:sp>
    </p:spTree>
    <p:extLst>
      <p:ext uri="{BB962C8B-B14F-4D97-AF65-F5344CB8AC3E}">
        <p14:creationId xmlns:p14="http://schemas.microsoft.com/office/powerpoint/2010/main" val="291362113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Feature(Connectionless Service)</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a:xfrm>
            <a:off x="1522414" y="1556792"/>
            <a:ext cx="9144000" cy="4615408"/>
          </a:xfrm>
        </p:spPr>
        <p:txBody>
          <a:bodyPr>
            <a:normAutofit fontScale="85000" lnSpcReduction="20000"/>
          </a:bodyPr>
          <a:lstStyle/>
          <a:p>
            <a:r>
              <a:rPr lang="en-IN" dirty="0"/>
              <a:t>Example</a:t>
            </a:r>
          </a:p>
          <a:p>
            <a:endParaRPr lang="en-IN" dirty="0"/>
          </a:p>
          <a:p>
            <a:pPr lvl="1"/>
            <a:r>
              <a:rPr lang="en-IN" sz="2800" i="1" dirty="0">
                <a:solidFill>
                  <a:srgbClr val="FFFF00"/>
                </a:solidFill>
              </a:rPr>
              <a:t>A client-server application such as SMTP , which is used in electronic mail, cannot use the services of UDP because a user might send a long e-mail message, which could include multimedia (images, audio, or video). If the application uses UDP and the message does not fit in one user datagram, the message must be split by the application into different user datagrams. Here the connectionless service may create problems. The user datagrams may arrive and be delivered to the receiver application out of order. The receiver application may not be able to reorder the pieces. This means the connectionless service has a disadvantage for an application program that sends long messages. In SMTP, when we send a message, we do not expect to receive a response quickly (sometimes no response is required). This means that the extra delay inherent in connection-oriented service is not crucial for SMTP.</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33</a:t>
            </a:fld>
            <a:endParaRPr lang="en-IN" dirty="0"/>
          </a:p>
        </p:txBody>
      </p:sp>
    </p:spTree>
    <p:extLst>
      <p:ext uri="{BB962C8B-B14F-4D97-AF65-F5344CB8AC3E}">
        <p14:creationId xmlns:p14="http://schemas.microsoft.com/office/powerpoint/2010/main" val="22299460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Feature(Lack of Error Control)</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fontScale="92500"/>
          </a:bodyPr>
          <a:lstStyle/>
          <a:p>
            <a:r>
              <a:rPr lang="en-IN" dirty="0"/>
              <a:t>UDP does not provide error control; it provides an unreliable service. </a:t>
            </a:r>
          </a:p>
          <a:p>
            <a:r>
              <a:rPr lang="en-IN" dirty="0"/>
              <a:t>Most applications expect reliable service from a transport-layer protocol. </a:t>
            </a:r>
          </a:p>
          <a:p>
            <a:r>
              <a:rPr lang="en-IN" dirty="0"/>
              <a:t>Although a reliable service is desirable, it may have some side effects that are not acceptable to some applications. When a transport layer provides reliable services, if a part of the message is lost or corrupted, it needs to be resent. This means that the receiving transport layer cannot deliver that part to the application  immediately; there is an uneven delay between different parts of the message delivered to the application layer. </a:t>
            </a:r>
          </a:p>
          <a:p>
            <a:r>
              <a:rPr lang="en-IN" dirty="0"/>
              <a:t>Some applications, by nature, do not even notice these uneven delays, but for some they are very problematic.</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34</a:t>
            </a:fld>
            <a:endParaRPr lang="en-IN" dirty="0"/>
          </a:p>
        </p:txBody>
      </p:sp>
    </p:spTree>
    <p:extLst>
      <p:ext uri="{BB962C8B-B14F-4D97-AF65-F5344CB8AC3E}">
        <p14:creationId xmlns:p14="http://schemas.microsoft.com/office/powerpoint/2010/main" val="4764454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Feature(Lack of Error Control)</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dirty="0"/>
              <a:t>Example</a:t>
            </a:r>
          </a:p>
          <a:p>
            <a:pPr lvl="1"/>
            <a:r>
              <a:rPr lang="en-IN" sz="2800" i="1" dirty="0">
                <a:solidFill>
                  <a:srgbClr val="FFFF00"/>
                </a:solidFill>
              </a:rPr>
              <a:t>Assume we are downloading a very large text file from the Internet. We definitely need to use a transport layer that provides reliable service. We don’t want part of the file to be missing or corrupted when we open the file. The delay created between the deliveries of the parts is not an overriding concern for us; we wait until the whole file is composed before looking at it. In this case, UDP is not a suitable transport layer.</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35</a:t>
            </a:fld>
            <a:endParaRPr lang="en-IN" dirty="0"/>
          </a:p>
        </p:txBody>
      </p:sp>
    </p:spTree>
    <p:extLst>
      <p:ext uri="{BB962C8B-B14F-4D97-AF65-F5344CB8AC3E}">
        <p14:creationId xmlns:p14="http://schemas.microsoft.com/office/powerpoint/2010/main" val="99006829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Feature(Lack of Error Control)</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fontScale="92500" lnSpcReduction="10000"/>
          </a:bodyPr>
          <a:lstStyle/>
          <a:p>
            <a:r>
              <a:rPr lang="en-IN" dirty="0"/>
              <a:t>Example</a:t>
            </a:r>
          </a:p>
          <a:p>
            <a:pPr lvl="1"/>
            <a:r>
              <a:rPr lang="en-IN" sz="2800" i="1" dirty="0">
                <a:solidFill>
                  <a:srgbClr val="FFFF00"/>
                </a:solidFill>
              </a:rPr>
              <a:t>Assume we are using a real-time interactive application, such as Skype. Audio and video are divided into frames and sent one after another. If the transport layer is supposed to resend a corrupted or lost frame, the synchronizing of the whole transmission may be lost. The viewer suddenly sees a blank screen and needs to wait until the second transmission arrives. This is not tolerable. However, if each small part of the screen is sent using a single user datagram, the receiving UDP can easily ignore the corrupted or lost packet and deliver the rest to the application program. That part of the screen is blank for a very short period of time, which most viewers do not even notice.</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36</a:t>
            </a:fld>
            <a:endParaRPr lang="en-IN" dirty="0"/>
          </a:p>
        </p:txBody>
      </p:sp>
    </p:spTree>
    <p:extLst>
      <p:ext uri="{BB962C8B-B14F-4D97-AF65-F5344CB8AC3E}">
        <p14:creationId xmlns:p14="http://schemas.microsoft.com/office/powerpoint/2010/main" val="420609247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UDP Feature(Lack of Congestion Control)</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dirty="0"/>
              <a:t>UDP does not provide congestion control. However, UDP does not create additional traffic in an error-prone network. </a:t>
            </a:r>
          </a:p>
          <a:p>
            <a:r>
              <a:rPr lang="en-IN" dirty="0"/>
              <a:t>TCP may resend a packet several times and thus contribute to the creation of congestion or worsen a congested situation.</a:t>
            </a:r>
          </a:p>
          <a:p>
            <a:r>
              <a:rPr lang="en-IN" dirty="0"/>
              <a:t> Therefore, in some cases, lack of error control in UDP can be considered an advantage when congestion is a big issue.</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37</a:t>
            </a:fld>
            <a:endParaRPr lang="en-IN" dirty="0"/>
          </a:p>
        </p:txBody>
      </p:sp>
    </p:spTree>
    <p:extLst>
      <p:ext uri="{BB962C8B-B14F-4D97-AF65-F5344CB8AC3E}">
        <p14:creationId xmlns:p14="http://schemas.microsoft.com/office/powerpoint/2010/main" val="3340185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Typical Applications</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p:txBody>
          <a:bodyPr>
            <a:normAutofit/>
          </a:bodyPr>
          <a:lstStyle/>
          <a:p>
            <a:r>
              <a:rPr lang="en-IN" sz="2800" dirty="0"/>
              <a:t>The following shows some typical applications that can benefit more from the services of UDP than from those of TCP.</a:t>
            </a:r>
          </a:p>
          <a:p>
            <a:pPr lvl="1"/>
            <a:r>
              <a:rPr lang="en-IN" sz="2400" i="1" dirty="0">
                <a:solidFill>
                  <a:srgbClr val="FFFF00"/>
                </a:solidFill>
              </a:rPr>
              <a:t>UDP is suitable for a process that requires simple request-response communication with little concern for flow and error control. It is not usually used for a process such as FTP that needs to send bulk data.</a:t>
            </a:r>
          </a:p>
          <a:p>
            <a:pPr lvl="1"/>
            <a:r>
              <a:rPr lang="en-IN" sz="2400" i="1" dirty="0">
                <a:solidFill>
                  <a:srgbClr val="FFC000"/>
                </a:solidFill>
              </a:rPr>
              <a:t>UDP is suitable for a process with internal flow- and error-control mechanisms. For example, the Trivial File Transfer Protocol (TFTP) process includes flow and error control. It can easily use UDP.</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38</a:t>
            </a:fld>
            <a:endParaRPr lang="en-IN" dirty="0"/>
          </a:p>
        </p:txBody>
      </p:sp>
    </p:spTree>
    <p:extLst>
      <p:ext uri="{BB962C8B-B14F-4D97-AF65-F5344CB8AC3E}">
        <p14:creationId xmlns:p14="http://schemas.microsoft.com/office/powerpoint/2010/main" val="11176816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1DA2D-9FD7-5636-4084-6D7827668BEC}"/>
              </a:ext>
            </a:extLst>
          </p:cNvPr>
          <p:cNvSpPr>
            <a:spLocks noGrp="1"/>
          </p:cNvSpPr>
          <p:nvPr>
            <p:ph type="title"/>
          </p:nvPr>
        </p:nvSpPr>
        <p:spPr/>
        <p:txBody>
          <a:bodyPr/>
          <a:lstStyle/>
          <a:p>
            <a:r>
              <a:rPr lang="en-IN" dirty="0"/>
              <a:t>Typical Applications</a:t>
            </a:r>
          </a:p>
        </p:txBody>
      </p:sp>
      <p:sp>
        <p:nvSpPr>
          <p:cNvPr id="3" name="Content Placeholder 2">
            <a:extLst>
              <a:ext uri="{FF2B5EF4-FFF2-40B4-BE49-F238E27FC236}">
                <a16:creationId xmlns:a16="http://schemas.microsoft.com/office/drawing/2014/main" id="{BBFD81DC-E16E-B324-F633-30E5757BB9B6}"/>
              </a:ext>
            </a:extLst>
          </p:cNvPr>
          <p:cNvSpPr>
            <a:spLocks noGrp="1"/>
          </p:cNvSpPr>
          <p:nvPr>
            <p:ph idx="1"/>
          </p:nvPr>
        </p:nvSpPr>
        <p:spPr>
          <a:xfrm>
            <a:off x="1522414" y="1905000"/>
            <a:ext cx="9972598" cy="4267200"/>
          </a:xfrm>
        </p:spPr>
        <p:txBody>
          <a:bodyPr>
            <a:normAutofit/>
          </a:bodyPr>
          <a:lstStyle/>
          <a:p>
            <a:r>
              <a:rPr lang="en-IN" sz="2800" dirty="0"/>
              <a:t>The following shows some typical applications that can benefit more from the services of UDP than from those of TCP.</a:t>
            </a:r>
          </a:p>
          <a:p>
            <a:pPr lvl="1"/>
            <a:r>
              <a:rPr lang="en-IN" sz="2400" i="1" dirty="0">
                <a:solidFill>
                  <a:schemeClr val="accent2">
                    <a:lumMod val="60000"/>
                    <a:lumOff val="40000"/>
                  </a:schemeClr>
                </a:solidFill>
              </a:rPr>
              <a:t>UDP is a suitable transport protocol for multicasting. Multicasting capability is embedded in the UDP software but not in the TCP software.</a:t>
            </a:r>
          </a:p>
          <a:p>
            <a:pPr lvl="1"/>
            <a:r>
              <a:rPr lang="en-IN" sz="2400" i="1" dirty="0">
                <a:solidFill>
                  <a:srgbClr val="FFFF00"/>
                </a:solidFill>
              </a:rPr>
              <a:t>UDP is used for management processes such as SNMP.</a:t>
            </a:r>
          </a:p>
          <a:p>
            <a:pPr lvl="1"/>
            <a:r>
              <a:rPr lang="en-IN" sz="2400" i="1" dirty="0">
                <a:solidFill>
                  <a:srgbClr val="FFC000"/>
                </a:solidFill>
              </a:rPr>
              <a:t>UDP is used for some route updating protocols such as Routing Information Protocol (RIP)</a:t>
            </a:r>
            <a:r>
              <a:rPr lang="en-IN" sz="2400" i="1" dirty="0"/>
              <a:t>.</a:t>
            </a:r>
          </a:p>
          <a:p>
            <a:pPr lvl="1"/>
            <a:r>
              <a:rPr lang="en-IN" sz="2400" i="1" dirty="0">
                <a:solidFill>
                  <a:schemeClr val="accent5">
                    <a:lumMod val="40000"/>
                    <a:lumOff val="60000"/>
                  </a:schemeClr>
                </a:solidFill>
              </a:rPr>
              <a:t>UDP is normally used for interactive real-time applications that cannot tolerate uneven delay between sections of a received message</a:t>
            </a:r>
            <a:r>
              <a:rPr lang="en-IN" sz="2400" i="1" dirty="0"/>
              <a:t>.</a:t>
            </a:r>
          </a:p>
        </p:txBody>
      </p:sp>
      <p:sp>
        <p:nvSpPr>
          <p:cNvPr id="4" name="Footer Placeholder 3">
            <a:extLst>
              <a:ext uri="{FF2B5EF4-FFF2-40B4-BE49-F238E27FC236}">
                <a16:creationId xmlns:a16="http://schemas.microsoft.com/office/drawing/2014/main" id="{6404EE79-4B26-1613-FEA9-277E642E941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BCC99881-85D6-C901-D9EE-73FEE09C1284}"/>
              </a:ext>
            </a:extLst>
          </p:cNvPr>
          <p:cNvSpPr>
            <a:spLocks noGrp="1"/>
          </p:cNvSpPr>
          <p:nvPr>
            <p:ph type="sldNum" sz="quarter" idx="12"/>
          </p:nvPr>
        </p:nvSpPr>
        <p:spPr/>
        <p:txBody>
          <a:bodyPr/>
          <a:lstStyle/>
          <a:p>
            <a:fld id="{25BA54BD-C84D-46CE-8B72-31BFB26ABA43}" type="slidenum">
              <a:rPr lang="en-IN" smtClean="0"/>
              <a:t>39</a:t>
            </a:fld>
            <a:endParaRPr lang="en-IN" dirty="0"/>
          </a:p>
        </p:txBody>
      </p:sp>
    </p:spTree>
    <p:extLst>
      <p:ext uri="{BB962C8B-B14F-4D97-AF65-F5344CB8AC3E}">
        <p14:creationId xmlns:p14="http://schemas.microsoft.com/office/powerpoint/2010/main" val="250848309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40</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41</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937</TotalTime>
  <Words>3682</Words>
  <Application>Microsoft Office PowerPoint</Application>
  <PresentationFormat>Custom</PresentationFormat>
  <Paragraphs>274</Paragraphs>
  <Slides>41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Consolas</vt:lpstr>
      <vt:lpstr>Corbel</vt:lpstr>
      <vt:lpstr>Times-Bold</vt:lpstr>
      <vt:lpstr>Times-Italic</vt:lpstr>
      <vt:lpstr>Chalkboard 16x9</vt:lpstr>
      <vt:lpstr>Advanced Computer Network  (4350706)  Unit-4 Transport Layer Protocols</vt:lpstr>
      <vt:lpstr>Topics to be discussed</vt:lpstr>
      <vt:lpstr>Introduction</vt:lpstr>
      <vt:lpstr>Services</vt:lpstr>
      <vt:lpstr>Port Numbers</vt:lpstr>
      <vt:lpstr>Port Numbers</vt:lpstr>
      <vt:lpstr>User Datagram Protocol</vt:lpstr>
      <vt:lpstr>User Datagram</vt:lpstr>
      <vt:lpstr>User Datagram</vt:lpstr>
      <vt:lpstr>Example</vt:lpstr>
      <vt:lpstr>Solution</vt:lpstr>
      <vt:lpstr>UDP Services</vt:lpstr>
      <vt:lpstr>UDP Services</vt:lpstr>
      <vt:lpstr>UDP Services</vt:lpstr>
      <vt:lpstr>UDP Services</vt:lpstr>
      <vt:lpstr>UDP Services</vt:lpstr>
      <vt:lpstr>UDP Services</vt:lpstr>
      <vt:lpstr>UDP Services</vt:lpstr>
      <vt:lpstr>UDP Services</vt:lpstr>
      <vt:lpstr>UDP Services</vt:lpstr>
      <vt:lpstr>UDP Services</vt:lpstr>
      <vt:lpstr>UDP Services</vt:lpstr>
      <vt:lpstr>Example</vt:lpstr>
      <vt:lpstr>UDP Services</vt:lpstr>
      <vt:lpstr>UDP Services</vt:lpstr>
      <vt:lpstr>UDP Services</vt:lpstr>
      <vt:lpstr>UDP Services</vt:lpstr>
      <vt:lpstr>Comparison between UDP and Generic Simple Protocol</vt:lpstr>
      <vt:lpstr>UDP Applications</vt:lpstr>
      <vt:lpstr>UDP Feature(Connectionless Service)</vt:lpstr>
      <vt:lpstr>UDP Feature(Connectionless Service)</vt:lpstr>
      <vt:lpstr>UDP Feature(Connectionless Service)</vt:lpstr>
      <vt:lpstr>UDP Feature(Connectionless Service)</vt:lpstr>
      <vt:lpstr>UDP Feature(Lack of Error Control)</vt:lpstr>
      <vt:lpstr>UDP Feature(Lack of Error Control)</vt:lpstr>
      <vt:lpstr>UDP Feature(Lack of Error Control)</vt:lpstr>
      <vt:lpstr>UDP Feature(Lack of Congestion Control)</vt:lpstr>
      <vt:lpstr>Typical Applications</vt:lpstr>
      <vt:lpstr>Typical Applications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20</cp:revision>
  <dcterms:created xsi:type="dcterms:W3CDTF">2023-08-27T07:27:45Z</dcterms:created>
  <dcterms:modified xsi:type="dcterms:W3CDTF">2023-10-20T06:42:10Z</dcterms:modified>
</cp:coreProperties>
</file>