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handoutMasterIdLst>
    <p:handoutMasterId r:id="rId41"/>
  </p:handoutMasterIdLst>
  <p:sldIdLst>
    <p:sldId id="256" r:id="rId2"/>
    <p:sldId id="257" r:id="rId3"/>
    <p:sldId id="270" r:id="rId4"/>
    <p:sldId id="271" r:id="rId5"/>
    <p:sldId id="272" r:id="rId6"/>
    <p:sldId id="273" r:id="rId7"/>
    <p:sldId id="274" r:id="rId8"/>
    <p:sldId id="275" r:id="rId9"/>
    <p:sldId id="276" r:id="rId10"/>
    <p:sldId id="277" r:id="rId11"/>
    <p:sldId id="278"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14" r:id="rId37"/>
    <p:sldId id="305" r:id="rId38"/>
    <p:sldId id="304" r:id="rId39"/>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599" autoAdjust="0"/>
  </p:normalViewPr>
  <p:slideViewPr>
    <p:cSldViewPr>
      <p:cViewPr varScale="1">
        <p:scale>
          <a:sx n="82" d="100"/>
          <a:sy n="82" d="100"/>
        </p:scale>
        <p:origin x="629" y="72"/>
      </p:cViewPr>
      <p:guideLst>
        <p:guide pos="3839"/>
        <p:guide orient="horz" pos="2160"/>
      </p:guideLst>
    </p:cSldViewPr>
  </p:slideViewPr>
  <p:notesTextViewPr>
    <p:cViewPr>
      <p:scale>
        <a:sx n="1" d="1"/>
        <a:sy n="1" d="1"/>
      </p:scale>
      <p:origin x="0" y="0"/>
    </p:cViewPr>
  </p:notesTextViewPr>
  <p:notesViewPr>
    <p:cSldViewPr showGuides="1">
      <p:cViewPr varScale="1">
        <p:scale>
          <a:sx n="52" d="100"/>
          <a:sy n="52" d="100"/>
        </p:scale>
        <p:origin x="2664" y="3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8/31/2023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8/31/2023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dirty="0"/>
          </a:p>
        </p:txBody>
      </p:sp>
      <p:sp>
        <p:nvSpPr>
          <p:cNvPr id="4" name="Date Placeholder 3"/>
          <p:cNvSpPr>
            <a:spLocks noGrp="1"/>
          </p:cNvSpPr>
          <p:nvPr>
            <p:ph type="dt" sz="half" idx="10"/>
          </p:nvPr>
        </p:nvSpPr>
        <p:spPr/>
        <p:txBody>
          <a:bodyPr/>
          <a:lstStyle/>
          <a:p>
            <a:fld id="{F038DEB4-1004-4D04-877A-6C3C31E0FFD4}" type="datetime1">
              <a:rPr lang="en-US" smtClean="0"/>
              <a:t>8/31/2023</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fld id="{D131ED0B-AA40-4F0F-8C98-871BC30B129E}" type="datetime1">
              <a:rPr lang="en-US" smtClean="0"/>
              <a:t>8/31/2023</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fld id="{E93DDBAD-2E79-407B-B129-1A7015E35467}" type="datetime1">
              <a:rPr lang="en-US" smtClean="0"/>
              <a:t>8/31/2023</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IN"/>
              <a:t>Prepared By: Mr. Chetan C. Kamani, Lecturer computer department, GP, Jamnagar</a:t>
            </a:r>
            <a:endParaRPr/>
          </a:p>
        </p:txBody>
      </p:sp>
      <p:sp>
        <p:nvSpPr>
          <p:cNvPr id="7" name="Date Placeholder 6"/>
          <p:cNvSpPr>
            <a:spLocks noGrp="1"/>
          </p:cNvSpPr>
          <p:nvPr>
            <p:ph type="dt" sz="half" idx="10"/>
          </p:nvPr>
        </p:nvSpPr>
        <p:spPr/>
        <p:txBody>
          <a:bodyPr/>
          <a:lstStyle/>
          <a:p>
            <a:fld id="{DFB87EEF-7104-4158-8027-2718785484A4}" type="datetime1">
              <a:rPr lang="en-US" smtClean="0"/>
              <a:t>8/31/2023</a:t>
            </a:fld>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r>
              <a:rPr lang="en-IN"/>
              <a:t>Prepared By: Mr. Chetan C. Kamani, Lecturer computer department, GP, Jamnagar</a:t>
            </a:r>
            <a:endParaRPr/>
          </a:p>
        </p:txBody>
      </p:sp>
      <p:sp>
        <p:nvSpPr>
          <p:cNvPr id="3" name="Date Placeholder 2"/>
          <p:cNvSpPr>
            <a:spLocks noGrp="1"/>
          </p:cNvSpPr>
          <p:nvPr>
            <p:ph type="dt" sz="half" idx="10"/>
          </p:nvPr>
        </p:nvSpPr>
        <p:spPr/>
        <p:txBody>
          <a:bodyPr/>
          <a:lstStyle/>
          <a:p>
            <a:fld id="{ADE01429-FC87-4CA2-8661-0BE6F3316C2B}" type="datetime1">
              <a:rPr lang="en-US" smtClean="0"/>
              <a:t>8/31/2023</a:t>
            </a:fld>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Prepared By: Mr. Chetan C. Kamani, Lecturer computer department, GP, Jamnagar</a:t>
            </a:r>
            <a:endParaRPr/>
          </a:p>
        </p:txBody>
      </p:sp>
      <p:sp>
        <p:nvSpPr>
          <p:cNvPr id="2" name="Date Placeholder 1"/>
          <p:cNvSpPr>
            <a:spLocks noGrp="1"/>
          </p:cNvSpPr>
          <p:nvPr>
            <p:ph type="dt" sz="half" idx="10"/>
          </p:nvPr>
        </p:nvSpPr>
        <p:spPr/>
        <p:txBody>
          <a:bodyPr/>
          <a:lstStyle/>
          <a:p>
            <a:fld id="{B87AF4FB-FAC2-4336-BCD5-50BAFBFB809B}" type="datetime1">
              <a:rPr lang="en-US" smtClean="0"/>
              <a:t>8/31/2023</a:t>
            </a:fld>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fld id="{72D89E97-89F9-4C94-A848-D2C5696FFB4E}" type="datetime1">
              <a:rPr lang="en-US" smtClean="0"/>
              <a:t>8/31/2023</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fld id="{242C4101-0B03-4493-B7CF-54B0573BF7A8}" type="datetime1">
              <a:rPr lang="en-US" smtClean="0"/>
              <a:t>8/31/2023</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fld id="{BA3035F3-5A84-42D0-A53C-D51DF6CB8602}" type="datetime1">
              <a:rPr lang="en-US" smtClean="0"/>
              <a:t>8/31/2023</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fld id="{3A69F772-B83E-4135-8B1F-81383A11517E}" type="datetime1">
              <a:rPr lang="en-US" smtClean="0"/>
              <a:t>8/31/2023</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Prepared By: Mr. Chetan C. Kamani, Lecturer computer department, GP, Jamnagar</a:t>
            </a:r>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EA6E33E4-F128-4BA4-8D02-45124CB60D85}" type="datetime1">
              <a:rPr lang="en-US" smtClean="0"/>
              <a:t>8/31/2023</a:t>
            </a:fld>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4259" y="1754628"/>
            <a:ext cx="9144000" cy="2667000"/>
          </a:xfrm>
        </p:spPr>
        <p:txBody>
          <a:bodyPr/>
          <a:lstStyle/>
          <a:p>
            <a:pPr algn="ctr"/>
            <a:r>
              <a:rPr lang="en-US" sz="4000" dirty="0"/>
              <a:t>Advanced Computer Network </a:t>
            </a:r>
            <a:br>
              <a:rPr lang="en-US" sz="4000" dirty="0"/>
            </a:br>
            <a:r>
              <a:rPr lang="en-US" sz="4000" dirty="0"/>
              <a:t>(4350706)</a:t>
            </a:r>
            <a:br>
              <a:rPr lang="en-US" sz="4000" dirty="0"/>
            </a:br>
            <a:br>
              <a:rPr lang="en-US" sz="4000" dirty="0"/>
            </a:br>
            <a:r>
              <a:rPr lang="en-US" sz="4000" dirty="0"/>
              <a:t>Unit-1</a:t>
            </a:r>
            <a:br>
              <a:rPr lang="en-US" sz="4000" dirty="0"/>
            </a:br>
            <a:r>
              <a:rPr lang="en-US" sz="4000" dirty="0"/>
              <a:t>Network Layer Protocols </a:t>
            </a:r>
          </a:p>
        </p:txBody>
      </p:sp>
      <p:sp>
        <p:nvSpPr>
          <p:cNvPr id="3" name="Subtitle 2"/>
          <p:cNvSpPr>
            <a:spLocks noGrp="1"/>
          </p:cNvSpPr>
          <p:nvPr>
            <p:ph type="subTitle" idx="1"/>
          </p:nvPr>
        </p:nvSpPr>
        <p:spPr/>
        <p:txBody>
          <a:bodyPr>
            <a:normAutofit fontScale="62500" lnSpcReduction="20000"/>
          </a:bodyPr>
          <a:lstStyle/>
          <a:p>
            <a:pPr>
              <a:lnSpc>
                <a:spcPct val="120000"/>
              </a:lnSpc>
            </a:pPr>
            <a:r>
              <a:rPr lang="en-US" dirty="0"/>
              <a:t>Prepared By : </a:t>
            </a:r>
          </a:p>
          <a:p>
            <a:pPr>
              <a:lnSpc>
                <a:spcPct val="120000"/>
              </a:lnSpc>
            </a:pPr>
            <a:r>
              <a:rPr lang="en-US" dirty="0"/>
              <a:t>Mr. Chetan C. Kamani</a:t>
            </a:r>
          </a:p>
          <a:p>
            <a:pPr>
              <a:lnSpc>
                <a:spcPct val="120000"/>
              </a:lnSpc>
            </a:pPr>
            <a:r>
              <a:rPr lang="en-US" dirty="0"/>
              <a:t>Lecturer, Computer Engineering Department</a:t>
            </a:r>
          </a:p>
          <a:p>
            <a:pPr>
              <a:lnSpc>
                <a:spcPct val="120000"/>
              </a:lnSpc>
            </a:pPr>
            <a:r>
              <a:rPr lang="en-US" dirty="0"/>
              <a:t>Government Polytechnic, Jamnagar</a:t>
            </a:r>
          </a:p>
          <a:p>
            <a:pPr>
              <a:lnSpc>
                <a:spcPct val="120000"/>
              </a:lnSpc>
            </a:pPr>
            <a:endParaRPr lang="en-US" dirty="0"/>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Topics to be discussed</a:t>
            </a:r>
          </a:p>
        </p:txBody>
      </p:sp>
      <p:sp>
        <p:nvSpPr>
          <p:cNvPr id="14" name="Content Placeholder 13"/>
          <p:cNvSpPr>
            <a:spLocks noGrp="1"/>
          </p:cNvSpPr>
          <p:nvPr>
            <p:ph idx="1"/>
          </p:nvPr>
        </p:nvSpPr>
        <p:spPr/>
        <p:txBody>
          <a:bodyPr/>
          <a:lstStyle/>
          <a:p>
            <a:r>
              <a:rPr lang="en-US" dirty="0"/>
              <a:t>Internet Protocol</a:t>
            </a:r>
          </a:p>
          <a:p>
            <a:pPr lvl="1"/>
            <a:r>
              <a:rPr lang="en-US" dirty="0"/>
              <a:t>Datagram Format</a:t>
            </a:r>
          </a:p>
          <a:p>
            <a:pPr lvl="1"/>
            <a:r>
              <a:rPr lang="en-US" dirty="0"/>
              <a:t>Fragmentation</a:t>
            </a:r>
          </a:p>
          <a:p>
            <a:pPr lvl="1"/>
            <a:r>
              <a:rPr lang="en-US" dirty="0"/>
              <a:t>Options</a:t>
            </a:r>
          </a:p>
          <a:p>
            <a:pPr lvl="1"/>
            <a:r>
              <a:rPr lang="en-US" dirty="0"/>
              <a:t>Security of IPv4 datagrams</a:t>
            </a:r>
          </a:p>
        </p:txBody>
      </p:sp>
      <p:sp>
        <p:nvSpPr>
          <p:cNvPr id="2" name="Footer Placeholder 1">
            <a:extLst>
              <a:ext uri="{FF2B5EF4-FFF2-40B4-BE49-F238E27FC236}">
                <a16:creationId xmlns:a16="http://schemas.microsoft.com/office/drawing/2014/main" id="{61F7E5B1-796D-86C0-843C-16FAA84FAEF8}"/>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5AEA199-8932-4D60-316D-0BAE05A7AB0C}"/>
              </a:ext>
            </a:extLst>
          </p:cNvPr>
          <p:cNvSpPr>
            <a:spLocks noGrp="1"/>
          </p:cNvSpPr>
          <p:nvPr>
            <p:ph type="sldNum" sz="quarter" idx="12"/>
          </p:nvPr>
        </p:nvSpPr>
        <p:spPr/>
        <p:txBody>
          <a:bodyPr/>
          <a:lstStyle/>
          <a:p>
            <a:fld id="{25BA54BD-C84D-46CE-8B72-31BFB26ABA43}" type="slidenum">
              <a:rPr lang="en-IN" smtClean="0"/>
              <a:t>2</a:t>
            </a:fld>
            <a:endParaRPr lang="en-IN" dirty="0"/>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Topics to be discussed</a:t>
            </a:r>
          </a:p>
        </p:txBody>
      </p:sp>
      <p:sp>
        <p:nvSpPr>
          <p:cNvPr id="14" name="Content Placeholder 13"/>
          <p:cNvSpPr>
            <a:spLocks noGrp="1"/>
          </p:cNvSpPr>
          <p:nvPr>
            <p:ph idx="1"/>
          </p:nvPr>
        </p:nvSpPr>
        <p:spPr/>
        <p:txBody>
          <a:bodyPr/>
          <a:lstStyle/>
          <a:p>
            <a:r>
              <a:rPr lang="en-US" dirty="0"/>
              <a:t>Internet Protocol Version 4</a:t>
            </a:r>
          </a:p>
          <a:p>
            <a:pPr lvl="1"/>
            <a:r>
              <a:rPr lang="en-US" dirty="0"/>
              <a:t>Datagram Format</a:t>
            </a:r>
          </a:p>
          <a:p>
            <a:pPr lvl="1"/>
            <a:r>
              <a:rPr lang="en-US" dirty="0"/>
              <a:t>Fragmentation</a:t>
            </a:r>
          </a:p>
          <a:p>
            <a:pPr lvl="1"/>
            <a:r>
              <a:rPr lang="en-US" dirty="0"/>
              <a:t>Options</a:t>
            </a:r>
          </a:p>
          <a:p>
            <a:pPr lvl="1"/>
            <a:r>
              <a:rPr lang="en-US" dirty="0"/>
              <a:t>Security of IPv4 datagrams</a:t>
            </a:r>
          </a:p>
        </p:txBody>
      </p:sp>
      <p:sp>
        <p:nvSpPr>
          <p:cNvPr id="2" name="Footer Placeholder 1">
            <a:extLst>
              <a:ext uri="{FF2B5EF4-FFF2-40B4-BE49-F238E27FC236}">
                <a16:creationId xmlns:a16="http://schemas.microsoft.com/office/drawing/2014/main" id="{17635F79-7B1C-537C-6619-3E797BDEA29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E4B12371-ABF5-8984-BFA8-89C3972BE3DB}"/>
              </a:ext>
            </a:extLst>
          </p:cNvPr>
          <p:cNvSpPr>
            <a:spLocks noGrp="1"/>
          </p:cNvSpPr>
          <p:nvPr>
            <p:ph type="sldNum" sz="quarter" idx="12"/>
          </p:nvPr>
        </p:nvSpPr>
        <p:spPr/>
        <p:txBody>
          <a:bodyPr/>
          <a:lstStyle/>
          <a:p>
            <a:fld id="{25BA54BD-C84D-46CE-8B72-31BFB26ABA43}" type="slidenum">
              <a:rPr lang="en-IN" smtClean="0"/>
              <a:t>3</a:t>
            </a:fld>
            <a:endParaRPr lang="en-IN" dirty="0"/>
          </a:p>
        </p:txBody>
      </p:sp>
    </p:spTree>
    <p:extLst>
      <p:ext uri="{BB962C8B-B14F-4D97-AF65-F5344CB8AC3E}">
        <p14:creationId xmlns:p14="http://schemas.microsoft.com/office/powerpoint/2010/main" val="1399919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Internet Protocol Version 4</a:t>
            </a:r>
          </a:p>
        </p:txBody>
      </p:sp>
      <p:sp>
        <p:nvSpPr>
          <p:cNvPr id="14" name="Content Placeholder 13"/>
          <p:cNvSpPr>
            <a:spLocks noGrp="1"/>
          </p:cNvSpPr>
          <p:nvPr>
            <p:ph idx="1"/>
          </p:nvPr>
        </p:nvSpPr>
        <p:spPr/>
        <p:txBody>
          <a:bodyPr>
            <a:normAutofit fontScale="92500" lnSpcReduction="10000"/>
          </a:bodyPr>
          <a:lstStyle/>
          <a:p>
            <a:r>
              <a:rPr lang="en-IN" dirty="0"/>
              <a:t>The network layer in version 4 can be thought of as one main protocol and three auxiliary ones.</a:t>
            </a:r>
          </a:p>
          <a:p>
            <a:r>
              <a:rPr lang="en-IN" dirty="0"/>
              <a:t>The main protocol, Internet Protocol version 4 (IPv4), is responsible for packetizing, forwarding, and delivery of a packet at the network layer.</a:t>
            </a:r>
          </a:p>
          <a:p>
            <a:r>
              <a:rPr lang="en-IN" dirty="0"/>
              <a:t>The Internet Control Message Protocol version 4 (ICMPv4) helps IPv4 to handle some errors that may occur in the network-layer delivery.</a:t>
            </a:r>
          </a:p>
          <a:p>
            <a:r>
              <a:rPr lang="en-IN" dirty="0"/>
              <a:t>The Internet Group Management Protocol (IGMP) is used to help IPv4 in multicasting.</a:t>
            </a:r>
          </a:p>
          <a:p>
            <a:r>
              <a:rPr lang="en-IN" dirty="0"/>
              <a:t>• The Address Resolution Protocol (ARP) is used to glue the network and data-link layers in mapping network-layer addresses to link-layer addresses.</a:t>
            </a:r>
            <a:endParaRPr lang="en-US" dirty="0"/>
          </a:p>
        </p:txBody>
      </p:sp>
      <p:sp>
        <p:nvSpPr>
          <p:cNvPr id="2" name="Footer Placeholder 1">
            <a:extLst>
              <a:ext uri="{FF2B5EF4-FFF2-40B4-BE49-F238E27FC236}">
                <a16:creationId xmlns:a16="http://schemas.microsoft.com/office/drawing/2014/main" id="{3AA79873-D6FD-EA70-0B38-5CD511B87318}"/>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8BB52924-1302-85FD-381F-882B15A2343F}"/>
              </a:ext>
            </a:extLst>
          </p:cNvPr>
          <p:cNvSpPr>
            <a:spLocks noGrp="1"/>
          </p:cNvSpPr>
          <p:nvPr>
            <p:ph type="sldNum" sz="quarter" idx="12"/>
          </p:nvPr>
        </p:nvSpPr>
        <p:spPr/>
        <p:txBody>
          <a:bodyPr/>
          <a:lstStyle/>
          <a:p>
            <a:fld id="{25BA54BD-C84D-46CE-8B72-31BFB26ABA43}" type="slidenum">
              <a:rPr lang="en-IN" smtClean="0"/>
              <a:t>4</a:t>
            </a:fld>
            <a:endParaRPr lang="en-IN" dirty="0"/>
          </a:p>
        </p:txBody>
      </p:sp>
    </p:spTree>
    <p:extLst>
      <p:ext uri="{BB962C8B-B14F-4D97-AF65-F5344CB8AC3E}">
        <p14:creationId xmlns:p14="http://schemas.microsoft.com/office/powerpoint/2010/main" val="14085269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Internet Protocol Version 4</a:t>
            </a:r>
          </a:p>
        </p:txBody>
      </p:sp>
      <p:pic>
        <p:nvPicPr>
          <p:cNvPr id="7" name="Picture 6">
            <a:extLst>
              <a:ext uri="{FF2B5EF4-FFF2-40B4-BE49-F238E27FC236}">
                <a16:creationId xmlns:a16="http://schemas.microsoft.com/office/drawing/2014/main" id="{D2B50BFE-B214-4A50-7EC8-1C76721CDC31}"/>
              </a:ext>
            </a:extLst>
          </p:cNvPr>
          <p:cNvPicPr>
            <a:picLocks noChangeAspect="1"/>
          </p:cNvPicPr>
          <p:nvPr/>
        </p:nvPicPr>
        <p:blipFill rotWithShape="1">
          <a:blip r:embed="rId2"/>
          <a:srcRect l="38185" t="32207" r="18099" b="31096"/>
          <a:stretch/>
        </p:blipFill>
        <p:spPr>
          <a:xfrm>
            <a:off x="1341884" y="1844824"/>
            <a:ext cx="9849823" cy="4392488"/>
          </a:xfrm>
          <a:prstGeom prst="rect">
            <a:avLst/>
          </a:prstGeom>
        </p:spPr>
      </p:pic>
      <p:sp>
        <p:nvSpPr>
          <p:cNvPr id="8" name="Footer Placeholder 7">
            <a:extLst>
              <a:ext uri="{FF2B5EF4-FFF2-40B4-BE49-F238E27FC236}">
                <a16:creationId xmlns:a16="http://schemas.microsoft.com/office/drawing/2014/main" id="{59D93E46-046E-93A4-E379-926A7A699C06}"/>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9" name="Slide Number Placeholder 8">
            <a:extLst>
              <a:ext uri="{FF2B5EF4-FFF2-40B4-BE49-F238E27FC236}">
                <a16:creationId xmlns:a16="http://schemas.microsoft.com/office/drawing/2014/main" id="{03F8DBB7-5539-D3FA-59F0-4BD69D1D7839}"/>
              </a:ext>
            </a:extLst>
          </p:cNvPr>
          <p:cNvSpPr>
            <a:spLocks noGrp="1"/>
          </p:cNvSpPr>
          <p:nvPr>
            <p:ph type="sldNum" sz="quarter" idx="12"/>
          </p:nvPr>
        </p:nvSpPr>
        <p:spPr/>
        <p:txBody>
          <a:bodyPr/>
          <a:lstStyle/>
          <a:p>
            <a:fld id="{25BA54BD-C84D-46CE-8B72-31BFB26ABA43}" type="slidenum">
              <a:rPr lang="en-IN" smtClean="0"/>
              <a:t>5</a:t>
            </a:fld>
            <a:endParaRPr lang="en-IN" dirty="0"/>
          </a:p>
        </p:txBody>
      </p:sp>
    </p:spTree>
    <p:extLst>
      <p:ext uri="{BB962C8B-B14F-4D97-AF65-F5344CB8AC3E}">
        <p14:creationId xmlns:p14="http://schemas.microsoft.com/office/powerpoint/2010/main" val="2218197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Internet Protocol Version 4</a:t>
            </a:r>
          </a:p>
        </p:txBody>
      </p:sp>
      <p:sp>
        <p:nvSpPr>
          <p:cNvPr id="14" name="Content Placeholder 13"/>
          <p:cNvSpPr>
            <a:spLocks noGrp="1"/>
          </p:cNvSpPr>
          <p:nvPr>
            <p:ph idx="1"/>
          </p:nvPr>
        </p:nvSpPr>
        <p:spPr/>
        <p:txBody>
          <a:bodyPr>
            <a:normAutofit lnSpcReduction="10000"/>
          </a:bodyPr>
          <a:lstStyle/>
          <a:p>
            <a:r>
              <a:rPr lang="en-IN" dirty="0"/>
              <a:t>IPv4 is an unreliable datagram protocol—a best-effort delivery service. The term best-effort means that IPv4 packets can be corrupted, be lost, arrive out of order, or be delayed, and may create congestion for the network. If reliability is important, IPv4 must be paired with a reliable transport-layer protocol such as TCP.</a:t>
            </a:r>
          </a:p>
          <a:p>
            <a:r>
              <a:rPr lang="en-IN" dirty="0"/>
              <a:t>An example of a more commonly understood best-effort delivery service is the post office. The post office does its best to deliver the regular mail but does not always succeed. If an unregistered letter is lost or damaged, it is up to the sender or would-be recipient to discover this.</a:t>
            </a:r>
          </a:p>
          <a:p>
            <a:r>
              <a:rPr lang="en-IN" dirty="0"/>
              <a:t>The post office itself does not keep track of every letter and cannot notify a sender of loss or damage of one.</a:t>
            </a:r>
            <a:endParaRPr lang="en-US" dirty="0"/>
          </a:p>
        </p:txBody>
      </p:sp>
      <p:sp>
        <p:nvSpPr>
          <p:cNvPr id="2" name="Footer Placeholder 1">
            <a:extLst>
              <a:ext uri="{FF2B5EF4-FFF2-40B4-BE49-F238E27FC236}">
                <a16:creationId xmlns:a16="http://schemas.microsoft.com/office/drawing/2014/main" id="{FB8197C9-9B60-A858-9E56-4BEF0465659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DFAA79CC-B03C-DF59-5878-552B0B51123B}"/>
              </a:ext>
            </a:extLst>
          </p:cNvPr>
          <p:cNvSpPr>
            <a:spLocks noGrp="1"/>
          </p:cNvSpPr>
          <p:nvPr>
            <p:ph type="sldNum" sz="quarter" idx="12"/>
          </p:nvPr>
        </p:nvSpPr>
        <p:spPr/>
        <p:txBody>
          <a:bodyPr/>
          <a:lstStyle/>
          <a:p>
            <a:fld id="{25BA54BD-C84D-46CE-8B72-31BFB26ABA43}" type="slidenum">
              <a:rPr lang="en-IN" smtClean="0"/>
              <a:t>6</a:t>
            </a:fld>
            <a:endParaRPr lang="en-IN" dirty="0"/>
          </a:p>
        </p:txBody>
      </p:sp>
    </p:spTree>
    <p:extLst>
      <p:ext uri="{BB962C8B-B14F-4D97-AF65-F5344CB8AC3E}">
        <p14:creationId xmlns:p14="http://schemas.microsoft.com/office/powerpoint/2010/main" val="36374264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Internet Protocol Version 4</a:t>
            </a:r>
          </a:p>
        </p:txBody>
      </p:sp>
      <p:sp>
        <p:nvSpPr>
          <p:cNvPr id="14" name="Content Placeholder 13"/>
          <p:cNvSpPr>
            <a:spLocks noGrp="1"/>
          </p:cNvSpPr>
          <p:nvPr>
            <p:ph idx="1"/>
          </p:nvPr>
        </p:nvSpPr>
        <p:spPr/>
        <p:txBody>
          <a:bodyPr>
            <a:normAutofit/>
          </a:bodyPr>
          <a:lstStyle/>
          <a:p>
            <a:r>
              <a:rPr lang="en-IN" dirty="0"/>
              <a:t>IPv4 is also a connectionless protocol that uses the datagram approach. This means that each datagram is handled independently, and each datagram can follow a different route to the destination. This implies that datagrams sent by the same source to the same destination could arrive out of order.</a:t>
            </a:r>
          </a:p>
          <a:p>
            <a:r>
              <a:rPr lang="en-IN" dirty="0"/>
              <a:t>Again, IPv4 relies on a higher-level protocol to take care of all these problems.</a:t>
            </a:r>
            <a:endParaRPr lang="en-US" dirty="0"/>
          </a:p>
        </p:txBody>
      </p:sp>
      <p:sp>
        <p:nvSpPr>
          <p:cNvPr id="2" name="Footer Placeholder 1">
            <a:extLst>
              <a:ext uri="{FF2B5EF4-FFF2-40B4-BE49-F238E27FC236}">
                <a16:creationId xmlns:a16="http://schemas.microsoft.com/office/drawing/2014/main" id="{0606ACA8-4881-FCB1-9B9B-0F05D7C4A89A}"/>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FD25F775-06B8-197A-F7A8-AED9CAC30765}"/>
              </a:ext>
            </a:extLst>
          </p:cNvPr>
          <p:cNvSpPr>
            <a:spLocks noGrp="1"/>
          </p:cNvSpPr>
          <p:nvPr>
            <p:ph type="sldNum" sz="quarter" idx="12"/>
          </p:nvPr>
        </p:nvSpPr>
        <p:spPr/>
        <p:txBody>
          <a:bodyPr/>
          <a:lstStyle/>
          <a:p>
            <a:fld id="{25BA54BD-C84D-46CE-8B72-31BFB26ABA43}" type="slidenum">
              <a:rPr lang="en-IN" smtClean="0"/>
              <a:t>7</a:t>
            </a:fld>
            <a:endParaRPr lang="en-IN" dirty="0"/>
          </a:p>
        </p:txBody>
      </p:sp>
    </p:spTree>
    <p:extLst>
      <p:ext uri="{BB962C8B-B14F-4D97-AF65-F5344CB8AC3E}">
        <p14:creationId xmlns:p14="http://schemas.microsoft.com/office/powerpoint/2010/main" val="31879747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Datagram Format</a:t>
            </a:r>
          </a:p>
        </p:txBody>
      </p:sp>
      <p:pic>
        <p:nvPicPr>
          <p:cNvPr id="3" name="Content Placeholder 2">
            <a:extLst>
              <a:ext uri="{FF2B5EF4-FFF2-40B4-BE49-F238E27FC236}">
                <a16:creationId xmlns:a16="http://schemas.microsoft.com/office/drawing/2014/main" id="{E81988BB-0164-A0DE-4896-E4FA1E565066}"/>
              </a:ext>
            </a:extLst>
          </p:cNvPr>
          <p:cNvPicPr>
            <a:picLocks noGrp="1" noChangeAspect="1"/>
          </p:cNvPicPr>
          <p:nvPr>
            <p:ph idx="1"/>
          </p:nvPr>
        </p:nvPicPr>
        <p:blipFill rotWithShape="1">
          <a:blip r:embed="rId2"/>
          <a:srcRect l="38346" t="35713" r="17727" b="13662"/>
          <a:stretch/>
        </p:blipFill>
        <p:spPr>
          <a:xfrm>
            <a:off x="2710036" y="1772816"/>
            <a:ext cx="7292012" cy="4464496"/>
          </a:xfrm>
        </p:spPr>
      </p:pic>
      <p:sp>
        <p:nvSpPr>
          <p:cNvPr id="4" name="Footer Placeholder 3">
            <a:extLst>
              <a:ext uri="{FF2B5EF4-FFF2-40B4-BE49-F238E27FC236}">
                <a16:creationId xmlns:a16="http://schemas.microsoft.com/office/drawing/2014/main" id="{5A2C256A-9C70-6F56-F6D9-2F93A1F6B65C}"/>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8CAC5CB-E50A-9A60-BC0C-A2FC399E7F96}"/>
              </a:ext>
            </a:extLst>
          </p:cNvPr>
          <p:cNvSpPr>
            <a:spLocks noGrp="1"/>
          </p:cNvSpPr>
          <p:nvPr>
            <p:ph type="sldNum" sz="quarter" idx="12"/>
          </p:nvPr>
        </p:nvSpPr>
        <p:spPr/>
        <p:txBody>
          <a:bodyPr/>
          <a:lstStyle/>
          <a:p>
            <a:fld id="{25BA54BD-C84D-46CE-8B72-31BFB26ABA43}" type="slidenum">
              <a:rPr lang="en-IN" smtClean="0"/>
              <a:t>8</a:t>
            </a:fld>
            <a:endParaRPr lang="en-IN" dirty="0"/>
          </a:p>
        </p:txBody>
      </p:sp>
    </p:spTree>
    <p:extLst>
      <p:ext uri="{BB962C8B-B14F-4D97-AF65-F5344CB8AC3E}">
        <p14:creationId xmlns:p14="http://schemas.microsoft.com/office/powerpoint/2010/main" val="25375129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Datagram Format</a:t>
            </a:r>
          </a:p>
        </p:txBody>
      </p:sp>
      <p:sp>
        <p:nvSpPr>
          <p:cNvPr id="14" name="Content Placeholder 13"/>
          <p:cNvSpPr>
            <a:spLocks noGrp="1"/>
          </p:cNvSpPr>
          <p:nvPr>
            <p:ph idx="1"/>
          </p:nvPr>
        </p:nvSpPr>
        <p:spPr/>
        <p:txBody>
          <a:bodyPr>
            <a:normAutofit/>
          </a:bodyPr>
          <a:lstStyle/>
          <a:p>
            <a:r>
              <a:rPr lang="en-IN" dirty="0"/>
              <a:t>A datagram is a variable-length packet consisting of two parts: header and payload (data).</a:t>
            </a:r>
          </a:p>
          <a:p>
            <a:r>
              <a:rPr lang="en-IN" dirty="0"/>
              <a:t>The header is 20 to 60 bytes in length and contains information essential to routing and delivery.</a:t>
            </a:r>
          </a:p>
          <a:p>
            <a:r>
              <a:rPr lang="en-IN" dirty="0"/>
              <a:t>It is customary in TCP/IP to show the header in byte sections.</a:t>
            </a:r>
            <a:endParaRPr lang="en-US" dirty="0"/>
          </a:p>
        </p:txBody>
      </p:sp>
      <p:sp>
        <p:nvSpPr>
          <p:cNvPr id="2" name="Footer Placeholder 1">
            <a:extLst>
              <a:ext uri="{FF2B5EF4-FFF2-40B4-BE49-F238E27FC236}">
                <a16:creationId xmlns:a16="http://schemas.microsoft.com/office/drawing/2014/main" id="{81D01917-327B-F97D-6CF8-FC59E12B6D4F}"/>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F3514FF9-E60E-2A2C-6672-5FA3CBA1074E}"/>
              </a:ext>
            </a:extLst>
          </p:cNvPr>
          <p:cNvSpPr>
            <a:spLocks noGrp="1"/>
          </p:cNvSpPr>
          <p:nvPr>
            <p:ph type="sldNum" sz="quarter" idx="12"/>
          </p:nvPr>
        </p:nvSpPr>
        <p:spPr/>
        <p:txBody>
          <a:bodyPr/>
          <a:lstStyle/>
          <a:p>
            <a:fld id="{25BA54BD-C84D-46CE-8B72-31BFB26ABA43}" type="slidenum">
              <a:rPr lang="en-IN" smtClean="0"/>
              <a:t>9</a:t>
            </a:fld>
            <a:endParaRPr lang="en-IN" dirty="0"/>
          </a:p>
        </p:txBody>
      </p:sp>
    </p:spTree>
    <p:extLst>
      <p:ext uri="{BB962C8B-B14F-4D97-AF65-F5344CB8AC3E}">
        <p14:creationId xmlns:p14="http://schemas.microsoft.com/office/powerpoint/2010/main" val="13085883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Datagram Format</a:t>
            </a:r>
          </a:p>
        </p:txBody>
      </p:sp>
      <p:sp>
        <p:nvSpPr>
          <p:cNvPr id="14" name="Content Placeholder 13"/>
          <p:cNvSpPr>
            <a:spLocks noGrp="1"/>
          </p:cNvSpPr>
          <p:nvPr>
            <p:ph idx="1"/>
          </p:nvPr>
        </p:nvSpPr>
        <p:spPr/>
        <p:txBody>
          <a:bodyPr>
            <a:normAutofit fontScale="92500" lnSpcReduction="10000"/>
          </a:bodyPr>
          <a:lstStyle/>
          <a:p>
            <a:r>
              <a:rPr lang="en-US" dirty="0"/>
              <a:t>Version Number</a:t>
            </a:r>
          </a:p>
          <a:p>
            <a:pPr lvl="1"/>
            <a:r>
              <a:rPr lang="en-IN" dirty="0"/>
              <a:t>The 4-bit version number (VER) field defines the version of the IPv4 protocol, which, obviously, has the value of 4.</a:t>
            </a:r>
          </a:p>
          <a:p>
            <a:pPr lvl="1"/>
            <a:r>
              <a:rPr lang="en-IN" dirty="0"/>
              <a:t>This field tells the IPv4 software running in the processing machine that datagram has the format of version 4. All fields must be interpreted as specified in the fourth version of the protocol.</a:t>
            </a:r>
          </a:p>
          <a:p>
            <a:r>
              <a:rPr lang="en-IN" dirty="0"/>
              <a:t>Header Length.</a:t>
            </a:r>
          </a:p>
          <a:p>
            <a:pPr lvl="1"/>
            <a:r>
              <a:rPr lang="en-IN" dirty="0"/>
              <a:t>This 4-bit header length (HLEN) field defines the total length of the datagram header in 4-byte words.</a:t>
            </a:r>
          </a:p>
          <a:p>
            <a:pPr lvl="1"/>
            <a:r>
              <a:rPr lang="en-IN" dirty="0"/>
              <a:t>This field is needed because the length of the header is variable (between 20 bytes and 60 bytes).</a:t>
            </a:r>
          </a:p>
          <a:p>
            <a:pPr lvl="1"/>
            <a:r>
              <a:rPr lang="en-IN" dirty="0"/>
              <a:t>When there are no options, the header length is 20 bytes, and the value of this field is 5 (5 x 4 = 20).</a:t>
            </a:r>
          </a:p>
          <a:p>
            <a:pPr lvl="1"/>
            <a:r>
              <a:rPr lang="en-IN" dirty="0"/>
              <a:t>When the option field is as its maximum size, the value of this field is 15 (15 x 4 = 60).</a:t>
            </a:r>
            <a:endParaRPr lang="en-US" dirty="0"/>
          </a:p>
        </p:txBody>
      </p:sp>
      <p:sp>
        <p:nvSpPr>
          <p:cNvPr id="2" name="Footer Placeholder 1">
            <a:extLst>
              <a:ext uri="{FF2B5EF4-FFF2-40B4-BE49-F238E27FC236}">
                <a16:creationId xmlns:a16="http://schemas.microsoft.com/office/drawing/2014/main" id="{D9903D0F-DB03-ECA8-43E1-FFD550F834AB}"/>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204D90C6-B7A6-DE88-C53F-27D3DFB795CA}"/>
              </a:ext>
            </a:extLst>
          </p:cNvPr>
          <p:cNvSpPr>
            <a:spLocks noGrp="1"/>
          </p:cNvSpPr>
          <p:nvPr>
            <p:ph type="sldNum" sz="quarter" idx="12"/>
          </p:nvPr>
        </p:nvSpPr>
        <p:spPr/>
        <p:txBody>
          <a:bodyPr/>
          <a:lstStyle/>
          <a:p>
            <a:fld id="{25BA54BD-C84D-46CE-8B72-31BFB26ABA43}" type="slidenum">
              <a:rPr lang="en-IN" smtClean="0"/>
              <a:t>10</a:t>
            </a:fld>
            <a:endParaRPr lang="en-IN" dirty="0"/>
          </a:p>
        </p:txBody>
      </p:sp>
    </p:spTree>
    <p:extLst>
      <p:ext uri="{BB962C8B-B14F-4D97-AF65-F5344CB8AC3E}">
        <p14:creationId xmlns:p14="http://schemas.microsoft.com/office/powerpoint/2010/main" val="30343216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Datagram Format</a:t>
            </a:r>
          </a:p>
        </p:txBody>
      </p:sp>
      <p:sp>
        <p:nvSpPr>
          <p:cNvPr id="14" name="Content Placeholder 13"/>
          <p:cNvSpPr>
            <a:spLocks noGrp="1"/>
          </p:cNvSpPr>
          <p:nvPr>
            <p:ph idx="1"/>
          </p:nvPr>
        </p:nvSpPr>
        <p:spPr/>
        <p:txBody>
          <a:bodyPr>
            <a:normAutofit/>
          </a:bodyPr>
          <a:lstStyle/>
          <a:p>
            <a:r>
              <a:rPr lang="en-US" dirty="0"/>
              <a:t>Service Type</a:t>
            </a:r>
          </a:p>
          <a:p>
            <a:pPr lvl="1"/>
            <a:r>
              <a:rPr lang="en-IN" dirty="0"/>
              <a:t>IETF has changed the interpretation and name of this 8-bit field. This field, previously called service type, is now called differentiated services.</a:t>
            </a:r>
          </a:p>
          <a:p>
            <a:pPr lvl="1"/>
            <a:r>
              <a:rPr lang="en-IN" dirty="0"/>
              <a:t>Both interpretations are shown in the figure below.</a:t>
            </a:r>
            <a:endParaRPr lang="en-US" dirty="0"/>
          </a:p>
        </p:txBody>
      </p:sp>
      <p:pic>
        <p:nvPicPr>
          <p:cNvPr id="3" name="Picture 2">
            <a:extLst>
              <a:ext uri="{FF2B5EF4-FFF2-40B4-BE49-F238E27FC236}">
                <a16:creationId xmlns:a16="http://schemas.microsoft.com/office/drawing/2014/main" id="{8E240695-9B30-0D8C-F4C3-99FE3805ADAA}"/>
              </a:ext>
            </a:extLst>
          </p:cNvPr>
          <p:cNvPicPr>
            <a:picLocks noChangeAspect="1"/>
          </p:cNvPicPr>
          <p:nvPr/>
        </p:nvPicPr>
        <p:blipFill rotWithShape="1">
          <a:blip r:embed="rId2"/>
          <a:srcRect l="35821" t="43328" r="13372" b="28871"/>
          <a:stretch/>
        </p:blipFill>
        <p:spPr>
          <a:xfrm>
            <a:off x="2244354" y="3723928"/>
            <a:ext cx="8422057" cy="2448272"/>
          </a:xfrm>
          <a:prstGeom prst="rect">
            <a:avLst/>
          </a:prstGeom>
        </p:spPr>
      </p:pic>
      <p:sp>
        <p:nvSpPr>
          <p:cNvPr id="4" name="Footer Placeholder 3">
            <a:extLst>
              <a:ext uri="{FF2B5EF4-FFF2-40B4-BE49-F238E27FC236}">
                <a16:creationId xmlns:a16="http://schemas.microsoft.com/office/drawing/2014/main" id="{7D7C82D0-99E8-527E-93B9-3C6C5BA1DCA9}"/>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F6F3E268-CADD-9E88-3FD9-9E7F8EDA5970}"/>
              </a:ext>
            </a:extLst>
          </p:cNvPr>
          <p:cNvSpPr>
            <a:spLocks noGrp="1"/>
          </p:cNvSpPr>
          <p:nvPr>
            <p:ph type="sldNum" sz="quarter" idx="12"/>
          </p:nvPr>
        </p:nvSpPr>
        <p:spPr/>
        <p:txBody>
          <a:bodyPr/>
          <a:lstStyle/>
          <a:p>
            <a:fld id="{25BA54BD-C84D-46CE-8B72-31BFB26ABA43}" type="slidenum">
              <a:rPr lang="en-IN" smtClean="0"/>
              <a:t>11</a:t>
            </a:fld>
            <a:endParaRPr lang="en-IN" dirty="0"/>
          </a:p>
        </p:txBody>
      </p:sp>
    </p:spTree>
    <p:extLst>
      <p:ext uri="{BB962C8B-B14F-4D97-AF65-F5344CB8AC3E}">
        <p14:creationId xmlns:p14="http://schemas.microsoft.com/office/powerpoint/2010/main" val="5447835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Datagram Format</a:t>
            </a:r>
          </a:p>
        </p:txBody>
      </p:sp>
      <p:sp>
        <p:nvSpPr>
          <p:cNvPr id="14" name="Content Placeholder 13"/>
          <p:cNvSpPr>
            <a:spLocks noGrp="1"/>
          </p:cNvSpPr>
          <p:nvPr>
            <p:ph idx="1"/>
          </p:nvPr>
        </p:nvSpPr>
        <p:spPr/>
        <p:txBody>
          <a:bodyPr>
            <a:normAutofit lnSpcReduction="10000"/>
          </a:bodyPr>
          <a:lstStyle/>
          <a:p>
            <a:r>
              <a:rPr lang="en-US" dirty="0"/>
              <a:t>Total Length</a:t>
            </a:r>
          </a:p>
          <a:p>
            <a:pPr lvl="1"/>
            <a:r>
              <a:rPr lang="en-IN" dirty="0"/>
              <a:t>This 16-bit field defines the total length (header plus data) of the IP datagram in bytes</a:t>
            </a:r>
          </a:p>
          <a:p>
            <a:r>
              <a:rPr lang="en-US" dirty="0"/>
              <a:t>Identification, Flags, and Fragmentation Offset.</a:t>
            </a:r>
          </a:p>
          <a:p>
            <a:pPr lvl="1"/>
            <a:r>
              <a:rPr lang="en-IN" dirty="0"/>
              <a:t>These three fields are related to the fragmentation of the IP datagram when the size of the datagram is larger than the underlying network can carry.</a:t>
            </a:r>
          </a:p>
          <a:p>
            <a:r>
              <a:rPr lang="en-US" dirty="0"/>
              <a:t>Time-to-live.</a:t>
            </a:r>
          </a:p>
          <a:p>
            <a:pPr lvl="1"/>
            <a:r>
              <a:rPr lang="en-IN" dirty="0"/>
              <a:t>A datagram has limited lifetime in its travel through an internet. So, this field is used to set the lifetime of the packet.</a:t>
            </a:r>
          </a:p>
          <a:p>
            <a:r>
              <a:rPr lang="en-US" dirty="0"/>
              <a:t>Protocol.</a:t>
            </a:r>
          </a:p>
          <a:p>
            <a:pPr lvl="1"/>
            <a:r>
              <a:rPr lang="en-US" dirty="0"/>
              <a:t>This field is used to indicate the higher layer protocol which uses an IP as the delivery protocol.</a:t>
            </a:r>
          </a:p>
        </p:txBody>
      </p:sp>
      <p:sp>
        <p:nvSpPr>
          <p:cNvPr id="2" name="Footer Placeholder 1">
            <a:extLst>
              <a:ext uri="{FF2B5EF4-FFF2-40B4-BE49-F238E27FC236}">
                <a16:creationId xmlns:a16="http://schemas.microsoft.com/office/drawing/2014/main" id="{4370D1E8-B7AD-9589-79E5-35BCEAE481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4158B303-B934-1DCA-4A77-695533B20229}"/>
              </a:ext>
            </a:extLst>
          </p:cNvPr>
          <p:cNvSpPr>
            <a:spLocks noGrp="1"/>
          </p:cNvSpPr>
          <p:nvPr>
            <p:ph type="sldNum" sz="quarter" idx="12"/>
          </p:nvPr>
        </p:nvSpPr>
        <p:spPr/>
        <p:txBody>
          <a:bodyPr/>
          <a:lstStyle/>
          <a:p>
            <a:fld id="{25BA54BD-C84D-46CE-8B72-31BFB26ABA43}" type="slidenum">
              <a:rPr lang="en-IN" smtClean="0"/>
              <a:t>12</a:t>
            </a:fld>
            <a:endParaRPr lang="en-IN" dirty="0"/>
          </a:p>
        </p:txBody>
      </p:sp>
    </p:spTree>
    <p:extLst>
      <p:ext uri="{BB962C8B-B14F-4D97-AF65-F5344CB8AC3E}">
        <p14:creationId xmlns:p14="http://schemas.microsoft.com/office/powerpoint/2010/main" val="1129894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Datagram Format</a:t>
            </a:r>
          </a:p>
        </p:txBody>
      </p:sp>
      <p:sp>
        <p:nvSpPr>
          <p:cNvPr id="14" name="Content Placeholder 13"/>
          <p:cNvSpPr>
            <a:spLocks noGrp="1"/>
          </p:cNvSpPr>
          <p:nvPr>
            <p:ph idx="1"/>
          </p:nvPr>
        </p:nvSpPr>
        <p:spPr/>
        <p:txBody>
          <a:bodyPr>
            <a:normAutofit/>
          </a:bodyPr>
          <a:lstStyle/>
          <a:p>
            <a:r>
              <a:rPr lang="en-IN" dirty="0"/>
              <a:t>Header Checksum</a:t>
            </a:r>
            <a:endParaRPr lang="en-US" dirty="0"/>
          </a:p>
          <a:p>
            <a:pPr lvl="1"/>
            <a:r>
              <a:rPr lang="en-IN" dirty="0"/>
              <a:t>IP adds a header checksum field to check the correctness of the header at the intermediate router or the destination host.</a:t>
            </a:r>
          </a:p>
          <a:p>
            <a:r>
              <a:rPr lang="en-IN" dirty="0"/>
              <a:t>Source and Destination address</a:t>
            </a:r>
          </a:p>
          <a:p>
            <a:pPr lvl="1"/>
            <a:r>
              <a:rPr lang="en-IN" dirty="0"/>
              <a:t>These 32-bit source and destination address fields define the IP address of the source and destination respectively.</a:t>
            </a:r>
          </a:p>
          <a:p>
            <a:r>
              <a:rPr lang="en-IN" dirty="0"/>
              <a:t>Options</a:t>
            </a:r>
          </a:p>
          <a:p>
            <a:pPr lvl="1"/>
            <a:r>
              <a:rPr lang="en-IN" dirty="0"/>
              <a:t>A datagram header can have up to 40 bytes of options.</a:t>
            </a:r>
          </a:p>
          <a:p>
            <a:pPr lvl="1"/>
            <a:r>
              <a:rPr lang="en-IN" dirty="0"/>
              <a:t>An Options can be used for network testing and debugging.</a:t>
            </a:r>
          </a:p>
          <a:p>
            <a:endParaRPr lang="en-IN" dirty="0"/>
          </a:p>
        </p:txBody>
      </p:sp>
      <p:sp>
        <p:nvSpPr>
          <p:cNvPr id="2" name="Footer Placeholder 1">
            <a:extLst>
              <a:ext uri="{FF2B5EF4-FFF2-40B4-BE49-F238E27FC236}">
                <a16:creationId xmlns:a16="http://schemas.microsoft.com/office/drawing/2014/main" id="{EFE1F419-F1EA-2042-1856-E96E72E920CB}"/>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F94BF827-4EEA-2B2F-DD1D-7F60F1DB789F}"/>
              </a:ext>
            </a:extLst>
          </p:cNvPr>
          <p:cNvSpPr>
            <a:spLocks noGrp="1"/>
          </p:cNvSpPr>
          <p:nvPr>
            <p:ph type="sldNum" sz="quarter" idx="12"/>
          </p:nvPr>
        </p:nvSpPr>
        <p:spPr/>
        <p:txBody>
          <a:bodyPr/>
          <a:lstStyle/>
          <a:p>
            <a:fld id="{25BA54BD-C84D-46CE-8B72-31BFB26ABA43}" type="slidenum">
              <a:rPr lang="en-IN" smtClean="0"/>
              <a:t>13</a:t>
            </a:fld>
            <a:endParaRPr lang="en-IN" dirty="0"/>
          </a:p>
        </p:txBody>
      </p:sp>
    </p:spTree>
    <p:extLst>
      <p:ext uri="{BB962C8B-B14F-4D97-AF65-F5344CB8AC3E}">
        <p14:creationId xmlns:p14="http://schemas.microsoft.com/office/powerpoint/2010/main" val="28088276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Datagram Format</a:t>
            </a:r>
          </a:p>
        </p:txBody>
      </p:sp>
      <p:sp>
        <p:nvSpPr>
          <p:cNvPr id="14" name="Content Placeholder 13"/>
          <p:cNvSpPr>
            <a:spLocks noGrp="1"/>
          </p:cNvSpPr>
          <p:nvPr>
            <p:ph idx="1"/>
          </p:nvPr>
        </p:nvSpPr>
        <p:spPr/>
        <p:txBody>
          <a:bodyPr>
            <a:normAutofit/>
          </a:bodyPr>
          <a:lstStyle/>
          <a:p>
            <a:r>
              <a:rPr lang="en-IN" dirty="0"/>
              <a:t>Payload</a:t>
            </a:r>
          </a:p>
          <a:p>
            <a:pPr lvl="1"/>
            <a:r>
              <a:rPr lang="en-IN" dirty="0"/>
              <a:t>Payload, or data, is the main reason for creating a datagram.</a:t>
            </a:r>
          </a:p>
          <a:p>
            <a:pPr lvl="1"/>
            <a:r>
              <a:rPr lang="en-IN" dirty="0"/>
              <a:t>Payload is the packet coming from other protocols that use the service of IP.</a:t>
            </a:r>
          </a:p>
          <a:p>
            <a:pPr lvl="1"/>
            <a:r>
              <a:rPr lang="en-IN" dirty="0"/>
              <a:t>Comparing a datagram to a postal package, payload is the content of the package; the header is only the information written on the package.</a:t>
            </a:r>
          </a:p>
        </p:txBody>
      </p:sp>
      <p:sp>
        <p:nvSpPr>
          <p:cNvPr id="2" name="Footer Placeholder 1">
            <a:extLst>
              <a:ext uri="{FF2B5EF4-FFF2-40B4-BE49-F238E27FC236}">
                <a16:creationId xmlns:a16="http://schemas.microsoft.com/office/drawing/2014/main" id="{08EF7BE9-EE41-088E-5544-D496628D343C}"/>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9120A081-A269-2864-46A8-BEAB0C977EE8}"/>
              </a:ext>
            </a:extLst>
          </p:cNvPr>
          <p:cNvSpPr>
            <a:spLocks noGrp="1"/>
          </p:cNvSpPr>
          <p:nvPr>
            <p:ph type="sldNum" sz="quarter" idx="12"/>
          </p:nvPr>
        </p:nvSpPr>
        <p:spPr/>
        <p:txBody>
          <a:bodyPr/>
          <a:lstStyle/>
          <a:p>
            <a:fld id="{25BA54BD-C84D-46CE-8B72-31BFB26ABA43}" type="slidenum">
              <a:rPr lang="en-IN" smtClean="0"/>
              <a:t>14</a:t>
            </a:fld>
            <a:endParaRPr lang="en-IN" dirty="0"/>
          </a:p>
        </p:txBody>
      </p:sp>
    </p:spTree>
    <p:extLst>
      <p:ext uri="{BB962C8B-B14F-4D97-AF65-F5344CB8AC3E}">
        <p14:creationId xmlns:p14="http://schemas.microsoft.com/office/powerpoint/2010/main" val="12673287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Example</a:t>
            </a:r>
          </a:p>
        </p:txBody>
      </p:sp>
      <p:sp>
        <p:nvSpPr>
          <p:cNvPr id="14" name="Content Placeholder 13"/>
          <p:cNvSpPr>
            <a:spLocks noGrp="1"/>
          </p:cNvSpPr>
          <p:nvPr>
            <p:ph idx="1"/>
          </p:nvPr>
        </p:nvSpPr>
        <p:spPr/>
        <p:txBody>
          <a:bodyPr>
            <a:normAutofit/>
          </a:bodyPr>
          <a:lstStyle/>
          <a:p>
            <a:r>
              <a:rPr lang="en-IN" sz="3600" dirty="0">
                <a:solidFill>
                  <a:srgbClr val="FFFF00"/>
                </a:solidFill>
              </a:rPr>
              <a:t>An IPv4 packet has arrived with the first 8 bits as (01000010)</a:t>
            </a:r>
            <a:r>
              <a:rPr lang="en-IN" sz="3600" baseline="-25000" dirty="0">
                <a:solidFill>
                  <a:srgbClr val="FFFF00"/>
                </a:solidFill>
              </a:rPr>
              <a:t>2</a:t>
            </a:r>
            <a:r>
              <a:rPr lang="en-IN" sz="3600" dirty="0">
                <a:solidFill>
                  <a:srgbClr val="FFFF00"/>
                </a:solidFill>
              </a:rPr>
              <a:t> The receiver discards the packet. Why?</a:t>
            </a:r>
          </a:p>
        </p:txBody>
      </p:sp>
      <p:sp>
        <p:nvSpPr>
          <p:cNvPr id="2" name="Footer Placeholder 1">
            <a:extLst>
              <a:ext uri="{FF2B5EF4-FFF2-40B4-BE49-F238E27FC236}">
                <a16:creationId xmlns:a16="http://schemas.microsoft.com/office/drawing/2014/main" id="{426866C2-76A2-A821-A4E8-4BD6B2BE1888}"/>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91E5040-0DA8-2D18-B568-829A3039E31C}"/>
              </a:ext>
            </a:extLst>
          </p:cNvPr>
          <p:cNvSpPr>
            <a:spLocks noGrp="1"/>
          </p:cNvSpPr>
          <p:nvPr>
            <p:ph type="sldNum" sz="quarter" idx="12"/>
          </p:nvPr>
        </p:nvSpPr>
        <p:spPr/>
        <p:txBody>
          <a:bodyPr/>
          <a:lstStyle/>
          <a:p>
            <a:fld id="{25BA54BD-C84D-46CE-8B72-31BFB26ABA43}" type="slidenum">
              <a:rPr lang="en-IN" smtClean="0"/>
              <a:t>15</a:t>
            </a:fld>
            <a:endParaRPr lang="en-IN" dirty="0"/>
          </a:p>
        </p:txBody>
      </p:sp>
    </p:spTree>
    <p:extLst>
      <p:ext uri="{BB962C8B-B14F-4D97-AF65-F5344CB8AC3E}">
        <p14:creationId xmlns:p14="http://schemas.microsoft.com/office/powerpoint/2010/main" val="10052107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Example</a:t>
            </a:r>
          </a:p>
        </p:txBody>
      </p:sp>
      <p:sp>
        <p:nvSpPr>
          <p:cNvPr id="14" name="Content Placeholder 13"/>
          <p:cNvSpPr>
            <a:spLocks noGrp="1"/>
          </p:cNvSpPr>
          <p:nvPr>
            <p:ph idx="1"/>
          </p:nvPr>
        </p:nvSpPr>
        <p:spPr/>
        <p:txBody>
          <a:bodyPr>
            <a:normAutofit/>
          </a:bodyPr>
          <a:lstStyle/>
          <a:p>
            <a:r>
              <a:rPr lang="en-IN" sz="3600" dirty="0">
                <a:solidFill>
                  <a:srgbClr val="FFFF00"/>
                </a:solidFill>
              </a:rPr>
              <a:t>In an IPv4 packet, the value of HLEN is (1000)</a:t>
            </a:r>
            <a:r>
              <a:rPr lang="en-IN" sz="3600" baseline="-25000" dirty="0">
                <a:solidFill>
                  <a:srgbClr val="FFFF00"/>
                </a:solidFill>
              </a:rPr>
              <a:t>2</a:t>
            </a:r>
            <a:r>
              <a:rPr lang="en-IN" sz="3600" dirty="0">
                <a:solidFill>
                  <a:srgbClr val="FFFF00"/>
                </a:solidFill>
              </a:rPr>
              <a:t>. How many bytes of options are being carried by this packet?</a:t>
            </a:r>
          </a:p>
        </p:txBody>
      </p:sp>
      <p:sp>
        <p:nvSpPr>
          <p:cNvPr id="2" name="Footer Placeholder 1">
            <a:extLst>
              <a:ext uri="{FF2B5EF4-FFF2-40B4-BE49-F238E27FC236}">
                <a16:creationId xmlns:a16="http://schemas.microsoft.com/office/drawing/2014/main" id="{712C1546-8F06-CADF-8226-35AEECAF7512}"/>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8A8A9DE2-5E50-6BE5-971A-5965FAE1EDC3}"/>
              </a:ext>
            </a:extLst>
          </p:cNvPr>
          <p:cNvSpPr>
            <a:spLocks noGrp="1"/>
          </p:cNvSpPr>
          <p:nvPr>
            <p:ph type="sldNum" sz="quarter" idx="12"/>
          </p:nvPr>
        </p:nvSpPr>
        <p:spPr/>
        <p:txBody>
          <a:bodyPr/>
          <a:lstStyle/>
          <a:p>
            <a:fld id="{25BA54BD-C84D-46CE-8B72-31BFB26ABA43}" type="slidenum">
              <a:rPr lang="en-IN" smtClean="0"/>
              <a:t>16</a:t>
            </a:fld>
            <a:endParaRPr lang="en-IN" dirty="0"/>
          </a:p>
        </p:txBody>
      </p:sp>
    </p:spTree>
    <p:extLst>
      <p:ext uri="{BB962C8B-B14F-4D97-AF65-F5344CB8AC3E}">
        <p14:creationId xmlns:p14="http://schemas.microsoft.com/office/powerpoint/2010/main" val="36239252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Example</a:t>
            </a:r>
          </a:p>
        </p:txBody>
      </p:sp>
      <p:sp>
        <p:nvSpPr>
          <p:cNvPr id="14" name="Content Placeholder 13"/>
          <p:cNvSpPr>
            <a:spLocks noGrp="1"/>
          </p:cNvSpPr>
          <p:nvPr>
            <p:ph idx="1"/>
          </p:nvPr>
        </p:nvSpPr>
        <p:spPr/>
        <p:txBody>
          <a:bodyPr>
            <a:normAutofit/>
          </a:bodyPr>
          <a:lstStyle/>
          <a:p>
            <a:r>
              <a:rPr lang="en-IN" sz="3600" dirty="0">
                <a:solidFill>
                  <a:srgbClr val="FFFF00"/>
                </a:solidFill>
              </a:rPr>
              <a:t>In an IPv4 packet, the value of HLEN is 5, and the value of the total length field is (0028)</a:t>
            </a:r>
            <a:r>
              <a:rPr lang="en-IN" sz="3600" baseline="-25000" dirty="0">
                <a:solidFill>
                  <a:srgbClr val="FFFF00"/>
                </a:solidFill>
              </a:rPr>
              <a:t>16</a:t>
            </a:r>
            <a:r>
              <a:rPr lang="en-IN" sz="3600" dirty="0">
                <a:solidFill>
                  <a:srgbClr val="FFFF00"/>
                </a:solidFill>
              </a:rPr>
              <a:t>. How many bytes of data are being carried by this packet?</a:t>
            </a:r>
          </a:p>
        </p:txBody>
      </p:sp>
      <p:sp>
        <p:nvSpPr>
          <p:cNvPr id="2" name="Footer Placeholder 1">
            <a:extLst>
              <a:ext uri="{FF2B5EF4-FFF2-40B4-BE49-F238E27FC236}">
                <a16:creationId xmlns:a16="http://schemas.microsoft.com/office/drawing/2014/main" id="{6CEFEA34-7A07-EC73-2577-252F25030012}"/>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DF7FC4E0-73A8-1CE5-998D-ADD88A9021FB}"/>
              </a:ext>
            </a:extLst>
          </p:cNvPr>
          <p:cNvSpPr>
            <a:spLocks noGrp="1"/>
          </p:cNvSpPr>
          <p:nvPr>
            <p:ph type="sldNum" sz="quarter" idx="12"/>
          </p:nvPr>
        </p:nvSpPr>
        <p:spPr/>
        <p:txBody>
          <a:bodyPr/>
          <a:lstStyle/>
          <a:p>
            <a:fld id="{25BA54BD-C84D-46CE-8B72-31BFB26ABA43}" type="slidenum">
              <a:rPr lang="en-IN" smtClean="0"/>
              <a:t>17</a:t>
            </a:fld>
            <a:endParaRPr lang="en-IN" dirty="0"/>
          </a:p>
        </p:txBody>
      </p:sp>
    </p:spTree>
    <p:extLst>
      <p:ext uri="{BB962C8B-B14F-4D97-AF65-F5344CB8AC3E}">
        <p14:creationId xmlns:p14="http://schemas.microsoft.com/office/powerpoint/2010/main" val="14201162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Example</a:t>
            </a:r>
          </a:p>
        </p:txBody>
      </p:sp>
      <p:sp>
        <p:nvSpPr>
          <p:cNvPr id="14" name="Content Placeholder 13"/>
          <p:cNvSpPr>
            <a:spLocks noGrp="1"/>
          </p:cNvSpPr>
          <p:nvPr>
            <p:ph idx="1"/>
          </p:nvPr>
        </p:nvSpPr>
        <p:spPr/>
        <p:txBody>
          <a:bodyPr>
            <a:normAutofit/>
          </a:bodyPr>
          <a:lstStyle/>
          <a:p>
            <a:r>
              <a:rPr lang="en-IN" sz="3600" dirty="0">
                <a:solidFill>
                  <a:srgbClr val="FFFF00"/>
                </a:solidFill>
              </a:rPr>
              <a:t>An IPv4 packet has arrived with the first few hexadecimal digits as shown.</a:t>
            </a:r>
          </a:p>
          <a:p>
            <a:pPr marL="0" indent="0">
              <a:buNone/>
            </a:pPr>
            <a:r>
              <a:rPr lang="en-IN" sz="3600" dirty="0">
                <a:solidFill>
                  <a:srgbClr val="FFFF00"/>
                </a:solidFill>
              </a:rPr>
              <a:t>	(45000028000100000102…)</a:t>
            </a:r>
            <a:r>
              <a:rPr lang="en-IN" sz="3600" baseline="-25000" dirty="0">
                <a:solidFill>
                  <a:srgbClr val="FFFF00"/>
                </a:solidFill>
              </a:rPr>
              <a:t>16</a:t>
            </a:r>
          </a:p>
          <a:p>
            <a:r>
              <a:rPr lang="en-IN" sz="3600" dirty="0">
                <a:solidFill>
                  <a:srgbClr val="FFFF00"/>
                </a:solidFill>
              </a:rPr>
              <a:t>How many hops can this packet travel before being dropped? The data belong to what upper-layer protocol?</a:t>
            </a:r>
          </a:p>
        </p:txBody>
      </p:sp>
      <p:sp>
        <p:nvSpPr>
          <p:cNvPr id="2" name="Footer Placeholder 1">
            <a:extLst>
              <a:ext uri="{FF2B5EF4-FFF2-40B4-BE49-F238E27FC236}">
                <a16:creationId xmlns:a16="http://schemas.microsoft.com/office/drawing/2014/main" id="{2DFFE3E7-9A57-9A0E-EB9F-09DA8EF68379}"/>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14FD29A8-5CA9-60D5-0400-A63C5505C713}"/>
              </a:ext>
            </a:extLst>
          </p:cNvPr>
          <p:cNvSpPr>
            <a:spLocks noGrp="1"/>
          </p:cNvSpPr>
          <p:nvPr>
            <p:ph type="sldNum" sz="quarter" idx="12"/>
          </p:nvPr>
        </p:nvSpPr>
        <p:spPr/>
        <p:txBody>
          <a:bodyPr/>
          <a:lstStyle/>
          <a:p>
            <a:fld id="{25BA54BD-C84D-46CE-8B72-31BFB26ABA43}" type="slidenum">
              <a:rPr lang="en-IN" smtClean="0"/>
              <a:t>18</a:t>
            </a:fld>
            <a:endParaRPr lang="en-IN" dirty="0"/>
          </a:p>
        </p:txBody>
      </p:sp>
    </p:spTree>
    <p:extLst>
      <p:ext uri="{BB962C8B-B14F-4D97-AF65-F5344CB8AC3E}">
        <p14:creationId xmlns:p14="http://schemas.microsoft.com/office/powerpoint/2010/main" val="11607775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Fragmentation</a:t>
            </a:r>
          </a:p>
        </p:txBody>
      </p:sp>
      <p:sp>
        <p:nvSpPr>
          <p:cNvPr id="14" name="Content Placeholder 13"/>
          <p:cNvSpPr>
            <a:spLocks noGrp="1"/>
          </p:cNvSpPr>
          <p:nvPr>
            <p:ph idx="1"/>
          </p:nvPr>
        </p:nvSpPr>
        <p:spPr/>
        <p:txBody>
          <a:bodyPr>
            <a:normAutofit lnSpcReduction="10000"/>
          </a:bodyPr>
          <a:lstStyle/>
          <a:p>
            <a:r>
              <a:rPr lang="en-IN" dirty="0"/>
              <a:t>A datagram can travel through different networks.</a:t>
            </a:r>
          </a:p>
          <a:p>
            <a:r>
              <a:rPr lang="en-IN" dirty="0"/>
              <a:t>Each router decapsulates the IP datagram from the frame it receives, processes it, and then encapsulates it in another frame.</a:t>
            </a:r>
          </a:p>
          <a:p>
            <a:r>
              <a:rPr lang="en-IN" dirty="0"/>
              <a:t>The format and size of the received frame depend on the protocol used by the physical network through which the frame has just travelled.</a:t>
            </a:r>
          </a:p>
          <a:p>
            <a:r>
              <a:rPr lang="en-IN" dirty="0"/>
              <a:t>The format and size of the sent frame depend on the protocol used by the physical network through which the frame is going to travel.</a:t>
            </a:r>
          </a:p>
          <a:p>
            <a:r>
              <a:rPr lang="en-IN" dirty="0"/>
              <a:t>For example, if a router connects a LAN to a WAN, it receives a frame in the LAN format and sends a frame in the WAN format.</a:t>
            </a:r>
          </a:p>
        </p:txBody>
      </p:sp>
      <p:sp>
        <p:nvSpPr>
          <p:cNvPr id="2" name="Footer Placeholder 1">
            <a:extLst>
              <a:ext uri="{FF2B5EF4-FFF2-40B4-BE49-F238E27FC236}">
                <a16:creationId xmlns:a16="http://schemas.microsoft.com/office/drawing/2014/main" id="{64968E83-6DE2-A02D-920F-49E394C29F2B}"/>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0B04197C-7C31-53A5-F181-E198A207ACE0}"/>
              </a:ext>
            </a:extLst>
          </p:cNvPr>
          <p:cNvSpPr>
            <a:spLocks noGrp="1"/>
          </p:cNvSpPr>
          <p:nvPr>
            <p:ph type="sldNum" sz="quarter" idx="12"/>
          </p:nvPr>
        </p:nvSpPr>
        <p:spPr/>
        <p:txBody>
          <a:bodyPr/>
          <a:lstStyle/>
          <a:p>
            <a:fld id="{25BA54BD-C84D-46CE-8B72-31BFB26ABA43}" type="slidenum">
              <a:rPr lang="en-IN" smtClean="0"/>
              <a:t>19</a:t>
            </a:fld>
            <a:endParaRPr lang="en-IN" dirty="0"/>
          </a:p>
        </p:txBody>
      </p:sp>
    </p:spTree>
    <p:extLst>
      <p:ext uri="{BB962C8B-B14F-4D97-AF65-F5344CB8AC3E}">
        <p14:creationId xmlns:p14="http://schemas.microsoft.com/office/powerpoint/2010/main" val="12462459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Maximum Transfer Unit</a:t>
            </a:r>
          </a:p>
        </p:txBody>
      </p:sp>
      <p:sp>
        <p:nvSpPr>
          <p:cNvPr id="14" name="Content Placeholder 13"/>
          <p:cNvSpPr>
            <a:spLocks noGrp="1"/>
          </p:cNvSpPr>
          <p:nvPr>
            <p:ph idx="1"/>
          </p:nvPr>
        </p:nvSpPr>
        <p:spPr/>
        <p:txBody>
          <a:bodyPr>
            <a:normAutofit/>
          </a:bodyPr>
          <a:lstStyle/>
          <a:p>
            <a:r>
              <a:rPr lang="en-IN" dirty="0"/>
              <a:t>Each link-layer protocol has its own frame format. One of the features of each format is the maximum size of the payload that can be encapsulated.</a:t>
            </a:r>
          </a:p>
          <a:p>
            <a:r>
              <a:rPr lang="en-IN" dirty="0"/>
              <a:t>In other words, when a datagram is encapsulated in a frame, the total size of the datagram must be less than this maximum size, which is defined by the restrictions imposed by the hardware and software used in the network .</a:t>
            </a:r>
          </a:p>
        </p:txBody>
      </p:sp>
      <p:pic>
        <p:nvPicPr>
          <p:cNvPr id="3" name="Picture 2">
            <a:extLst>
              <a:ext uri="{FF2B5EF4-FFF2-40B4-BE49-F238E27FC236}">
                <a16:creationId xmlns:a16="http://schemas.microsoft.com/office/drawing/2014/main" id="{A31E8C24-A90A-2B9A-D552-FD5C585B92AE}"/>
              </a:ext>
            </a:extLst>
          </p:cNvPr>
          <p:cNvPicPr>
            <a:picLocks noChangeAspect="1"/>
          </p:cNvPicPr>
          <p:nvPr/>
        </p:nvPicPr>
        <p:blipFill rotWithShape="1">
          <a:blip r:embed="rId2"/>
          <a:srcRect l="35231" t="26464" r="18689" b="45552"/>
          <a:stretch/>
        </p:blipFill>
        <p:spPr>
          <a:xfrm>
            <a:off x="3718148" y="4653136"/>
            <a:ext cx="5616625" cy="1812032"/>
          </a:xfrm>
          <a:prstGeom prst="rect">
            <a:avLst/>
          </a:prstGeom>
        </p:spPr>
      </p:pic>
      <p:sp>
        <p:nvSpPr>
          <p:cNvPr id="4" name="Footer Placeholder 3">
            <a:extLst>
              <a:ext uri="{FF2B5EF4-FFF2-40B4-BE49-F238E27FC236}">
                <a16:creationId xmlns:a16="http://schemas.microsoft.com/office/drawing/2014/main" id="{F2DFAD66-EF03-E732-9EEA-577E09A244F5}"/>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21B1E135-68B4-758A-719D-AFC06AE87C99}"/>
              </a:ext>
            </a:extLst>
          </p:cNvPr>
          <p:cNvSpPr>
            <a:spLocks noGrp="1"/>
          </p:cNvSpPr>
          <p:nvPr>
            <p:ph type="sldNum" sz="quarter" idx="12"/>
          </p:nvPr>
        </p:nvSpPr>
        <p:spPr/>
        <p:txBody>
          <a:bodyPr/>
          <a:lstStyle/>
          <a:p>
            <a:fld id="{25BA54BD-C84D-46CE-8B72-31BFB26ABA43}" type="slidenum">
              <a:rPr lang="en-IN" smtClean="0"/>
              <a:t>20</a:t>
            </a:fld>
            <a:endParaRPr lang="en-IN" dirty="0"/>
          </a:p>
        </p:txBody>
      </p:sp>
    </p:spTree>
    <p:extLst>
      <p:ext uri="{BB962C8B-B14F-4D97-AF65-F5344CB8AC3E}">
        <p14:creationId xmlns:p14="http://schemas.microsoft.com/office/powerpoint/2010/main" val="19540687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Maximum Transfer Unit</a:t>
            </a:r>
          </a:p>
        </p:txBody>
      </p:sp>
      <p:sp>
        <p:nvSpPr>
          <p:cNvPr id="14" name="Content Placeholder 13"/>
          <p:cNvSpPr>
            <a:spLocks noGrp="1"/>
          </p:cNvSpPr>
          <p:nvPr>
            <p:ph idx="1"/>
          </p:nvPr>
        </p:nvSpPr>
        <p:spPr/>
        <p:txBody>
          <a:bodyPr>
            <a:normAutofit/>
          </a:bodyPr>
          <a:lstStyle/>
          <a:p>
            <a:r>
              <a:rPr lang="en-IN" dirty="0"/>
              <a:t>The value of the MTU differs from one physical network protocol to another.</a:t>
            </a:r>
          </a:p>
          <a:p>
            <a:r>
              <a:rPr lang="en-IN" dirty="0"/>
              <a:t>For example, the value for a LAN is normally 1500 bytes, but for a WAN it can be larger or smaller.</a:t>
            </a:r>
          </a:p>
          <a:p>
            <a:r>
              <a:rPr lang="en-IN" dirty="0"/>
              <a:t>In order to make the IP protocol independent of the physical network, the designers decided to make the maximum length of the IP datagram equal to 65,535 bytes. This makes transmission more efficient if one day we use a link-layer protocol with an MTU of this size.</a:t>
            </a:r>
          </a:p>
        </p:txBody>
      </p:sp>
      <p:sp>
        <p:nvSpPr>
          <p:cNvPr id="2" name="Footer Placeholder 1">
            <a:extLst>
              <a:ext uri="{FF2B5EF4-FFF2-40B4-BE49-F238E27FC236}">
                <a16:creationId xmlns:a16="http://schemas.microsoft.com/office/drawing/2014/main" id="{D383111F-7CD6-4442-8216-7899C259F23A}"/>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4" name="Slide Number Placeholder 3">
            <a:extLst>
              <a:ext uri="{FF2B5EF4-FFF2-40B4-BE49-F238E27FC236}">
                <a16:creationId xmlns:a16="http://schemas.microsoft.com/office/drawing/2014/main" id="{8A7D2855-E962-7A93-CA2E-BEDD9A1DD491}"/>
              </a:ext>
            </a:extLst>
          </p:cNvPr>
          <p:cNvSpPr>
            <a:spLocks noGrp="1"/>
          </p:cNvSpPr>
          <p:nvPr>
            <p:ph type="sldNum" sz="quarter" idx="12"/>
          </p:nvPr>
        </p:nvSpPr>
        <p:spPr/>
        <p:txBody>
          <a:bodyPr/>
          <a:lstStyle/>
          <a:p>
            <a:fld id="{25BA54BD-C84D-46CE-8B72-31BFB26ABA43}" type="slidenum">
              <a:rPr lang="en-IN" smtClean="0"/>
              <a:t>21</a:t>
            </a:fld>
            <a:endParaRPr lang="en-IN" dirty="0"/>
          </a:p>
        </p:txBody>
      </p:sp>
    </p:spTree>
    <p:extLst>
      <p:ext uri="{BB962C8B-B14F-4D97-AF65-F5344CB8AC3E}">
        <p14:creationId xmlns:p14="http://schemas.microsoft.com/office/powerpoint/2010/main" val="9781173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Maximum Transfer Unit</a:t>
            </a:r>
          </a:p>
        </p:txBody>
      </p:sp>
      <p:sp>
        <p:nvSpPr>
          <p:cNvPr id="14" name="Content Placeholder 13"/>
          <p:cNvSpPr>
            <a:spLocks noGrp="1"/>
          </p:cNvSpPr>
          <p:nvPr>
            <p:ph idx="1"/>
          </p:nvPr>
        </p:nvSpPr>
        <p:spPr/>
        <p:txBody>
          <a:bodyPr>
            <a:normAutofit/>
          </a:bodyPr>
          <a:lstStyle/>
          <a:p>
            <a:r>
              <a:rPr lang="en-IN" dirty="0"/>
              <a:t>However, for other physical networks, we must divide the datagram to make it possible for it to pass through these networks. This is called fragmentation.</a:t>
            </a:r>
          </a:p>
          <a:p>
            <a:r>
              <a:rPr lang="en-IN" dirty="0"/>
              <a:t>When a datagram is fragmented, each fragment has its own header with most of the fields repeated, but some have been changed.</a:t>
            </a:r>
          </a:p>
          <a:p>
            <a:r>
              <a:rPr lang="en-IN" dirty="0"/>
              <a:t>A fragmented datagram may itself be fragmented if it encounters a network with an even smaller MTU.</a:t>
            </a:r>
          </a:p>
          <a:p>
            <a:r>
              <a:rPr lang="en-IN" dirty="0"/>
              <a:t>In other words, a datagram may be fragmented several times before it reaches the final destination.</a:t>
            </a:r>
          </a:p>
        </p:txBody>
      </p:sp>
      <p:sp>
        <p:nvSpPr>
          <p:cNvPr id="2" name="Footer Placeholder 1">
            <a:extLst>
              <a:ext uri="{FF2B5EF4-FFF2-40B4-BE49-F238E27FC236}">
                <a16:creationId xmlns:a16="http://schemas.microsoft.com/office/drawing/2014/main" id="{DCE1A704-E8D7-DFF2-9247-9190C05A0E6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09A93DB5-1B50-7AF9-01A0-4D838C799173}"/>
              </a:ext>
            </a:extLst>
          </p:cNvPr>
          <p:cNvSpPr>
            <a:spLocks noGrp="1"/>
          </p:cNvSpPr>
          <p:nvPr>
            <p:ph type="sldNum" sz="quarter" idx="12"/>
          </p:nvPr>
        </p:nvSpPr>
        <p:spPr/>
        <p:txBody>
          <a:bodyPr/>
          <a:lstStyle/>
          <a:p>
            <a:fld id="{25BA54BD-C84D-46CE-8B72-31BFB26ABA43}" type="slidenum">
              <a:rPr lang="en-IN" smtClean="0"/>
              <a:t>22</a:t>
            </a:fld>
            <a:endParaRPr lang="en-IN" dirty="0"/>
          </a:p>
        </p:txBody>
      </p:sp>
    </p:spTree>
    <p:extLst>
      <p:ext uri="{BB962C8B-B14F-4D97-AF65-F5344CB8AC3E}">
        <p14:creationId xmlns:p14="http://schemas.microsoft.com/office/powerpoint/2010/main" val="12425169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Maximum Transfer Unit</a:t>
            </a:r>
          </a:p>
        </p:txBody>
      </p:sp>
      <p:sp>
        <p:nvSpPr>
          <p:cNvPr id="14" name="Content Placeholder 13"/>
          <p:cNvSpPr>
            <a:spLocks noGrp="1"/>
          </p:cNvSpPr>
          <p:nvPr>
            <p:ph idx="1"/>
          </p:nvPr>
        </p:nvSpPr>
        <p:spPr/>
        <p:txBody>
          <a:bodyPr>
            <a:normAutofit/>
          </a:bodyPr>
          <a:lstStyle/>
          <a:p>
            <a:r>
              <a:rPr lang="en-IN" dirty="0"/>
              <a:t>datagram can be fragmented by the source host or any router in the path. The reassembly of the datagram, however, is done only by the destination host, because each fragment becomes an independent datagram.</a:t>
            </a:r>
          </a:p>
          <a:p>
            <a:r>
              <a:rPr lang="en-IN" dirty="0"/>
              <a:t>Whereas the fragmented datagram can travel through different routes, and we can never control or guarantee which route a fragmented datagram may take, all of the fragments belonging to the same datagram should finally arrive at the destination host.</a:t>
            </a:r>
          </a:p>
          <a:p>
            <a:r>
              <a:rPr lang="en-IN" dirty="0"/>
              <a:t>So it is logical to do the reassembly at the final destination.</a:t>
            </a:r>
          </a:p>
        </p:txBody>
      </p:sp>
      <p:sp>
        <p:nvSpPr>
          <p:cNvPr id="2" name="Footer Placeholder 1">
            <a:extLst>
              <a:ext uri="{FF2B5EF4-FFF2-40B4-BE49-F238E27FC236}">
                <a16:creationId xmlns:a16="http://schemas.microsoft.com/office/drawing/2014/main" id="{9C8B3D91-034E-A87B-6E67-51BD939E5F59}"/>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C8316E8F-0149-DF5C-A204-3D18082F79F5}"/>
              </a:ext>
            </a:extLst>
          </p:cNvPr>
          <p:cNvSpPr>
            <a:spLocks noGrp="1"/>
          </p:cNvSpPr>
          <p:nvPr>
            <p:ph type="sldNum" sz="quarter" idx="12"/>
          </p:nvPr>
        </p:nvSpPr>
        <p:spPr/>
        <p:txBody>
          <a:bodyPr/>
          <a:lstStyle/>
          <a:p>
            <a:fld id="{25BA54BD-C84D-46CE-8B72-31BFB26ABA43}" type="slidenum">
              <a:rPr lang="en-IN" smtClean="0"/>
              <a:t>23</a:t>
            </a:fld>
            <a:endParaRPr lang="en-IN" dirty="0"/>
          </a:p>
        </p:txBody>
      </p:sp>
    </p:spTree>
    <p:extLst>
      <p:ext uri="{BB962C8B-B14F-4D97-AF65-F5344CB8AC3E}">
        <p14:creationId xmlns:p14="http://schemas.microsoft.com/office/powerpoint/2010/main" val="42388701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Maximum Transfer Unit</a:t>
            </a:r>
          </a:p>
        </p:txBody>
      </p:sp>
      <p:sp>
        <p:nvSpPr>
          <p:cNvPr id="14" name="Content Placeholder 13"/>
          <p:cNvSpPr>
            <a:spLocks noGrp="1"/>
          </p:cNvSpPr>
          <p:nvPr>
            <p:ph idx="1"/>
          </p:nvPr>
        </p:nvSpPr>
        <p:spPr/>
        <p:txBody>
          <a:bodyPr>
            <a:normAutofit/>
          </a:bodyPr>
          <a:lstStyle/>
          <a:p>
            <a:r>
              <a:rPr lang="en-IN" dirty="0"/>
              <a:t>An even stronger objection for reassembling packets during the transmission is the loss of efficiency it incurs.</a:t>
            </a:r>
          </a:p>
          <a:p>
            <a:r>
              <a:rPr lang="en-IN" dirty="0"/>
              <a:t>When we talk about fragmentation, we mean that the payload of the IP datagram is fragmented.</a:t>
            </a:r>
          </a:p>
          <a:p>
            <a:r>
              <a:rPr lang="en-IN" dirty="0"/>
              <a:t>However, most parts of the header, with the exception of some options, must be copied by all fragments.</a:t>
            </a:r>
          </a:p>
          <a:p>
            <a:r>
              <a:rPr lang="en-IN" dirty="0"/>
              <a:t>The host or router that fragments a datagram must change the values of three fields: flags, fragmentation offset, and total length. The rest of the fields must be copied. Of course, the value of the checksum must be recalculated regardless of fragmentation.</a:t>
            </a:r>
          </a:p>
        </p:txBody>
      </p:sp>
      <p:sp>
        <p:nvSpPr>
          <p:cNvPr id="2" name="Footer Placeholder 1">
            <a:extLst>
              <a:ext uri="{FF2B5EF4-FFF2-40B4-BE49-F238E27FC236}">
                <a16:creationId xmlns:a16="http://schemas.microsoft.com/office/drawing/2014/main" id="{1E6F2DCB-DEDB-2D23-6C41-FD464AAAF9FA}"/>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BF022EFE-9E8F-2E20-ADCD-F4711BABE2BD}"/>
              </a:ext>
            </a:extLst>
          </p:cNvPr>
          <p:cNvSpPr>
            <a:spLocks noGrp="1"/>
          </p:cNvSpPr>
          <p:nvPr>
            <p:ph type="sldNum" sz="quarter" idx="12"/>
          </p:nvPr>
        </p:nvSpPr>
        <p:spPr/>
        <p:txBody>
          <a:bodyPr/>
          <a:lstStyle/>
          <a:p>
            <a:fld id="{25BA54BD-C84D-46CE-8B72-31BFB26ABA43}" type="slidenum">
              <a:rPr lang="en-IN" smtClean="0"/>
              <a:t>24</a:t>
            </a:fld>
            <a:endParaRPr lang="en-IN" dirty="0"/>
          </a:p>
        </p:txBody>
      </p:sp>
    </p:spTree>
    <p:extLst>
      <p:ext uri="{BB962C8B-B14F-4D97-AF65-F5344CB8AC3E}">
        <p14:creationId xmlns:p14="http://schemas.microsoft.com/office/powerpoint/2010/main" val="21015429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Fields related to fragmentation</a:t>
            </a:r>
          </a:p>
        </p:txBody>
      </p:sp>
      <p:sp>
        <p:nvSpPr>
          <p:cNvPr id="14" name="Content Placeholder 13"/>
          <p:cNvSpPr>
            <a:spLocks noGrp="1"/>
          </p:cNvSpPr>
          <p:nvPr>
            <p:ph idx="1"/>
          </p:nvPr>
        </p:nvSpPr>
        <p:spPr/>
        <p:txBody>
          <a:bodyPr>
            <a:normAutofit/>
          </a:bodyPr>
          <a:lstStyle/>
          <a:p>
            <a:r>
              <a:rPr lang="en-IN" dirty="0"/>
              <a:t>three fields in an IP datagram are related to fragmentation:</a:t>
            </a:r>
          </a:p>
          <a:p>
            <a:pPr lvl="1"/>
            <a:r>
              <a:rPr lang="en-IN" dirty="0"/>
              <a:t>identification,</a:t>
            </a:r>
          </a:p>
          <a:p>
            <a:pPr lvl="1"/>
            <a:r>
              <a:rPr lang="en-IN" dirty="0"/>
              <a:t>flags,</a:t>
            </a:r>
          </a:p>
          <a:p>
            <a:pPr lvl="1"/>
            <a:r>
              <a:rPr lang="en-IN" dirty="0"/>
              <a:t>fragmentation offset.</a:t>
            </a:r>
          </a:p>
        </p:txBody>
      </p:sp>
      <p:sp>
        <p:nvSpPr>
          <p:cNvPr id="2" name="Footer Placeholder 1">
            <a:extLst>
              <a:ext uri="{FF2B5EF4-FFF2-40B4-BE49-F238E27FC236}">
                <a16:creationId xmlns:a16="http://schemas.microsoft.com/office/drawing/2014/main" id="{9E03E018-1F3B-D00A-4BDE-31293ABAA484}"/>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9CCA3987-165A-7671-28CE-1B4107C2CD40}"/>
              </a:ext>
            </a:extLst>
          </p:cNvPr>
          <p:cNvSpPr>
            <a:spLocks noGrp="1"/>
          </p:cNvSpPr>
          <p:nvPr>
            <p:ph type="sldNum" sz="quarter" idx="12"/>
          </p:nvPr>
        </p:nvSpPr>
        <p:spPr/>
        <p:txBody>
          <a:bodyPr/>
          <a:lstStyle/>
          <a:p>
            <a:fld id="{25BA54BD-C84D-46CE-8B72-31BFB26ABA43}" type="slidenum">
              <a:rPr lang="en-IN" smtClean="0"/>
              <a:t>25</a:t>
            </a:fld>
            <a:endParaRPr lang="en-IN" dirty="0"/>
          </a:p>
        </p:txBody>
      </p:sp>
    </p:spTree>
    <p:extLst>
      <p:ext uri="{BB962C8B-B14F-4D97-AF65-F5344CB8AC3E}">
        <p14:creationId xmlns:p14="http://schemas.microsoft.com/office/powerpoint/2010/main" val="19312657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Fields related to fragmentation</a:t>
            </a:r>
          </a:p>
        </p:txBody>
      </p:sp>
      <p:pic>
        <p:nvPicPr>
          <p:cNvPr id="3" name="Content Placeholder 2">
            <a:extLst>
              <a:ext uri="{FF2B5EF4-FFF2-40B4-BE49-F238E27FC236}">
                <a16:creationId xmlns:a16="http://schemas.microsoft.com/office/drawing/2014/main" id="{4048CE82-29C6-36D2-28DA-864857B5C038}"/>
              </a:ext>
            </a:extLst>
          </p:cNvPr>
          <p:cNvPicPr>
            <a:picLocks noGrp="1" noChangeAspect="1"/>
          </p:cNvPicPr>
          <p:nvPr>
            <p:ph idx="1"/>
          </p:nvPr>
        </p:nvPicPr>
        <p:blipFill rotWithShape="1">
          <a:blip r:embed="rId2"/>
          <a:srcRect l="38346" t="43855" r="16830" b="32224"/>
          <a:stretch/>
        </p:blipFill>
        <p:spPr>
          <a:xfrm>
            <a:off x="1141716" y="2636912"/>
            <a:ext cx="9905391" cy="2808312"/>
          </a:xfrm>
        </p:spPr>
      </p:pic>
      <p:sp>
        <p:nvSpPr>
          <p:cNvPr id="4" name="Footer Placeholder 3">
            <a:extLst>
              <a:ext uri="{FF2B5EF4-FFF2-40B4-BE49-F238E27FC236}">
                <a16:creationId xmlns:a16="http://schemas.microsoft.com/office/drawing/2014/main" id="{02AAB4DE-F8E3-E0D1-E13F-F72E815B9A7A}"/>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952315E6-CC61-7D07-BD02-C2EFFC152976}"/>
              </a:ext>
            </a:extLst>
          </p:cNvPr>
          <p:cNvSpPr>
            <a:spLocks noGrp="1"/>
          </p:cNvSpPr>
          <p:nvPr>
            <p:ph type="sldNum" sz="quarter" idx="12"/>
          </p:nvPr>
        </p:nvSpPr>
        <p:spPr/>
        <p:txBody>
          <a:bodyPr/>
          <a:lstStyle/>
          <a:p>
            <a:fld id="{25BA54BD-C84D-46CE-8B72-31BFB26ABA43}" type="slidenum">
              <a:rPr lang="en-IN" smtClean="0"/>
              <a:t>26</a:t>
            </a:fld>
            <a:endParaRPr lang="en-IN" dirty="0"/>
          </a:p>
        </p:txBody>
      </p:sp>
    </p:spTree>
    <p:extLst>
      <p:ext uri="{BB962C8B-B14F-4D97-AF65-F5344CB8AC3E}">
        <p14:creationId xmlns:p14="http://schemas.microsoft.com/office/powerpoint/2010/main" val="32109783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Fields related to fragmentation</a:t>
            </a:r>
          </a:p>
        </p:txBody>
      </p:sp>
      <p:pic>
        <p:nvPicPr>
          <p:cNvPr id="6" name="Picture 5">
            <a:extLst>
              <a:ext uri="{FF2B5EF4-FFF2-40B4-BE49-F238E27FC236}">
                <a16:creationId xmlns:a16="http://schemas.microsoft.com/office/drawing/2014/main" id="{1FFC9E11-86DC-3DC7-9B84-83D4C521EB3B}"/>
              </a:ext>
            </a:extLst>
          </p:cNvPr>
          <p:cNvPicPr>
            <a:picLocks noChangeAspect="1"/>
          </p:cNvPicPr>
          <p:nvPr/>
        </p:nvPicPr>
        <p:blipFill rotWithShape="1">
          <a:blip r:embed="rId2"/>
          <a:srcRect l="34049" t="21087" r="17508" b="1287"/>
          <a:stretch/>
        </p:blipFill>
        <p:spPr>
          <a:xfrm>
            <a:off x="3574132" y="1772816"/>
            <a:ext cx="5409518" cy="4605064"/>
          </a:xfrm>
          <a:prstGeom prst="rect">
            <a:avLst/>
          </a:prstGeom>
        </p:spPr>
      </p:pic>
      <p:sp>
        <p:nvSpPr>
          <p:cNvPr id="7" name="Footer Placeholder 6">
            <a:extLst>
              <a:ext uri="{FF2B5EF4-FFF2-40B4-BE49-F238E27FC236}">
                <a16:creationId xmlns:a16="http://schemas.microsoft.com/office/drawing/2014/main" id="{2D47F127-7861-0870-0EA9-1FC07B9D30B9}"/>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8" name="Slide Number Placeholder 7">
            <a:extLst>
              <a:ext uri="{FF2B5EF4-FFF2-40B4-BE49-F238E27FC236}">
                <a16:creationId xmlns:a16="http://schemas.microsoft.com/office/drawing/2014/main" id="{6DE6538A-B73E-3375-FEA2-1778258C19EC}"/>
              </a:ext>
            </a:extLst>
          </p:cNvPr>
          <p:cNvSpPr>
            <a:spLocks noGrp="1"/>
          </p:cNvSpPr>
          <p:nvPr>
            <p:ph type="sldNum" sz="quarter" idx="12"/>
          </p:nvPr>
        </p:nvSpPr>
        <p:spPr/>
        <p:txBody>
          <a:bodyPr/>
          <a:lstStyle/>
          <a:p>
            <a:fld id="{25BA54BD-C84D-46CE-8B72-31BFB26ABA43}" type="slidenum">
              <a:rPr lang="en-IN" smtClean="0"/>
              <a:t>27</a:t>
            </a:fld>
            <a:endParaRPr lang="en-IN" dirty="0"/>
          </a:p>
        </p:txBody>
      </p:sp>
    </p:spTree>
    <p:extLst>
      <p:ext uri="{BB962C8B-B14F-4D97-AF65-F5344CB8AC3E}">
        <p14:creationId xmlns:p14="http://schemas.microsoft.com/office/powerpoint/2010/main" val="3941590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Example</a:t>
            </a:r>
          </a:p>
        </p:txBody>
      </p:sp>
      <p:sp>
        <p:nvSpPr>
          <p:cNvPr id="14" name="Content Placeholder 13"/>
          <p:cNvSpPr>
            <a:spLocks noGrp="1"/>
          </p:cNvSpPr>
          <p:nvPr>
            <p:ph idx="1"/>
          </p:nvPr>
        </p:nvSpPr>
        <p:spPr/>
        <p:txBody>
          <a:bodyPr>
            <a:normAutofit/>
          </a:bodyPr>
          <a:lstStyle/>
          <a:p>
            <a:r>
              <a:rPr lang="en-IN" sz="3600" dirty="0">
                <a:solidFill>
                  <a:srgbClr val="FFFF00"/>
                </a:solidFill>
              </a:rPr>
              <a:t>A packet has arrived with an M bit value of 0(zero). Is this the first fragment, the last fragment, or a middle fragment? Do we know if the packet was fragmented?</a:t>
            </a:r>
          </a:p>
        </p:txBody>
      </p:sp>
      <p:sp>
        <p:nvSpPr>
          <p:cNvPr id="2" name="Footer Placeholder 1">
            <a:extLst>
              <a:ext uri="{FF2B5EF4-FFF2-40B4-BE49-F238E27FC236}">
                <a16:creationId xmlns:a16="http://schemas.microsoft.com/office/drawing/2014/main" id="{60BFB097-E2B3-20A3-992B-F6AF271AA393}"/>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A93961C9-7C61-D246-6AE2-9A138CC3DB13}"/>
              </a:ext>
            </a:extLst>
          </p:cNvPr>
          <p:cNvSpPr>
            <a:spLocks noGrp="1"/>
          </p:cNvSpPr>
          <p:nvPr>
            <p:ph type="sldNum" sz="quarter" idx="12"/>
          </p:nvPr>
        </p:nvSpPr>
        <p:spPr/>
        <p:txBody>
          <a:bodyPr/>
          <a:lstStyle/>
          <a:p>
            <a:fld id="{25BA54BD-C84D-46CE-8B72-31BFB26ABA43}" type="slidenum">
              <a:rPr lang="en-IN" smtClean="0"/>
              <a:t>28</a:t>
            </a:fld>
            <a:endParaRPr lang="en-IN" dirty="0"/>
          </a:p>
        </p:txBody>
      </p:sp>
    </p:spTree>
    <p:extLst>
      <p:ext uri="{BB962C8B-B14F-4D97-AF65-F5344CB8AC3E}">
        <p14:creationId xmlns:p14="http://schemas.microsoft.com/office/powerpoint/2010/main" val="4142574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Example</a:t>
            </a:r>
          </a:p>
        </p:txBody>
      </p:sp>
      <p:sp>
        <p:nvSpPr>
          <p:cNvPr id="14" name="Content Placeholder 13"/>
          <p:cNvSpPr>
            <a:spLocks noGrp="1"/>
          </p:cNvSpPr>
          <p:nvPr>
            <p:ph idx="1"/>
          </p:nvPr>
        </p:nvSpPr>
        <p:spPr/>
        <p:txBody>
          <a:bodyPr>
            <a:normAutofit/>
          </a:bodyPr>
          <a:lstStyle/>
          <a:p>
            <a:r>
              <a:rPr lang="en-IN" sz="3600" dirty="0">
                <a:solidFill>
                  <a:srgbClr val="FFFF00"/>
                </a:solidFill>
              </a:rPr>
              <a:t>A packet has arrived with an M bit value of 1. Is this the first fragment, the last fragment, or a middle fragment? Do we know if the packet was fragmented?</a:t>
            </a:r>
          </a:p>
        </p:txBody>
      </p:sp>
      <p:sp>
        <p:nvSpPr>
          <p:cNvPr id="2" name="Footer Placeholder 1">
            <a:extLst>
              <a:ext uri="{FF2B5EF4-FFF2-40B4-BE49-F238E27FC236}">
                <a16:creationId xmlns:a16="http://schemas.microsoft.com/office/drawing/2014/main" id="{C2FF2640-4711-BC8B-CE59-862B25BE185C}"/>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D5BC36F6-6664-A71D-04D7-9E5ED419617C}"/>
              </a:ext>
            </a:extLst>
          </p:cNvPr>
          <p:cNvSpPr>
            <a:spLocks noGrp="1"/>
          </p:cNvSpPr>
          <p:nvPr>
            <p:ph type="sldNum" sz="quarter" idx="12"/>
          </p:nvPr>
        </p:nvSpPr>
        <p:spPr/>
        <p:txBody>
          <a:bodyPr/>
          <a:lstStyle/>
          <a:p>
            <a:fld id="{25BA54BD-C84D-46CE-8B72-31BFB26ABA43}" type="slidenum">
              <a:rPr lang="en-IN" smtClean="0"/>
              <a:t>29</a:t>
            </a:fld>
            <a:endParaRPr lang="en-IN" dirty="0"/>
          </a:p>
        </p:txBody>
      </p:sp>
    </p:spTree>
    <p:extLst>
      <p:ext uri="{BB962C8B-B14F-4D97-AF65-F5344CB8AC3E}">
        <p14:creationId xmlns:p14="http://schemas.microsoft.com/office/powerpoint/2010/main" val="10535160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Example</a:t>
            </a:r>
          </a:p>
        </p:txBody>
      </p:sp>
      <p:sp>
        <p:nvSpPr>
          <p:cNvPr id="14" name="Content Placeholder 13"/>
          <p:cNvSpPr>
            <a:spLocks noGrp="1"/>
          </p:cNvSpPr>
          <p:nvPr>
            <p:ph idx="1"/>
          </p:nvPr>
        </p:nvSpPr>
        <p:spPr/>
        <p:txBody>
          <a:bodyPr>
            <a:normAutofit/>
          </a:bodyPr>
          <a:lstStyle/>
          <a:p>
            <a:r>
              <a:rPr lang="en-IN" sz="3600" dirty="0">
                <a:solidFill>
                  <a:srgbClr val="FFFF00"/>
                </a:solidFill>
              </a:rPr>
              <a:t>A packet has arrived with an M bit value of 1 and a fragmentation offset value of 0. Is this the first fragment, the last fragment, or a middle fragment?</a:t>
            </a:r>
          </a:p>
        </p:txBody>
      </p:sp>
      <p:sp>
        <p:nvSpPr>
          <p:cNvPr id="2" name="Footer Placeholder 1">
            <a:extLst>
              <a:ext uri="{FF2B5EF4-FFF2-40B4-BE49-F238E27FC236}">
                <a16:creationId xmlns:a16="http://schemas.microsoft.com/office/drawing/2014/main" id="{A4144E44-8B6E-8B8E-38CD-4B3FD3B6DE1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6A80C023-CFD4-0CD3-287B-830B4B0B15AE}"/>
              </a:ext>
            </a:extLst>
          </p:cNvPr>
          <p:cNvSpPr>
            <a:spLocks noGrp="1"/>
          </p:cNvSpPr>
          <p:nvPr>
            <p:ph type="sldNum" sz="quarter" idx="12"/>
          </p:nvPr>
        </p:nvSpPr>
        <p:spPr/>
        <p:txBody>
          <a:bodyPr/>
          <a:lstStyle/>
          <a:p>
            <a:fld id="{25BA54BD-C84D-46CE-8B72-31BFB26ABA43}" type="slidenum">
              <a:rPr lang="en-IN" smtClean="0"/>
              <a:t>30</a:t>
            </a:fld>
            <a:endParaRPr lang="en-IN" dirty="0"/>
          </a:p>
        </p:txBody>
      </p:sp>
    </p:spTree>
    <p:extLst>
      <p:ext uri="{BB962C8B-B14F-4D97-AF65-F5344CB8AC3E}">
        <p14:creationId xmlns:p14="http://schemas.microsoft.com/office/powerpoint/2010/main" val="15664432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Example</a:t>
            </a:r>
          </a:p>
        </p:txBody>
      </p:sp>
      <p:sp>
        <p:nvSpPr>
          <p:cNvPr id="14" name="Content Placeholder 13"/>
          <p:cNvSpPr>
            <a:spLocks noGrp="1"/>
          </p:cNvSpPr>
          <p:nvPr>
            <p:ph idx="1"/>
          </p:nvPr>
        </p:nvSpPr>
        <p:spPr/>
        <p:txBody>
          <a:bodyPr>
            <a:normAutofit/>
          </a:bodyPr>
          <a:lstStyle/>
          <a:p>
            <a:r>
              <a:rPr lang="en-IN" sz="3600" dirty="0">
                <a:solidFill>
                  <a:srgbClr val="FFFF00"/>
                </a:solidFill>
              </a:rPr>
              <a:t>A packet has arrived in which the offset value is 100. What is the number of the first byte? Do we know the number of the last byte?</a:t>
            </a:r>
          </a:p>
        </p:txBody>
      </p:sp>
      <p:sp>
        <p:nvSpPr>
          <p:cNvPr id="2" name="Footer Placeholder 1">
            <a:extLst>
              <a:ext uri="{FF2B5EF4-FFF2-40B4-BE49-F238E27FC236}">
                <a16:creationId xmlns:a16="http://schemas.microsoft.com/office/drawing/2014/main" id="{DA53C04E-C0B2-1B57-DD5F-2BE60B740C46}"/>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6F167340-1223-2295-BA16-A80600FA9771}"/>
              </a:ext>
            </a:extLst>
          </p:cNvPr>
          <p:cNvSpPr>
            <a:spLocks noGrp="1"/>
          </p:cNvSpPr>
          <p:nvPr>
            <p:ph type="sldNum" sz="quarter" idx="12"/>
          </p:nvPr>
        </p:nvSpPr>
        <p:spPr/>
        <p:txBody>
          <a:bodyPr/>
          <a:lstStyle/>
          <a:p>
            <a:fld id="{25BA54BD-C84D-46CE-8B72-31BFB26ABA43}" type="slidenum">
              <a:rPr lang="en-IN" smtClean="0"/>
              <a:t>31</a:t>
            </a:fld>
            <a:endParaRPr lang="en-IN" dirty="0"/>
          </a:p>
        </p:txBody>
      </p:sp>
    </p:spTree>
    <p:extLst>
      <p:ext uri="{BB962C8B-B14F-4D97-AF65-F5344CB8AC3E}">
        <p14:creationId xmlns:p14="http://schemas.microsoft.com/office/powerpoint/2010/main" val="16321886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Example</a:t>
            </a:r>
          </a:p>
        </p:txBody>
      </p:sp>
      <p:sp>
        <p:nvSpPr>
          <p:cNvPr id="14" name="Content Placeholder 13"/>
          <p:cNvSpPr>
            <a:spLocks noGrp="1"/>
          </p:cNvSpPr>
          <p:nvPr>
            <p:ph idx="1"/>
          </p:nvPr>
        </p:nvSpPr>
        <p:spPr/>
        <p:txBody>
          <a:bodyPr>
            <a:normAutofit/>
          </a:bodyPr>
          <a:lstStyle/>
          <a:p>
            <a:r>
              <a:rPr lang="en-IN" sz="3600" dirty="0">
                <a:solidFill>
                  <a:srgbClr val="FFFF00"/>
                </a:solidFill>
              </a:rPr>
              <a:t>A packet has arrived in which the offset value is 100, the value of HLEN is 5, and the value of the total length field is 100. What are the numbers of the first byte and the last byte?</a:t>
            </a:r>
          </a:p>
        </p:txBody>
      </p:sp>
      <p:sp>
        <p:nvSpPr>
          <p:cNvPr id="2" name="Footer Placeholder 1">
            <a:extLst>
              <a:ext uri="{FF2B5EF4-FFF2-40B4-BE49-F238E27FC236}">
                <a16:creationId xmlns:a16="http://schemas.microsoft.com/office/drawing/2014/main" id="{9B8BA1C3-CE26-7A85-89D9-44725F4FF088}"/>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CEA464B6-0357-D07B-1E72-CCF7169BA5E7}"/>
              </a:ext>
            </a:extLst>
          </p:cNvPr>
          <p:cNvSpPr>
            <a:spLocks noGrp="1"/>
          </p:cNvSpPr>
          <p:nvPr>
            <p:ph type="sldNum" sz="quarter" idx="12"/>
          </p:nvPr>
        </p:nvSpPr>
        <p:spPr/>
        <p:txBody>
          <a:bodyPr/>
          <a:lstStyle/>
          <a:p>
            <a:fld id="{25BA54BD-C84D-46CE-8B72-31BFB26ABA43}" type="slidenum">
              <a:rPr lang="en-IN" smtClean="0"/>
              <a:t>32</a:t>
            </a:fld>
            <a:endParaRPr lang="en-IN" dirty="0"/>
          </a:p>
        </p:txBody>
      </p:sp>
    </p:spTree>
    <p:extLst>
      <p:ext uri="{BB962C8B-B14F-4D97-AF65-F5344CB8AC3E}">
        <p14:creationId xmlns:p14="http://schemas.microsoft.com/office/powerpoint/2010/main" val="14443932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Options</a:t>
            </a:r>
          </a:p>
        </p:txBody>
      </p:sp>
      <p:sp>
        <p:nvSpPr>
          <p:cNvPr id="14" name="Content Placeholder 13"/>
          <p:cNvSpPr>
            <a:spLocks noGrp="1"/>
          </p:cNvSpPr>
          <p:nvPr>
            <p:ph idx="1"/>
          </p:nvPr>
        </p:nvSpPr>
        <p:spPr/>
        <p:txBody>
          <a:bodyPr>
            <a:normAutofit fontScale="92500" lnSpcReduction="10000"/>
          </a:bodyPr>
          <a:lstStyle/>
          <a:p>
            <a:r>
              <a:rPr lang="en-IN" dirty="0"/>
              <a:t>The header of the IPv4 datagram is made of two parts: a fixed part and a variable part.</a:t>
            </a:r>
          </a:p>
          <a:p>
            <a:r>
              <a:rPr lang="en-IN" dirty="0"/>
              <a:t>The fixed part is 20 bytes long and was discussed in the previous section.</a:t>
            </a:r>
          </a:p>
          <a:p>
            <a:r>
              <a:rPr lang="en-IN" dirty="0"/>
              <a:t>The variable part comprises the options that can be a maximum of 40 bytes (in multiples of 4-bytes) to preserve the boundary of the header.</a:t>
            </a:r>
          </a:p>
          <a:p>
            <a:r>
              <a:rPr lang="en-IN" dirty="0"/>
              <a:t>Options, as the name implies, are not required for a datagram. They can be used for network testing and debugging. Although options are not a required part of the IPv4 header, option processing is required of the IPv4 software. This means that all implementations must be able to handle options if they are present in the header.</a:t>
            </a:r>
          </a:p>
          <a:p>
            <a:r>
              <a:rPr lang="en-IN" dirty="0"/>
              <a:t>Options are divided into two broad categories: single-byte options and multiple-byte options.</a:t>
            </a:r>
          </a:p>
        </p:txBody>
      </p:sp>
      <p:sp>
        <p:nvSpPr>
          <p:cNvPr id="2" name="Footer Placeholder 1">
            <a:extLst>
              <a:ext uri="{FF2B5EF4-FFF2-40B4-BE49-F238E27FC236}">
                <a16:creationId xmlns:a16="http://schemas.microsoft.com/office/drawing/2014/main" id="{242A6E43-EA48-661C-FE5E-5AC25D11D5E9}"/>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70593DBF-503C-29BF-F508-4562165272BE}"/>
              </a:ext>
            </a:extLst>
          </p:cNvPr>
          <p:cNvSpPr>
            <a:spLocks noGrp="1"/>
          </p:cNvSpPr>
          <p:nvPr>
            <p:ph type="sldNum" sz="quarter" idx="12"/>
          </p:nvPr>
        </p:nvSpPr>
        <p:spPr/>
        <p:txBody>
          <a:bodyPr/>
          <a:lstStyle/>
          <a:p>
            <a:fld id="{25BA54BD-C84D-46CE-8B72-31BFB26ABA43}" type="slidenum">
              <a:rPr lang="en-IN" smtClean="0"/>
              <a:t>33</a:t>
            </a:fld>
            <a:endParaRPr lang="en-IN" dirty="0"/>
          </a:p>
        </p:txBody>
      </p:sp>
    </p:spTree>
    <p:extLst>
      <p:ext uri="{BB962C8B-B14F-4D97-AF65-F5344CB8AC3E}">
        <p14:creationId xmlns:p14="http://schemas.microsoft.com/office/powerpoint/2010/main" val="20371219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Options</a:t>
            </a:r>
          </a:p>
        </p:txBody>
      </p:sp>
      <p:pic>
        <p:nvPicPr>
          <p:cNvPr id="3" name="Content Placeholder 2">
            <a:extLst>
              <a:ext uri="{FF2B5EF4-FFF2-40B4-BE49-F238E27FC236}">
                <a16:creationId xmlns:a16="http://schemas.microsoft.com/office/drawing/2014/main" id="{9A32B173-F0FA-EF31-194D-BBA4220C1E0D}"/>
              </a:ext>
            </a:extLst>
          </p:cNvPr>
          <p:cNvPicPr>
            <a:picLocks noGrp="1" noChangeAspect="1"/>
          </p:cNvPicPr>
          <p:nvPr>
            <p:ph idx="1"/>
          </p:nvPr>
        </p:nvPicPr>
        <p:blipFill rotWithShape="1">
          <a:blip r:embed="rId2"/>
          <a:srcRect l="34760" t="30652" r="24002" b="25473"/>
          <a:stretch/>
        </p:blipFill>
        <p:spPr>
          <a:xfrm>
            <a:off x="2710036" y="1988840"/>
            <a:ext cx="7619175" cy="4306490"/>
          </a:xfrm>
        </p:spPr>
      </p:pic>
      <p:sp>
        <p:nvSpPr>
          <p:cNvPr id="4" name="Footer Placeholder 3">
            <a:extLst>
              <a:ext uri="{FF2B5EF4-FFF2-40B4-BE49-F238E27FC236}">
                <a16:creationId xmlns:a16="http://schemas.microsoft.com/office/drawing/2014/main" id="{F849D2DE-1A07-B8A2-66D6-4E20689F1A37}"/>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0C7DB159-1302-667B-5EB3-1DD9E6F4F536}"/>
              </a:ext>
            </a:extLst>
          </p:cNvPr>
          <p:cNvSpPr>
            <a:spLocks noGrp="1"/>
          </p:cNvSpPr>
          <p:nvPr>
            <p:ph type="sldNum" sz="quarter" idx="12"/>
          </p:nvPr>
        </p:nvSpPr>
        <p:spPr/>
        <p:txBody>
          <a:bodyPr/>
          <a:lstStyle/>
          <a:p>
            <a:fld id="{25BA54BD-C84D-46CE-8B72-31BFB26ABA43}" type="slidenum">
              <a:rPr lang="en-IN" smtClean="0"/>
              <a:t>34</a:t>
            </a:fld>
            <a:endParaRPr lang="en-IN" dirty="0"/>
          </a:p>
        </p:txBody>
      </p:sp>
    </p:spTree>
    <p:extLst>
      <p:ext uri="{BB962C8B-B14F-4D97-AF65-F5344CB8AC3E}">
        <p14:creationId xmlns:p14="http://schemas.microsoft.com/office/powerpoint/2010/main" val="35081975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Security of IPv4 Datagram</a:t>
            </a:r>
          </a:p>
        </p:txBody>
      </p:sp>
      <p:sp>
        <p:nvSpPr>
          <p:cNvPr id="14" name="Content Placeholder 13"/>
          <p:cNvSpPr>
            <a:spLocks noGrp="1"/>
          </p:cNvSpPr>
          <p:nvPr>
            <p:ph idx="1"/>
          </p:nvPr>
        </p:nvSpPr>
        <p:spPr/>
        <p:txBody>
          <a:bodyPr>
            <a:normAutofit fontScale="92500" lnSpcReduction="10000"/>
          </a:bodyPr>
          <a:lstStyle/>
          <a:p>
            <a:r>
              <a:rPr lang="en-IN" dirty="0"/>
              <a:t>The IPv4 protocol, as well as the whole Internet, was started when the Internet users trusted each other. No security was provided for the IPv4 protocol.</a:t>
            </a:r>
          </a:p>
          <a:p>
            <a:r>
              <a:rPr lang="en-IN" dirty="0"/>
              <a:t>Today, however, the situation is different; the Internet is not secure anymore.</a:t>
            </a:r>
          </a:p>
          <a:p>
            <a:r>
              <a:rPr lang="en-IN" dirty="0"/>
              <a:t>There are three security issues that are particularly applicable to the IP protocol:</a:t>
            </a:r>
          </a:p>
          <a:p>
            <a:pPr lvl="1"/>
            <a:r>
              <a:rPr lang="en-IN" dirty="0"/>
              <a:t>packet sniffing,</a:t>
            </a:r>
          </a:p>
          <a:p>
            <a:pPr lvl="1"/>
            <a:r>
              <a:rPr lang="en-IN" dirty="0"/>
              <a:t>packet modification,</a:t>
            </a:r>
          </a:p>
          <a:p>
            <a:pPr lvl="1"/>
            <a:r>
              <a:rPr lang="en-IN" dirty="0"/>
              <a:t>IP spoofing.</a:t>
            </a:r>
          </a:p>
          <a:p>
            <a:r>
              <a:rPr lang="en-IN" dirty="0"/>
              <a:t>The IP packets today can be protected from the previously mentioned attacks using a protocol called </a:t>
            </a:r>
            <a:r>
              <a:rPr lang="en-IN" dirty="0" err="1"/>
              <a:t>IPSec</a:t>
            </a:r>
            <a:r>
              <a:rPr lang="en-IN" dirty="0"/>
              <a:t> (IP Security).</a:t>
            </a:r>
          </a:p>
        </p:txBody>
      </p:sp>
      <p:sp>
        <p:nvSpPr>
          <p:cNvPr id="2" name="Footer Placeholder 1">
            <a:extLst>
              <a:ext uri="{FF2B5EF4-FFF2-40B4-BE49-F238E27FC236}">
                <a16:creationId xmlns:a16="http://schemas.microsoft.com/office/drawing/2014/main" id="{F0B9339E-B26A-212E-13DC-1E29E3BE376A}"/>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CE8B8537-9F80-4B57-BBF4-73D60E0FE66E}"/>
              </a:ext>
            </a:extLst>
          </p:cNvPr>
          <p:cNvSpPr>
            <a:spLocks noGrp="1"/>
          </p:cNvSpPr>
          <p:nvPr>
            <p:ph type="sldNum" sz="quarter" idx="12"/>
          </p:nvPr>
        </p:nvSpPr>
        <p:spPr/>
        <p:txBody>
          <a:bodyPr/>
          <a:lstStyle/>
          <a:p>
            <a:fld id="{25BA54BD-C84D-46CE-8B72-31BFB26ABA43}" type="slidenum">
              <a:rPr lang="en-IN" smtClean="0"/>
              <a:t>35</a:t>
            </a:fld>
            <a:endParaRPr lang="en-IN" dirty="0"/>
          </a:p>
        </p:txBody>
      </p:sp>
    </p:spTree>
    <p:extLst>
      <p:ext uri="{BB962C8B-B14F-4D97-AF65-F5344CB8AC3E}">
        <p14:creationId xmlns:p14="http://schemas.microsoft.com/office/powerpoint/2010/main" val="1405345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Questions</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3" y="1700808"/>
            <a:ext cx="9828582" cy="4548336"/>
          </a:xfrm>
        </p:spPr>
        <p:txBody>
          <a:bodyPr>
            <a:normAutofit/>
          </a:bodyPr>
          <a:lstStyle/>
          <a:p>
            <a:pPr algn="just"/>
            <a:r>
              <a:rPr lang="en-IN" dirty="0"/>
              <a:t>Explain IPv4 Datagram format</a:t>
            </a:r>
          </a:p>
          <a:p>
            <a:pPr algn="just"/>
            <a:r>
              <a:rPr lang="en-IN" dirty="0"/>
              <a:t>Explain Fragmentation with example.</a:t>
            </a:r>
          </a:p>
          <a:p>
            <a:pPr algn="just"/>
            <a:r>
              <a:rPr lang="en-IN" dirty="0"/>
              <a:t>Explain Options field of the IPv4 Datagram.</a:t>
            </a:r>
          </a:p>
          <a:p>
            <a:pPr algn="just"/>
            <a:r>
              <a:rPr lang="en-IN" dirty="0"/>
              <a:t>Write a short note on security of IPv4 Datagram</a:t>
            </a:r>
          </a:p>
          <a:p>
            <a:pPr algn="just"/>
            <a:endParaRPr lang="en-IN" dirty="0"/>
          </a:p>
          <a:p>
            <a:pPr algn="just"/>
            <a:endParaRPr lang="en-IN" dirty="0"/>
          </a:p>
          <a:p>
            <a:pPr algn="just"/>
            <a:endParaRPr lang="en-IN" dirty="0"/>
          </a:p>
        </p:txBody>
      </p:sp>
      <p:sp>
        <p:nvSpPr>
          <p:cNvPr id="4" name="Slide Number Placeholder 3">
            <a:extLst>
              <a:ext uri="{FF2B5EF4-FFF2-40B4-BE49-F238E27FC236}">
                <a16:creationId xmlns:a16="http://schemas.microsoft.com/office/drawing/2014/main" id="{7166B7F0-FAD0-1A34-FDC1-5E3F881A8218}"/>
              </a:ext>
            </a:extLst>
          </p:cNvPr>
          <p:cNvSpPr>
            <a:spLocks noGrp="1"/>
          </p:cNvSpPr>
          <p:nvPr>
            <p:ph type="sldNum" sz="quarter" idx="12"/>
          </p:nvPr>
        </p:nvSpPr>
        <p:spPr/>
        <p:txBody>
          <a:bodyPr/>
          <a:lstStyle/>
          <a:p>
            <a:fld id="{25BA54BD-C84D-46CE-8B72-31BFB26ABA43}" type="slidenum">
              <a:rPr lang="en-IN" smtClean="0"/>
              <a:t>36</a:t>
            </a:fld>
            <a:endParaRPr lang="en-IN"/>
          </a:p>
        </p:txBody>
      </p:sp>
      <p:sp>
        <p:nvSpPr>
          <p:cNvPr id="6" name="Footer Placeholder 5">
            <a:extLst>
              <a:ext uri="{FF2B5EF4-FFF2-40B4-BE49-F238E27FC236}">
                <a16:creationId xmlns:a16="http://schemas.microsoft.com/office/drawing/2014/main" id="{DD6ED850-8E54-66EB-261F-98C6024F0E14}"/>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3296368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EA67-3E49-4E7D-7A98-16AF0A7AE2D0}"/>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628D34CA-3057-3B29-235C-391804E572D6}"/>
              </a:ext>
            </a:extLst>
          </p:cNvPr>
          <p:cNvSpPr>
            <a:spLocks noGrp="1"/>
          </p:cNvSpPr>
          <p:nvPr>
            <p:ph idx="1"/>
          </p:nvPr>
        </p:nvSpPr>
        <p:spPr>
          <a:xfrm>
            <a:off x="1522414" y="1905000"/>
            <a:ext cx="9972598" cy="4267200"/>
          </a:xfrm>
        </p:spPr>
        <p:txBody>
          <a:bodyPr/>
          <a:lstStyle/>
          <a:p>
            <a:r>
              <a:rPr lang="en-IN" dirty="0"/>
              <a:t>Data Communication and Networking, Fifth Edition, BEHROUZ A. FOROUZAN</a:t>
            </a:r>
          </a:p>
          <a:p>
            <a:r>
              <a:rPr lang="en-IN" dirty="0"/>
              <a:t>Data Communication and Networking, Fourth Edition, BEHROUZAN A. FOROUZA</a:t>
            </a:r>
          </a:p>
          <a:p>
            <a:r>
              <a:rPr lang="en-IN" dirty="0"/>
              <a:t>https://www.geeksforgeeks.org/introduction-of-classful-ip-addressing/</a:t>
            </a:r>
          </a:p>
        </p:txBody>
      </p:sp>
      <p:sp>
        <p:nvSpPr>
          <p:cNvPr id="4" name="Slide Number Placeholder 3">
            <a:extLst>
              <a:ext uri="{FF2B5EF4-FFF2-40B4-BE49-F238E27FC236}">
                <a16:creationId xmlns:a16="http://schemas.microsoft.com/office/drawing/2014/main" id="{CC2B7138-204E-E4B0-95AD-9C0A1E5E2757}"/>
              </a:ext>
            </a:extLst>
          </p:cNvPr>
          <p:cNvSpPr>
            <a:spLocks noGrp="1"/>
          </p:cNvSpPr>
          <p:nvPr>
            <p:ph type="sldNum" sz="quarter" idx="12"/>
          </p:nvPr>
        </p:nvSpPr>
        <p:spPr/>
        <p:txBody>
          <a:bodyPr/>
          <a:lstStyle/>
          <a:p>
            <a:fld id="{25BA54BD-C84D-46CE-8B72-31BFB26ABA43}" type="slidenum">
              <a:rPr lang="en-IN" smtClean="0"/>
              <a:t>37</a:t>
            </a:fld>
            <a:endParaRPr lang="en-IN" dirty="0"/>
          </a:p>
        </p:txBody>
      </p:sp>
      <p:sp>
        <p:nvSpPr>
          <p:cNvPr id="5" name="Footer Placeholder 4">
            <a:extLst>
              <a:ext uri="{FF2B5EF4-FFF2-40B4-BE49-F238E27FC236}">
                <a16:creationId xmlns:a16="http://schemas.microsoft.com/office/drawing/2014/main" id="{AFA4CB0E-E2D9-6205-4A43-3F8B6BE7281F}"/>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79521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47610-DBBD-DB92-3D84-C72F837108B4}"/>
              </a:ext>
            </a:extLst>
          </p:cNvPr>
          <p:cNvSpPr/>
          <p:nvPr/>
        </p:nvSpPr>
        <p:spPr>
          <a:xfrm>
            <a:off x="3043046" y="2852936"/>
            <a:ext cx="6102732" cy="1446550"/>
          </a:xfrm>
          <a:prstGeom prst="rect">
            <a:avLst/>
          </a:prstGeom>
          <a:noFill/>
        </p:spPr>
        <p:txBody>
          <a:bodyPr wrap="square" lIns="91440" tIns="45720" rIns="91440" bIns="45720">
            <a:spAutoFit/>
          </a:bodyPr>
          <a:lstStyle/>
          <a:p>
            <a:pPr algn="ctr"/>
            <a:r>
              <a:rPr lang="en-US" sz="8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p>
        </p:txBody>
      </p:sp>
      <p:sp>
        <p:nvSpPr>
          <p:cNvPr id="3" name="Slide Number Placeholder 2">
            <a:extLst>
              <a:ext uri="{FF2B5EF4-FFF2-40B4-BE49-F238E27FC236}">
                <a16:creationId xmlns:a16="http://schemas.microsoft.com/office/drawing/2014/main" id="{F7CE38C1-8290-85FE-30CB-97B4DF97642A}"/>
              </a:ext>
            </a:extLst>
          </p:cNvPr>
          <p:cNvSpPr>
            <a:spLocks noGrp="1"/>
          </p:cNvSpPr>
          <p:nvPr>
            <p:ph type="sldNum" sz="quarter" idx="12"/>
          </p:nvPr>
        </p:nvSpPr>
        <p:spPr/>
        <p:txBody>
          <a:bodyPr/>
          <a:lstStyle/>
          <a:p>
            <a:fld id="{25BA54BD-C84D-46CE-8B72-31BFB26ABA43}" type="slidenum">
              <a:rPr lang="en-IN" smtClean="0"/>
              <a:t>38</a:t>
            </a:fld>
            <a:endParaRPr lang="en-IN"/>
          </a:p>
        </p:txBody>
      </p:sp>
      <p:sp>
        <p:nvSpPr>
          <p:cNvPr id="4" name="Footer Placeholder 3">
            <a:extLst>
              <a:ext uri="{FF2B5EF4-FFF2-40B4-BE49-F238E27FC236}">
                <a16:creationId xmlns:a16="http://schemas.microsoft.com/office/drawing/2014/main" id="{F0B58446-4D58-3800-90DD-01829CC0966C}"/>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18193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Chalkboard education presentation (widescreen)</Template>
  <TotalTime>210</TotalTime>
  <Words>2773</Words>
  <Application>Microsoft Office PowerPoint</Application>
  <PresentationFormat>Custom</PresentationFormat>
  <Paragraphs>225</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Consolas</vt:lpstr>
      <vt:lpstr>Corbel</vt:lpstr>
      <vt:lpstr>Chalkboard 16x9</vt:lpstr>
      <vt:lpstr>Advanced Computer Network  (4350706)  Unit-1 Network Layer Protocols </vt:lpstr>
      <vt:lpstr>Topics to be discussed</vt:lpstr>
      <vt:lpstr>Topics to be discussed</vt:lpstr>
      <vt:lpstr>Internet Protocol Version 4</vt:lpstr>
      <vt:lpstr>Internet Protocol Version 4</vt:lpstr>
      <vt:lpstr>Internet Protocol Version 4</vt:lpstr>
      <vt:lpstr>Internet Protocol Version 4</vt:lpstr>
      <vt:lpstr>Datagram Format</vt:lpstr>
      <vt:lpstr>Datagram Format</vt:lpstr>
      <vt:lpstr>Datagram Format</vt:lpstr>
      <vt:lpstr>Datagram Format</vt:lpstr>
      <vt:lpstr>Datagram Format</vt:lpstr>
      <vt:lpstr>Datagram Format</vt:lpstr>
      <vt:lpstr>Datagram Format</vt:lpstr>
      <vt:lpstr>Example</vt:lpstr>
      <vt:lpstr>Example</vt:lpstr>
      <vt:lpstr>Example</vt:lpstr>
      <vt:lpstr>Example</vt:lpstr>
      <vt:lpstr>Fragmentation</vt:lpstr>
      <vt:lpstr>Maximum Transfer Unit</vt:lpstr>
      <vt:lpstr>Maximum Transfer Unit</vt:lpstr>
      <vt:lpstr>Maximum Transfer Unit</vt:lpstr>
      <vt:lpstr>Maximum Transfer Unit</vt:lpstr>
      <vt:lpstr>Maximum Transfer Unit</vt:lpstr>
      <vt:lpstr>Fields related to fragmentation</vt:lpstr>
      <vt:lpstr>Fields related to fragmentation</vt:lpstr>
      <vt:lpstr>Fields related to fragmentation</vt:lpstr>
      <vt:lpstr>Example</vt:lpstr>
      <vt:lpstr>Example</vt:lpstr>
      <vt:lpstr>Example</vt:lpstr>
      <vt:lpstr>Example</vt:lpstr>
      <vt:lpstr>Example</vt:lpstr>
      <vt:lpstr>Options</vt:lpstr>
      <vt:lpstr>Options</vt:lpstr>
      <vt:lpstr>Security of IPv4 Datagram</vt:lpstr>
      <vt:lpstr>Questions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Computer Network  (4350706)  Unit-1 Network Layer Protocols</dc:title>
  <dc:creator>CHETANKUMAR KAMANI</dc:creator>
  <cp:lastModifiedBy>CHETANKUMAR KAMANI</cp:lastModifiedBy>
  <cp:revision>8</cp:revision>
  <dcterms:created xsi:type="dcterms:W3CDTF">2023-08-27T07:27:45Z</dcterms:created>
  <dcterms:modified xsi:type="dcterms:W3CDTF">2023-08-31T07:36:09Z</dcterms:modified>
</cp:coreProperties>
</file>