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handoutMasterIdLst>
    <p:handoutMasterId r:id="rId56"/>
  </p:handoutMasterIdLst>
  <p:sldIdLst>
    <p:sldId id="256" r:id="rId2"/>
    <p:sldId id="257" r:id="rId3"/>
    <p:sldId id="306" r:id="rId4"/>
    <p:sldId id="307" r:id="rId5"/>
    <p:sldId id="308" r:id="rId6"/>
    <p:sldId id="309" r:id="rId7"/>
    <p:sldId id="310" r:id="rId8"/>
    <p:sldId id="311" r:id="rId9"/>
    <p:sldId id="313" r:id="rId10"/>
    <p:sldId id="312"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27" r:id="rId25"/>
    <p:sldId id="328" r:id="rId26"/>
    <p:sldId id="329" r:id="rId27"/>
    <p:sldId id="330" r:id="rId28"/>
    <p:sldId id="331" r:id="rId29"/>
    <p:sldId id="332" r:id="rId30"/>
    <p:sldId id="334" r:id="rId31"/>
    <p:sldId id="333" r:id="rId32"/>
    <p:sldId id="335" r:id="rId33"/>
    <p:sldId id="336" r:id="rId34"/>
    <p:sldId id="337" r:id="rId35"/>
    <p:sldId id="338" r:id="rId36"/>
    <p:sldId id="339" r:id="rId37"/>
    <p:sldId id="340" r:id="rId38"/>
    <p:sldId id="341" r:id="rId39"/>
    <p:sldId id="342" r:id="rId40"/>
    <p:sldId id="343" r:id="rId41"/>
    <p:sldId id="344" r:id="rId42"/>
    <p:sldId id="345" r:id="rId43"/>
    <p:sldId id="346" r:id="rId44"/>
    <p:sldId id="347" r:id="rId45"/>
    <p:sldId id="348" r:id="rId46"/>
    <p:sldId id="349" r:id="rId47"/>
    <p:sldId id="350" r:id="rId48"/>
    <p:sldId id="351" r:id="rId49"/>
    <p:sldId id="352" r:id="rId50"/>
    <p:sldId id="353" r:id="rId51"/>
    <p:sldId id="354" r:id="rId52"/>
    <p:sldId id="305" r:id="rId53"/>
    <p:sldId id="304" r:id="rId54"/>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41" autoAdjust="0"/>
  </p:normalViewPr>
  <p:slideViewPr>
    <p:cSldViewPr>
      <p:cViewPr varScale="1">
        <p:scale>
          <a:sx n="78" d="100"/>
          <a:sy n="78" d="100"/>
        </p:scale>
        <p:origin x="787" y="62"/>
      </p:cViewPr>
      <p:guideLst>
        <p:guide pos="3839"/>
        <p:guide orient="horz" pos="2160"/>
      </p:guideLst>
    </p:cSldViewPr>
  </p:slideViewPr>
  <p:notesTextViewPr>
    <p:cViewPr>
      <p:scale>
        <a:sx n="1" d="1"/>
        <a:sy n="1" d="1"/>
      </p:scale>
      <p:origin x="0" y="0"/>
    </p:cViewPr>
  </p:notesTextViewPr>
  <p:notesViewPr>
    <p:cSldViewPr showGuides="1">
      <p:cViewPr varScale="1">
        <p:scale>
          <a:sx n="62" d="100"/>
          <a:sy n="62" d="100"/>
        </p:scale>
        <p:origin x="2371"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10/28/2023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10/28/2023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Unit-4</a:t>
            </a:r>
            <a:br>
              <a:rPr lang="en-US" sz="4000" dirty="0"/>
            </a:br>
            <a:r>
              <a:rPr lang="en-US" sz="4000" dirty="0"/>
              <a:t>Transport Layer Protocols</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normAutofit/>
          </a:bodyPr>
          <a:lstStyle/>
          <a:p>
            <a:r>
              <a:rPr lang="en-US" dirty="0"/>
              <a:t>Stream Control Transmission Protocol</a:t>
            </a:r>
          </a:p>
          <a:p>
            <a:pPr lvl="1"/>
            <a:r>
              <a:rPr lang="en-US" dirty="0"/>
              <a:t>SCTP Services</a:t>
            </a:r>
          </a:p>
          <a:p>
            <a:pPr lvl="1"/>
            <a:r>
              <a:rPr lang="en-US" dirty="0"/>
              <a:t>SCTP Features</a:t>
            </a:r>
          </a:p>
          <a:p>
            <a:pPr lvl="1"/>
            <a:r>
              <a:rPr lang="en-US" dirty="0"/>
              <a:t>Packet Format</a:t>
            </a:r>
          </a:p>
          <a:p>
            <a:pPr lvl="1"/>
            <a:r>
              <a:rPr lang="en-US" dirty="0"/>
              <a:t>An SCTP Associations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a:t>
            </a:r>
          </a:p>
        </p:txBody>
      </p:sp>
      <p:sp>
        <p:nvSpPr>
          <p:cNvPr id="14" name="Content Placeholder 13"/>
          <p:cNvSpPr>
            <a:spLocks noGrp="1"/>
          </p:cNvSpPr>
          <p:nvPr>
            <p:ph idx="1"/>
          </p:nvPr>
        </p:nvSpPr>
        <p:spPr/>
        <p:txBody>
          <a:bodyPr>
            <a:normAutofit/>
          </a:bodyPr>
          <a:lstStyle/>
          <a:p>
            <a:r>
              <a:rPr lang="en-IN" dirty="0"/>
              <a:t>Stream Control Transmission Protocol (SCTP) is a new transport-layer protocol designed to combine some features of UDP and TCP in an effort to create a better protocol for multimedia communication.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89279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SCTP Services</a:t>
            </a:r>
          </a:p>
        </p:txBody>
      </p:sp>
      <p:sp>
        <p:nvSpPr>
          <p:cNvPr id="14" name="Content Placeholder 13"/>
          <p:cNvSpPr>
            <a:spLocks noGrp="1"/>
          </p:cNvSpPr>
          <p:nvPr>
            <p:ph idx="1"/>
          </p:nvPr>
        </p:nvSpPr>
        <p:spPr/>
        <p:txBody>
          <a:bodyPr>
            <a:normAutofit/>
          </a:bodyPr>
          <a:lstStyle/>
          <a:p>
            <a:r>
              <a:rPr lang="en-US" dirty="0"/>
              <a:t>Process-to-Process Communication</a:t>
            </a:r>
          </a:p>
          <a:p>
            <a:r>
              <a:rPr lang="en-US" dirty="0"/>
              <a:t>Multiple Streams</a:t>
            </a:r>
          </a:p>
          <a:p>
            <a:r>
              <a:rPr lang="en-US" dirty="0"/>
              <a:t>Multihoming</a:t>
            </a:r>
          </a:p>
          <a:p>
            <a:r>
              <a:rPr lang="en-US" dirty="0"/>
              <a:t>Full-Duplex Communication</a:t>
            </a:r>
          </a:p>
          <a:p>
            <a:r>
              <a:rPr lang="en-US" dirty="0"/>
              <a:t>Connection-Oriented Service</a:t>
            </a:r>
          </a:p>
          <a:p>
            <a:r>
              <a:rPr lang="en-US" dirty="0"/>
              <a:t>Reliable Service</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8786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Process-to-Process Communication</a:t>
            </a:r>
          </a:p>
        </p:txBody>
      </p:sp>
      <p:sp>
        <p:nvSpPr>
          <p:cNvPr id="14" name="Content Placeholder 13"/>
          <p:cNvSpPr>
            <a:spLocks noGrp="1"/>
          </p:cNvSpPr>
          <p:nvPr>
            <p:ph idx="1"/>
          </p:nvPr>
        </p:nvSpPr>
        <p:spPr/>
        <p:txBody>
          <a:bodyPr>
            <a:normAutofit/>
          </a:bodyPr>
          <a:lstStyle/>
          <a:p>
            <a:r>
              <a:rPr lang="en-IN" dirty="0"/>
              <a:t>SCTP, like UDP or TCP, provides process-to-process communication.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81224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Multiple Streams</a:t>
            </a:r>
          </a:p>
        </p:txBody>
      </p:sp>
      <p:sp>
        <p:nvSpPr>
          <p:cNvPr id="14" name="Content Placeholder 13"/>
          <p:cNvSpPr>
            <a:spLocks noGrp="1"/>
          </p:cNvSpPr>
          <p:nvPr>
            <p:ph idx="1"/>
          </p:nvPr>
        </p:nvSpPr>
        <p:spPr>
          <a:xfrm>
            <a:off x="1522414" y="1905000"/>
            <a:ext cx="10044606" cy="4267200"/>
          </a:xfrm>
        </p:spPr>
        <p:txBody>
          <a:bodyPr>
            <a:normAutofit lnSpcReduction="10000"/>
          </a:bodyPr>
          <a:lstStyle/>
          <a:p>
            <a:r>
              <a:rPr lang="en-IN" dirty="0"/>
              <a:t>We learned that TCP is a stream-oriented protocol. </a:t>
            </a:r>
          </a:p>
          <a:p>
            <a:r>
              <a:rPr lang="en-IN" dirty="0"/>
              <a:t>Each connection between a TCP client and a TCP server involves a single stream. </a:t>
            </a:r>
          </a:p>
          <a:p>
            <a:r>
              <a:rPr lang="en-IN" dirty="0"/>
              <a:t>The problem with this approach is that a loss at any point in the stream blocks the delivery of the rest of the data. </a:t>
            </a:r>
          </a:p>
          <a:p>
            <a:r>
              <a:rPr lang="en-IN" dirty="0"/>
              <a:t>This can be acceptable when we are transferring text; it is not when we are sending real-time data such as audio or video. </a:t>
            </a:r>
          </a:p>
          <a:p>
            <a:r>
              <a:rPr lang="en-IN" dirty="0"/>
              <a:t>SCTP allows </a:t>
            </a:r>
            <a:r>
              <a:rPr lang="en-IN" dirty="0" err="1"/>
              <a:t>multistream</a:t>
            </a:r>
            <a:r>
              <a:rPr lang="en-IN" dirty="0"/>
              <a:t> service in each connection, which is called association in SCTP terminology. If one of the streams is blocked, the other streams can still deliver their data. </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0743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Multiple Streams</a:t>
            </a:r>
          </a:p>
        </p:txBody>
      </p:sp>
      <p:pic>
        <p:nvPicPr>
          <p:cNvPr id="5" name="Content Placeholder 4">
            <a:extLst>
              <a:ext uri="{FF2B5EF4-FFF2-40B4-BE49-F238E27FC236}">
                <a16:creationId xmlns:a16="http://schemas.microsoft.com/office/drawing/2014/main" id="{E1F9C838-C175-D753-3DA3-29D3FCF55400}"/>
              </a:ext>
            </a:extLst>
          </p:cNvPr>
          <p:cNvPicPr>
            <a:picLocks noGrp="1" noChangeAspect="1"/>
          </p:cNvPicPr>
          <p:nvPr>
            <p:ph idx="1"/>
          </p:nvPr>
        </p:nvPicPr>
        <p:blipFill rotWithShape="1">
          <a:blip r:embed="rId2"/>
          <a:srcRect l="24674" t="39089" r="19744" b="27161"/>
          <a:stretch/>
        </p:blipFill>
        <p:spPr>
          <a:xfrm>
            <a:off x="1701924" y="2385245"/>
            <a:ext cx="9598666" cy="3096344"/>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93692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Multihoming</a:t>
            </a:r>
          </a:p>
        </p:txBody>
      </p:sp>
      <p:sp>
        <p:nvSpPr>
          <p:cNvPr id="14" name="Content Placeholder 13"/>
          <p:cNvSpPr>
            <a:spLocks noGrp="1"/>
          </p:cNvSpPr>
          <p:nvPr>
            <p:ph idx="1"/>
          </p:nvPr>
        </p:nvSpPr>
        <p:spPr>
          <a:xfrm>
            <a:off x="1522414" y="1905000"/>
            <a:ext cx="10044606" cy="4267200"/>
          </a:xfrm>
        </p:spPr>
        <p:txBody>
          <a:bodyPr>
            <a:normAutofit lnSpcReduction="10000"/>
          </a:bodyPr>
          <a:lstStyle/>
          <a:p>
            <a:r>
              <a:rPr lang="en-IN" dirty="0"/>
              <a:t>A TCP connection involves one source and one destination IP address. </a:t>
            </a:r>
          </a:p>
          <a:p>
            <a:r>
              <a:rPr lang="en-IN" dirty="0"/>
              <a:t>This means that even if the sender or receiver is a multihomed host (connected to more than one physical address with multiple IP addresses), only one of these IP addresses per end can be utilized during the connection. </a:t>
            </a:r>
          </a:p>
          <a:p>
            <a:r>
              <a:rPr lang="en-IN" dirty="0"/>
              <a:t>An SCTP association, on the other hand, supports multihoming service. </a:t>
            </a:r>
          </a:p>
          <a:p>
            <a:r>
              <a:rPr lang="en-IN" dirty="0"/>
              <a:t>The sending and receiving host can define multiple IP addresses in each end for an association. In this fault-tolerant approach, when one path fails, another interface can be used for data delivery without interruption. </a:t>
            </a:r>
          </a:p>
          <a:p>
            <a:r>
              <a:rPr lang="en-IN" dirty="0"/>
              <a:t>This fault-tolerant feature is very helpful when we are sending and receiving a real-time payload such as Internet telephony. </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67565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Multihoming</a:t>
            </a:r>
          </a:p>
        </p:txBody>
      </p:sp>
      <p:pic>
        <p:nvPicPr>
          <p:cNvPr id="5" name="Content Placeholder 4">
            <a:extLst>
              <a:ext uri="{FF2B5EF4-FFF2-40B4-BE49-F238E27FC236}">
                <a16:creationId xmlns:a16="http://schemas.microsoft.com/office/drawing/2014/main" id="{DAC0703F-79FB-75D3-A500-4622399B5F3D}"/>
              </a:ext>
            </a:extLst>
          </p:cNvPr>
          <p:cNvPicPr>
            <a:picLocks noGrp="1" noChangeAspect="1"/>
          </p:cNvPicPr>
          <p:nvPr>
            <p:ph idx="1"/>
          </p:nvPr>
        </p:nvPicPr>
        <p:blipFill rotWithShape="1">
          <a:blip r:embed="rId2"/>
          <a:srcRect l="15710" t="27277" r="16158" b="42348"/>
          <a:stretch/>
        </p:blipFill>
        <p:spPr>
          <a:xfrm>
            <a:off x="1229871" y="2553098"/>
            <a:ext cx="9729081" cy="2304256"/>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6793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Multihoming</a:t>
            </a:r>
          </a:p>
        </p:txBody>
      </p:sp>
      <p:sp>
        <p:nvSpPr>
          <p:cNvPr id="14" name="Content Placeholder 13"/>
          <p:cNvSpPr>
            <a:spLocks noGrp="1"/>
          </p:cNvSpPr>
          <p:nvPr>
            <p:ph idx="1"/>
          </p:nvPr>
        </p:nvSpPr>
        <p:spPr>
          <a:xfrm>
            <a:off x="1522414" y="1905000"/>
            <a:ext cx="10044606" cy="4267200"/>
          </a:xfrm>
        </p:spPr>
        <p:txBody>
          <a:bodyPr>
            <a:normAutofit/>
          </a:bodyPr>
          <a:lstStyle/>
          <a:p>
            <a:r>
              <a:rPr lang="en-IN" dirty="0"/>
              <a:t>In the figure, the client is connected to two local networks with two IP addresses. </a:t>
            </a:r>
          </a:p>
          <a:p>
            <a:r>
              <a:rPr lang="en-IN" dirty="0"/>
              <a:t>The server is also connected to two networks with two IP addresses. </a:t>
            </a:r>
          </a:p>
          <a:p>
            <a:r>
              <a:rPr lang="en-IN" dirty="0"/>
              <a:t>The client and the server can make an association using four different pairs of IP addresses. However, note that in the current implementations of SCTP, only one pair of IP addresses can be chosen for normal communication; the alternative is used if the main choice fails. In other words, at present, SCTP does not allow load sharing between different paths.</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955695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Full Duplex Communication</a:t>
            </a:r>
          </a:p>
        </p:txBody>
      </p:sp>
      <p:sp>
        <p:nvSpPr>
          <p:cNvPr id="14" name="Content Placeholder 13"/>
          <p:cNvSpPr>
            <a:spLocks noGrp="1"/>
          </p:cNvSpPr>
          <p:nvPr>
            <p:ph idx="1"/>
          </p:nvPr>
        </p:nvSpPr>
        <p:spPr>
          <a:xfrm>
            <a:off x="1522414" y="1905000"/>
            <a:ext cx="10044606" cy="4267200"/>
          </a:xfrm>
        </p:spPr>
        <p:txBody>
          <a:bodyPr>
            <a:normAutofit/>
          </a:bodyPr>
          <a:lstStyle/>
          <a:p>
            <a:r>
              <a:rPr lang="en-IN" dirty="0"/>
              <a:t>Like TCP, SCTP offers full-duplex service, where data can flow in both directions at the same time. </a:t>
            </a:r>
          </a:p>
          <a:p>
            <a:r>
              <a:rPr lang="en-IN" dirty="0"/>
              <a:t>Each SCTP then has a sending and receiving buffer and packets are sent in both directions.</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226554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Connection Oriented Service</a:t>
            </a:r>
          </a:p>
        </p:txBody>
      </p:sp>
      <p:sp>
        <p:nvSpPr>
          <p:cNvPr id="14" name="Content Placeholder 13"/>
          <p:cNvSpPr>
            <a:spLocks noGrp="1"/>
          </p:cNvSpPr>
          <p:nvPr>
            <p:ph idx="1"/>
          </p:nvPr>
        </p:nvSpPr>
        <p:spPr>
          <a:xfrm>
            <a:off x="1522414" y="1905000"/>
            <a:ext cx="10044606" cy="4267200"/>
          </a:xfrm>
        </p:spPr>
        <p:txBody>
          <a:bodyPr>
            <a:normAutofit/>
          </a:bodyPr>
          <a:lstStyle/>
          <a:p>
            <a:r>
              <a:rPr lang="en-IN" dirty="0"/>
              <a:t>Like TCP, SCTP is a connection-oriented protocol. However, in SCTP, a connection is called an association.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77727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Reliable Service</a:t>
            </a:r>
          </a:p>
        </p:txBody>
      </p:sp>
      <p:sp>
        <p:nvSpPr>
          <p:cNvPr id="14" name="Content Placeholder 13"/>
          <p:cNvSpPr>
            <a:spLocks noGrp="1"/>
          </p:cNvSpPr>
          <p:nvPr>
            <p:ph idx="1"/>
          </p:nvPr>
        </p:nvSpPr>
        <p:spPr>
          <a:xfrm>
            <a:off x="1522414" y="1905000"/>
            <a:ext cx="10044606" cy="4267200"/>
          </a:xfrm>
        </p:spPr>
        <p:txBody>
          <a:bodyPr>
            <a:normAutofit/>
          </a:bodyPr>
          <a:lstStyle/>
          <a:p>
            <a:r>
              <a:rPr lang="en-IN" dirty="0"/>
              <a:t>SCTP, like TCP, is a reliable transport protocol. </a:t>
            </a:r>
          </a:p>
          <a:p>
            <a:r>
              <a:rPr lang="en-IN" dirty="0"/>
              <a:t>It uses an acknowledgment mechanism to check the safe and sound arrival of data. </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656531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SCTP Features</a:t>
            </a:r>
          </a:p>
        </p:txBody>
      </p:sp>
      <p:sp>
        <p:nvSpPr>
          <p:cNvPr id="14" name="Content Placeholder 13"/>
          <p:cNvSpPr>
            <a:spLocks noGrp="1"/>
          </p:cNvSpPr>
          <p:nvPr>
            <p:ph idx="1"/>
          </p:nvPr>
        </p:nvSpPr>
        <p:spPr>
          <a:xfrm>
            <a:off x="1522414" y="1905000"/>
            <a:ext cx="10044606" cy="4267200"/>
          </a:xfrm>
        </p:spPr>
        <p:txBody>
          <a:bodyPr>
            <a:normAutofit/>
          </a:bodyPr>
          <a:lstStyle/>
          <a:p>
            <a:r>
              <a:rPr lang="en-US" dirty="0"/>
              <a:t>Transmission Sequence Number (TSN)</a:t>
            </a:r>
          </a:p>
          <a:p>
            <a:r>
              <a:rPr lang="en-US" dirty="0"/>
              <a:t>Stream Identifier</a:t>
            </a:r>
          </a:p>
          <a:p>
            <a:r>
              <a:rPr lang="en-US" dirty="0"/>
              <a:t>Stream Sequence Number (SSN)</a:t>
            </a:r>
          </a:p>
          <a:p>
            <a:r>
              <a:rPr lang="en-US" dirty="0"/>
              <a:t>Packets</a:t>
            </a:r>
          </a:p>
          <a:p>
            <a:r>
              <a:rPr lang="en-US" dirty="0"/>
              <a:t>Acknowledgement Number</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48266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Transmission Sequence Number</a:t>
            </a:r>
          </a:p>
        </p:txBody>
      </p:sp>
      <p:sp>
        <p:nvSpPr>
          <p:cNvPr id="14" name="Content Placeholder 13"/>
          <p:cNvSpPr>
            <a:spLocks noGrp="1"/>
          </p:cNvSpPr>
          <p:nvPr>
            <p:ph idx="1"/>
          </p:nvPr>
        </p:nvSpPr>
        <p:spPr>
          <a:xfrm>
            <a:off x="1522414" y="1905000"/>
            <a:ext cx="10044606" cy="4267200"/>
          </a:xfrm>
        </p:spPr>
        <p:txBody>
          <a:bodyPr>
            <a:normAutofit lnSpcReduction="10000"/>
          </a:bodyPr>
          <a:lstStyle/>
          <a:p>
            <a:r>
              <a:rPr lang="en-IN" dirty="0"/>
              <a:t>The unit of data in SCTP is a data chunk, which may or may not have a one-to-one relationship with the message coming from the process because of fragmentation (discussed later). </a:t>
            </a:r>
          </a:p>
          <a:p>
            <a:r>
              <a:rPr lang="en-IN" dirty="0"/>
              <a:t>Data transfer in SCTP is controlled by numbering the data chunks. </a:t>
            </a:r>
          </a:p>
          <a:p>
            <a:r>
              <a:rPr lang="en-IN" dirty="0"/>
              <a:t>SCTP uses a transmission sequence number (TSN) to number the data chunks. </a:t>
            </a:r>
          </a:p>
          <a:p>
            <a:r>
              <a:rPr lang="en-IN" dirty="0"/>
              <a:t>In other words, the TSN in SCTP plays a role analogous to the sequence number in TCP. </a:t>
            </a:r>
          </a:p>
          <a:p>
            <a:r>
              <a:rPr lang="en-IN" dirty="0"/>
              <a:t>TSNs are 32 bits long and randomly initialized between 0 and 2</a:t>
            </a:r>
            <a:r>
              <a:rPr lang="en-IN" baseline="30000" dirty="0"/>
              <a:t>32</a:t>
            </a:r>
            <a:r>
              <a:rPr lang="en-IN" dirty="0"/>
              <a:t> − 1. </a:t>
            </a:r>
          </a:p>
          <a:p>
            <a:r>
              <a:rPr lang="en-IN" dirty="0"/>
              <a:t>Each data chunk must carry the corresponding TSN in its header.</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958002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Stream Identifier</a:t>
            </a:r>
          </a:p>
        </p:txBody>
      </p:sp>
      <p:sp>
        <p:nvSpPr>
          <p:cNvPr id="14" name="Content Placeholder 13"/>
          <p:cNvSpPr>
            <a:spLocks noGrp="1"/>
          </p:cNvSpPr>
          <p:nvPr>
            <p:ph idx="1"/>
          </p:nvPr>
        </p:nvSpPr>
        <p:spPr>
          <a:xfrm>
            <a:off x="1522414" y="1905000"/>
            <a:ext cx="10044606" cy="4267200"/>
          </a:xfrm>
        </p:spPr>
        <p:txBody>
          <a:bodyPr>
            <a:normAutofit/>
          </a:bodyPr>
          <a:lstStyle/>
          <a:p>
            <a:r>
              <a:rPr lang="en-IN" dirty="0"/>
              <a:t>In SCTP, there may be several streams in each association. </a:t>
            </a:r>
          </a:p>
          <a:p>
            <a:r>
              <a:rPr lang="en-IN" dirty="0"/>
              <a:t>Each stream in SCTP needs to be identified using a stream identifier (SI). </a:t>
            </a:r>
          </a:p>
          <a:p>
            <a:r>
              <a:rPr lang="en-IN" dirty="0"/>
              <a:t>Each data chunk must carry the SI in its header so that when it arrives at the destination, it can be properly placed in its stream. </a:t>
            </a:r>
          </a:p>
          <a:p>
            <a:r>
              <a:rPr lang="en-IN" dirty="0"/>
              <a:t>The SI is a 16-bit number starting from 0.</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585254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Stream Sequence Number (SSN)</a:t>
            </a:r>
          </a:p>
        </p:txBody>
      </p:sp>
      <p:sp>
        <p:nvSpPr>
          <p:cNvPr id="14" name="Content Placeholder 13"/>
          <p:cNvSpPr>
            <a:spLocks noGrp="1"/>
          </p:cNvSpPr>
          <p:nvPr>
            <p:ph idx="1"/>
          </p:nvPr>
        </p:nvSpPr>
        <p:spPr>
          <a:xfrm>
            <a:off x="1522414" y="1905000"/>
            <a:ext cx="10044606" cy="4267200"/>
          </a:xfrm>
        </p:spPr>
        <p:txBody>
          <a:bodyPr>
            <a:normAutofit/>
          </a:bodyPr>
          <a:lstStyle/>
          <a:p>
            <a:r>
              <a:rPr lang="en-IN" dirty="0"/>
              <a:t>When a data chunk arrives at the destination SCTP, it is delivered to the appropriate stream and in the proper order. </a:t>
            </a:r>
          </a:p>
          <a:p>
            <a:r>
              <a:rPr lang="en-IN" dirty="0"/>
              <a:t>This means that, in addition to an SI, SCTP defines each data chunk in each stream with a stream sequence number (SSN).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66694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Packets</a:t>
            </a:r>
          </a:p>
        </p:txBody>
      </p:sp>
      <p:sp>
        <p:nvSpPr>
          <p:cNvPr id="14" name="Content Placeholder 13"/>
          <p:cNvSpPr>
            <a:spLocks noGrp="1"/>
          </p:cNvSpPr>
          <p:nvPr>
            <p:ph idx="1"/>
          </p:nvPr>
        </p:nvSpPr>
        <p:spPr>
          <a:xfrm>
            <a:off x="1522414" y="1905000"/>
            <a:ext cx="10044606" cy="4267200"/>
          </a:xfrm>
        </p:spPr>
        <p:txBody>
          <a:bodyPr>
            <a:normAutofit/>
          </a:bodyPr>
          <a:lstStyle/>
          <a:p>
            <a:r>
              <a:rPr lang="en-IN" dirty="0"/>
              <a:t>In TCP, a segment carries data and control information. Data are carried as a collection of bytes; control information is defined by six control flags in the header. </a:t>
            </a:r>
          </a:p>
          <a:p>
            <a:r>
              <a:rPr lang="en-IN" dirty="0"/>
              <a:t>The design of SCTP is totally different: data are carried as data chunks, control information as control chunks. Several control chunks and data chunks can be packed together in a packet. </a:t>
            </a:r>
          </a:p>
          <a:p>
            <a:r>
              <a:rPr lang="en-IN" dirty="0"/>
              <a:t>A packet in SCTP plays the same role as a segment in TCP.</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75534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Packets</a:t>
            </a:r>
          </a:p>
        </p:txBody>
      </p:sp>
      <p:pic>
        <p:nvPicPr>
          <p:cNvPr id="5" name="Content Placeholder 4">
            <a:extLst>
              <a:ext uri="{FF2B5EF4-FFF2-40B4-BE49-F238E27FC236}">
                <a16:creationId xmlns:a16="http://schemas.microsoft.com/office/drawing/2014/main" id="{8B0C8500-050E-6394-9CCE-53245C48FEF2}"/>
              </a:ext>
            </a:extLst>
          </p:cNvPr>
          <p:cNvPicPr>
            <a:picLocks noGrp="1" noChangeAspect="1"/>
          </p:cNvPicPr>
          <p:nvPr>
            <p:ph idx="1"/>
          </p:nvPr>
        </p:nvPicPr>
        <p:blipFill rotWithShape="1">
          <a:blip r:embed="rId2"/>
          <a:srcRect l="16606" t="37401" r="10780" b="23787"/>
          <a:stretch/>
        </p:blipFill>
        <p:spPr>
          <a:xfrm>
            <a:off x="1531308" y="2132856"/>
            <a:ext cx="9636548" cy="2736304"/>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7" name="TextBox 6">
            <a:extLst>
              <a:ext uri="{FF2B5EF4-FFF2-40B4-BE49-F238E27FC236}">
                <a16:creationId xmlns:a16="http://schemas.microsoft.com/office/drawing/2014/main" id="{11802DCD-ABC3-9451-AC77-4260DF27AEA5}"/>
              </a:ext>
            </a:extLst>
          </p:cNvPr>
          <p:cNvSpPr txBox="1"/>
          <p:nvPr/>
        </p:nvSpPr>
        <p:spPr>
          <a:xfrm>
            <a:off x="3427412" y="5080982"/>
            <a:ext cx="6096000" cy="369332"/>
          </a:xfrm>
          <a:prstGeom prst="rect">
            <a:avLst/>
          </a:prstGeom>
          <a:noFill/>
        </p:spPr>
        <p:txBody>
          <a:bodyPr wrap="square">
            <a:spAutoFit/>
          </a:bodyPr>
          <a:lstStyle/>
          <a:p>
            <a:r>
              <a:rPr lang="en-IN" dirty="0"/>
              <a:t>Comparison between a TCP segment and an SCTP packet</a:t>
            </a:r>
          </a:p>
        </p:txBody>
      </p:sp>
    </p:spTree>
    <p:extLst>
      <p:ext uri="{BB962C8B-B14F-4D97-AF65-F5344CB8AC3E}">
        <p14:creationId xmlns:p14="http://schemas.microsoft.com/office/powerpoint/2010/main" val="3334056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Packets</a:t>
            </a:r>
          </a:p>
        </p:txBody>
      </p:sp>
      <p:sp>
        <p:nvSpPr>
          <p:cNvPr id="14" name="Content Placeholder 13"/>
          <p:cNvSpPr>
            <a:spLocks noGrp="1"/>
          </p:cNvSpPr>
          <p:nvPr>
            <p:ph idx="1"/>
          </p:nvPr>
        </p:nvSpPr>
        <p:spPr>
          <a:xfrm>
            <a:off x="1522414" y="1905000"/>
            <a:ext cx="10044606" cy="4267200"/>
          </a:xfrm>
        </p:spPr>
        <p:txBody>
          <a:bodyPr>
            <a:normAutofit lnSpcReduction="10000"/>
          </a:bodyPr>
          <a:lstStyle/>
          <a:p>
            <a:r>
              <a:rPr lang="en-IN" dirty="0"/>
              <a:t>In SCTP, we have data chunks, streams, and packets. </a:t>
            </a:r>
          </a:p>
          <a:p>
            <a:r>
              <a:rPr lang="en-IN" dirty="0"/>
              <a:t>An association may send many packets, a packet may contain several chunks, and chunks may belong to different streams. </a:t>
            </a:r>
          </a:p>
          <a:p>
            <a:r>
              <a:rPr lang="en-IN" dirty="0"/>
              <a:t>To make the definitions of these terms clear, let us suppose that process A needs to send 11 messages to process B in three streams. </a:t>
            </a:r>
          </a:p>
          <a:p>
            <a:r>
              <a:rPr lang="en-IN" dirty="0"/>
              <a:t>The first four messages are in the first stream, the second three messages are in the second stream, and the last four messages are in the third stream. </a:t>
            </a:r>
          </a:p>
          <a:p>
            <a:r>
              <a:rPr lang="en-IN" dirty="0"/>
              <a:t>Although a message, if long, can be carried by several data chunks, we assume that each message fits into one data chunk. Therefore, we have 11 data chunks in three streams.</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758679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Packets</a:t>
            </a:r>
          </a:p>
        </p:txBody>
      </p:sp>
      <p:sp>
        <p:nvSpPr>
          <p:cNvPr id="14" name="Content Placeholder 13"/>
          <p:cNvSpPr>
            <a:spLocks noGrp="1"/>
          </p:cNvSpPr>
          <p:nvPr>
            <p:ph idx="1"/>
          </p:nvPr>
        </p:nvSpPr>
        <p:spPr>
          <a:xfrm>
            <a:off x="1522414" y="1905000"/>
            <a:ext cx="10044606" cy="4267200"/>
          </a:xfrm>
        </p:spPr>
        <p:txBody>
          <a:bodyPr>
            <a:normAutofit/>
          </a:bodyPr>
          <a:lstStyle/>
          <a:p>
            <a:r>
              <a:rPr lang="en-IN" dirty="0"/>
              <a:t>The application process delivers 11 messages to SCTP, where each message is earmarked for the appropriate stream. </a:t>
            </a:r>
          </a:p>
          <a:p>
            <a:r>
              <a:rPr lang="en-IN" dirty="0"/>
              <a:t>Although the process could deliver one message from the first stream and then another from the second, we assume that it delivers all messages belonging to the first stream first, all messages belonging to the second stream next, and finally, all messages belonging to the last stream.</a:t>
            </a:r>
          </a:p>
          <a:p>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739217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Packets</a:t>
            </a:r>
          </a:p>
        </p:txBody>
      </p:sp>
      <p:sp>
        <p:nvSpPr>
          <p:cNvPr id="14" name="Content Placeholder 13"/>
          <p:cNvSpPr>
            <a:spLocks noGrp="1"/>
          </p:cNvSpPr>
          <p:nvPr>
            <p:ph idx="1"/>
          </p:nvPr>
        </p:nvSpPr>
        <p:spPr>
          <a:xfrm>
            <a:off x="1522414" y="1905000"/>
            <a:ext cx="10044606" cy="4267200"/>
          </a:xfrm>
        </p:spPr>
        <p:txBody>
          <a:bodyPr>
            <a:normAutofit/>
          </a:bodyPr>
          <a:lstStyle/>
          <a:p>
            <a:r>
              <a:rPr lang="en-IN" dirty="0"/>
              <a:t>We also assume that the network allows only three data chunks per packet, which means that we need four packets, as shown in Figure.</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5" name="Picture 4">
            <a:extLst>
              <a:ext uri="{FF2B5EF4-FFF2-40B4-BE49-F238E27FC236}">
                <a16:creationId xmlns:a16="http://schemas.microsoft.com/office/drawing/2014/main" id="{66A0B916-95F2-782F-0D6C-1386AFE68674}"/>
              </a:ext>
            </a:extLst>
          </p:cNvPr>
          <p:cNvPicPr>
            <a:picLocks noChangeAspect="1"/>
          </p:cNvPicPr>
          <p:nvPr/>
        </p:nvPicPr>
        <p:blipFill rotWithShape="1">
          <a:blip r:embed="rId2"/>
          <a:srcRect l="13963" t="44440" r="14554" b="6630"/>
          <a:stretch/>
        </p:blipFill>
        <p:spPr>
          <a:xfrm>
            <a:off x="2061964" y="2852936"/>
            <a:ext cx="8712969" cy="3168352"/>
          </a:xfrm>
          <a:prstGeom prst="rect">
            <a:avLst/>
          </a:prstGeom>
        </p:spPr>
      </p:pic>
    </p:spTree>
    <p:extLst>
      <p:ext uri="{BB962C8B-B14F-4D97-AF65-F5344CB8AC3E}">
        <p14:creationId xmlns:p14="http://schemas.microsoft.com/office/powerpoint/2010/main" val="3730584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Packets</a:t>
            </a:r>
          </a:p>
        </p:txBody>
      </p:sp>
      <p:sp>
        <p:nvSpPr>
          <p:cNvPr id="14" name="Content Placeholder 13"/>
          <p:cNvSpPr>
            <a:spLocks noGrp="1"/>
          </p:cNvSpPr>
          <p:nvPr>
            <p:ph idx="1"/>
          </p:nvPr>
        </p:nvSpPr>
        <p:spPr>
          <a:xfrm>
            <a:off x="1522413" y="1681363"/>
            <a:ext cx="10044606" cy="4267200"/>
          </a:xfrm>
        </p:spPr>
        <p:txBody>
          <a:bodyPr>
            <a:normAutofit/>
          </a:bodyPr>
          <a:lstStyle/>
          <a:p>
            <a:r>
              <a:rPr lang="en-IN" dirty="0"/>
              <a:t>Note that each data chunk needs three identifiers: TSN, SI, and SSN. TSN is a cumulative number and is used, as we will see later, for flow control and error control. SI defines the stream to which the chunk belongs. SSN defines the chunk’s order in a particular stream. In our example, SSN starts from 0 for each stream.</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5" name="Picture 4">
            <a:extLst>
              <a:ext uri="{FF2B5EF4-FFF2-40B4-BE49-F238E27FC236}">
                <a16:creationId xmlns:a16="http://schemas.microsoft.com/office/drawing/2014/main" id="{66A0B916-95F2-782F-0D6C-1386AFE68674}"/>
              </a:ext>
            </a:extLst>
          </p:cNvPr>
          <p:cNvPicPr>
            <a:picLocks noChangeAspect="1"/>
          </p:cNvPicPr>
          <p:nvPr/>
        </p:nvPicPr>
        <p:blipFill rotWithShape="1">
          <a:blip r:embed="rId2"/>
          <a:srcRect l="13963" t="44440" r="14554" b="6630"/>
          <a:stretch/>
        </p:blipFill>
        <p:spPr>
          <a:xfrm>
            <a:off x="2368252" y="3363373"/>
            <a:ext cx="8352928" cy="3037428"/>
          </a:xfrm>
          <a:prstGeom prst="rect">
            <a:avLst/>
          </a:prstGeom>
        </p:spPr>
      </p:pic>
    </p:spTree>
    <p:extLst>
      <p:ext uri="{BB962C8B-B14F-4D97-AF65-F5344CB8AC3E}">
        <p14:creationId xmlns:p14="http://schemas.microsoft.com/office/powerpoint/2010/main" val="3525305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Acknowledgement Number</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TCP acknowledgment numbers are byte-oriented and refer to the sequence numbers. </a:t>
            </a:r>
          </a:p>
          <a:p>
            <a:r>
              <a:rPr lang="en-IN" dirty="0"/>
              <a:t>SCTP acknowledgment numbers are chunk-oriented. They refer to the TSN. </a:t>
            </a:r>
          </a:p>
          <a:p>
            <a:r>
              <a:rPr lang="en-IN" dirty="0"/>
              <a:t>A second difference between TCP and SCTP acknowledgments is the control information. Recall that this information is part of the segment header in TCP. </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83024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Acknowledgement Number</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To acknowledge segments that carry only control information, TCP uses a sequence number and acknowledgment number (for example, a SYN segment needs to be acknowledged by an ACK segment). </a:t>
            </a:r>
          </a:p>
          <a:p>
            <a:r>
              <a:rPr lang="en-IN" dirty="0"/>
              <a:t>In SCTP, however, the control information is carried by control chunks, which do not need a TSN. These control chunks are acknowledged by another control chunk of the appropriate type (some need no acknowledgment). </a:t>
            </a:r>
          </a:p>
          <a:p>
            <a:r>
              <a:rPr lang="en-IN" dirty="0"/>
              <a:t>For example, an INIT control chunk is acknowledged by an INIT-ACK chunk. There is no need for a sequence number or an acknowledgment number.</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21315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Packet Format</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An SCTP packet has a mandatory general header and a set of blocks called chunks. </a:t>
            </a:r>
          </a:p>
          <a:p>
            <a:r>
              <a:rPr lang="en-IN" dirty="0"/>
              <a:t>There are two types of chunks: control chunks and data chunks. </a:t>
            </a:r>
          </a:p>
          <a:p>
            <a:r>
              <a:rPr lang="en-IN" dirty="0"/>
              <a:t>A control chunk controls and maintains the association</a:t>
            </a:r>
          </a:p>
          <a:p>
            <a:r>
              <a:rPr lang="en-IN" dirty="0"/>
              <a:t>a data chunk carries user data. </a:t>
            </a:r>
          </a:p>
          <a:p>
            <a:r>
              <a:rPr lang="en-IN" dirty="0"/>
              <a:t>In a packet, the control chunks come before the data chunks. </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23292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Packet Format</a:t>
            </a:r>
          </a:p>
        </p:txBody>
      </p:sp>
      <p:pic>
        <p:nvPicPr>
          <p:cNvPr id="5" name="Content Placeholder 4">
            <a:extLst>
              <a:ext uri="{FF2B5EF4-FFF2-40B4-BE49-F238E27FC236}">
                <a16:creationId xmlns:a16="http://schemas.microsoft.com/office/drawing/2014/main" id="{3D5810DF-B644-16A6-2EB6-A97858E6D9EE}"/>
              </a:ext>
            </a:extLst>
          </p:cNvPr>
          <p:cNvPicPr>
            <a:picLocks noGrp="1" noChangeAspect="1"/>
          </p:cNvPicPr>
          <p:nvPr>
            <p:ph idx="1"/>
          </p:nvPr>
        </p:nvPicPr>
        <p:blipFill rotWithShape="1">
          <a:blip r:embed="rId2"/>
          <a:srcRect l="26917" t="46630" r="21261" b="7808"/>
          <a:stretch/>
        </p:blipFill>
        <p:spPr>
          <a:xfrm>
            <a:off x="2638028" y="2054610"/>
            <a:ext cx="7708448" cy="3600400"/>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7" name="TextBox 6">
            <a:extLst>
              <a:ext uri="{FF2B5EF4-FFF2-40B4-BE49-F238E27FC236}">
                <a16:creationId xmlns:a16="http://schemas.microsoft.com/office/drawing/2014/main" id="{F6AA7E2A-596D-77A8-FF1C-38EBC4AD815E}"/>
              </a:ext>
            </a:extLst>
          </p:cNvPr>
          <p:cNvSpPr txBox="1"/>
          <p:nvPr/>
        </p:nvSpPr>
        <p:spPr>
          <a:xfrm>
            <a:off x="4870276" y="5843239"/>
            <a:ext cx="6096000" cy="369332"/>
          </a:xfrm>
          <a:prstGeom prst="rect">
            <a:avLst/>
          </a:prstGeom>
          <a:noFill/>
        </p:spPr>
        <p:txBody>
          <a:bodyPr wrap="square">
            <a:spAutoFit/>
          </a:bodyPr>
          <a:lstStyle/>
          <a:p>
            <a:r>
              <a:rPr lang="en-IN" sz="1800" b="0" i="1" u="none" strike="noStrike" baseline="0" dirty="0">
                <a:latin typeface="Times-Italic"/>
              </a:rPr>
              <a:t>General format </a:t>
            </a:r>
            <a:r>
              <a:rPr lang="en-IN" i="1" dirty="0">
                <a:latin typeface="Times-Italic"/>
              </a:rPr>
              <a:t>of </a:t>
            </a:r>
            <a:r>
              <a:rPr lang="en-IN" sz="1800" b="0" i="1" u="none" strike="noStrike" baseline="0" dirty="0">
                <a:latin typeface="Times-Italic"/>
              </a:rPr>
              <a:t>SCTP packet</a:t>
            </a:r>
            <a:endParaRPr lang="en-IN" dirty="0"/>
          </a:p>
        </p:txBody>
      </p:sp>
    </p:spTree>
    <p:extLst>
      <p:ext uri="{BB962C8B-B14F-4D97-AF65-F5344CB8AC3E}">
        <p14:creationId xmlns:p14="http://schemas.microsoft.com/office/powerpoint/2010/main" val="390616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Packet Format</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9" name="Content Placeholder 8">
            <a:extLst>
              <a:ext uri="{FF2B5EF4-FFF2-40B4-BE49-F238E27FC236}">
                <a16:creationId xmlns:a16="http://schemas.microsoft.com/office/drawing/2014/main" id="{BCA3B9B5-1C7E-5648-5F10-851B93DA2BD1}"/>
              </a:ext>
            </a:extLst>
          </p:cNvPr>
          <p:cNvPicPr>
            <a:picLocks noGrp="1" noChangeAspect="1"/>
          </p:cNvPicPr>
          <p:nvPr>
            <p:ph idx="1"/>
          </p:nvPr>
        </p:nvPicPr>
        <p:blipFill rotWithShape="1">
          <a:blip r:embed="rId2"/>
          <a:srcRect l="27588" t="49214" r="21261" b="23787"/>
          <a:stretch/>
        </p:blipFill>
        <p:spPr>
          <a:xfrm>
            <a:off x="2422004" y="3773100"/>
            <a:ext cx="7920880" cy="2221156"/>
          </a:xfrm>
        </p:spPr>
      </p:pic>
      <p:sp>
        <p:nvSpPr>
          <p:cNvPr id="11" name="TextBox 10">
            <a:extLst>
              <a:ext uri="{FF2B5EF4-FFF2-40B4-BE49-F238E27FC236}">
                <a16:creationId xmlns:a16="http://schemas.microsoft.com/office/drawing/2014/main" id="{B7AD19A6-E174-1EEC-2BBB-E0B693FF6617}"/>
              </a:ext>
            </a:extLst>
          </p:cNvPr>
          <p:cNvSpPr txBox="1"/>
          <p:nvPr/>
        </p:nvSpPr>
        <p:spPr>
          <a:xfrm>
            <a:off x="5158308" y="6030193"/>
            <a:ext cx="6096000" cy="461665"/>
          </a:xfrm>
          <a:prstGeom prst="rect">
            <a:avLst/>
          </a:prstGeom>
          <a:noFill/>
        </p:spPr>
        <p:txBody>
          <a:bodyPr wrap="square">
            <a:spAutoFit/>
          </a:bodyPr>
          <a:lstStyle/>
          <a:p>
            <a:r>
              <a:rPr lang="en-IN" sz="2400" b="0" i="1" u="none" strike="noStrike" baseline="0" dirty="0">
                <a:latin typeface="Times-Italic"/>
              </a:rPr>
              <a:t>General header</a:t>
            </a:r>
            <a:endParaRPr lang="en-IN" sz="2400" dirty="0"/>
          </a:p>
        </p:txBody>
      </p:sp>
      <p:sp>
        <p:nvSpPr>
          <p:cNvPr id="12" name="Content Placeholder 13">
            <a:extLst>
              <a:ext uri="{FF2B5EF4-FFF2-40B4-BE49-F238E27FC236}">
                <a16:creationId xmlns:a16="http://schemas.microsoft.com/office/drawing/2014/main" id="{62C6F614-CFAE-012D-CF80-8A59022924BA}"/>
              </a:ext>
            </a:extLst>
          </p:cNvPr>
          <p:cNvSpPr txBox="1">
            <a:spLocks/>
          </p:cNvSpPr>
          <p:nvPr/>
        </p:nvSpPr>
        <p:spPr>
          <a:xfrm>
            <a:off x="1629916" y="1727056"/>
            <a:ext cx="10044606" cy="4267200"/>
          </a:xfrm>
          <a:prstGeom prst="rect">
            <a:avLst/>
          </a:prstGeom>
        </p:spPr>
        <p:txBody>
          <a:bodyPr vert="horz" lIns="91440" tIns="45720" rIns="91440" bIns="45720"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r>
              <a:rPr lang="en-IN" dirty="0"/>
              <a:t>The general header (packet header) defines the end points of each association to which the packet belongs, guarantees that the packet belongs to a particular association, and preserves the integrity of the contents of the packet including the header itself. </a:t>
            </a:r>
          </a:p>
          <a:p>
            <a:r>
              <a:rPr lang="en-IN" dirty="0"/>
              <a:t>The format of the general header is shown below.</a:t>
            </a:r>
            <a:endParaRPr lang="en-US" dirty="0"/>
          </a:p>
        </p:txBody>
      </p:sp>
    </p:spTree>
    <p:extLst>
      <p:ext uri="{BB962C8B-B14F-4D97-AF65-F5344CB8AC3E}">
        <p14:creationId xmlns:p14="http://schemas.microsoft.com/office/powerpoint/2010/main" val="705704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Packet Format</a:t>
            </a:r>
          </a:p>
        </p:txBody>
      </p:sp>
      <p:sp>
        <p:nvSpPr>
          <p:cNvPr id="14" name="Content Placeholder 13"/>
          <p:cNvSpPr>
            <a:spLocks noGrp="1"/>
          </p:cNvSpPr>
          <p:nvPr>
            <p:ph idx="1"/>
          </p:nvPr>
        </p:nvSpPr>
        <p:spPr>
          <a:xfrm>
            <a:off x="1629916" y="1727056"/>
            <a:ext cx="10044606" cy="4267200"/>
          </a:xfrm>
        </p:spPr>
        <p:txBody>
          <a:bodyPr>
            <a:normAutofit lnSpcReduction="10000"/>
          </a:bodyPr>
          <a:lstStyle/>
          <a:p>
            <a:r>
              <a:rPr lang="en-IN" dirty="0"/>
              <a:t>There are four fields in the general header. </a:t>
            </a:r>
          </a:p>
          <a:p>
            <a:r>
              <a:rPr lang="en-IN" dirty="0"/>
              <a:t>The source and destination port numbers are the same as in UDP or TCP. </a:t>
            </a:r>
          </a:p>
          <a:p>
            <a:r>
              <a:rPr lang="en-IN" dirty="0"/>
              <a:t>The verification tag is a 32-bit field that matches a packet to an association. This prevents a packet from a previous association from being mistaken as a packet in this association. </a:t>
            </a:r>
          </a:p>
          <a:p>
            <a:r>
              <a:rPr lang="en-IN" dirty="0"/>
              <a:t>It serves as an identifier for the association; it is repeated in every packet during the association. </a:t>
            </a:r>
          </a:p>
          <a:p>
            <a:r>
              <a:rPr lang="en-IN" dirty="0"/>
              <a:t>The next field is a checksum. However, the size of the checksum is increased from 16 bits (in UDP, TCP, and IP) to 32 bits in SCTP to allow the use of the CRC-32 checksum.</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64988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Packet Format</a:t>
            </a:r>
          </a:p>
        </p:txBody>
      </p:sp>
      <p:pic>
        <p:nvPicPr>
          <p:cNvPr id="5" name="Content Placeholder 4">
            <a:extLst>
              <a:ext uri="{FF2B5EF4-FFF2-40B4-BE49-F238E27FC236}">
                <a16:creationId xmlns:a16="http://schemas.microsoft.com/office/drawing/2014/main" id="{403E1624-68E7-DD21-A674-003DC4818931}"/>
              </a:ext>
            </a:extLst>
          </p:cNvPr>
          <p:cNvPicPr>
            <a:picLocks noGrp="1" noChangeAspect="1"/>
          </p:cNvPicPr>
          <p:nvPr>
            <p:ph idx="1"/>
          </p:nvPr>
        </p:nvPicPr>
        <p:blipFill rotWithShape="1">
          <a:blip r:embed="rId2"/>
          <a:srcRect l="23330" t="46631" r="24674" b="22995"/>
          <a:stretch/>
        </p:blipFill>
        <p:spPr>
          <a:xfrm>
            <a:off x="2277988" y="2276872"/>
            <a:ext cx="8120902" cy="2520280"/>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7" name="TextBox 6">
            <a:extLst>
              <a:ext uri="{FF2B5EF4-FFF2-40B4-BE49-F238E27FC236}">
                <a16:creationId xmlns:a16="http://schemas.microsoft.com/office/drawing/2014/main" id="{266BB5CA-56C4-D82B-1E8C-F2565569B54A}"/>
              </a:ext>
            </a:extLst>
          </p:cNvPr>
          <p:cNvSpPr txBox="1"/>
          <p:nvPr/>
        </p:nvSpPr>
        <p:spPr>
          <a:xfrm>
            <a:off x="1250415" y="5157192"/>
            <a:ext cx="10176048" cy="707886"/>
          </a:xfrm>
          <a:prstGeom prst="rect">
            <a:avLst/>
          </a:prstGeom>
          <a:noFill/>
        </p:spPr>
        <p:txBody>
          <a:bodyPr wrap="square">
            <a:spAutoFit/>
          </a:bodyPr>
          <a:lstStyle/>
          <a:p>
            <a:r>
              <a:rPr lang="en-IN" sz="2000" dirty="0"/>
              <a:t>Control information or user data are carried in chunks. Chunks have a common layout, as shown in Figure.</a:t>
            </a:r>
          </a:p>
        </p:txBody>
      </p:sp>
    </p:spTree>
    <p:extLst>
      <p:ext uri="{BB962C8B-B14F-4D97-AF65-F5344CB8AC3E}">
        <p14:creationId xmlns:p14="http://schemas.microsoft.com/office/powerpoint/2010/main" val="91026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Packet Format</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Chunks</a:t>
            </a:r>
          </a:p>
          <a:p>
            <a:r>
              <a:rPr lang="en-IN" dirty="0"/>
              <a:t>The first three fields are common to all chunks; the information field depends on the type of chunk. </a:t>
            </a:r>
          </a:p>
          <a:p>
            <a:r>
              <a:rPr lang="en-IN" dirty="0"/>
              <a:t>The type field can define up to 256 types of chunks. Only a few have been defined so far; the rest are reserved for future use. </a:t>
            </a:r>
          </a:p>
          <a:p>
            <a:r>
              <a:rPr lang="en-IN" dirty="0"/>
              <a:t>The flag field defines special flags that a particular chunk may need. Each bit has a different meaning depending on the type of chunk. </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35427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Packet Format</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Chunks</a:t>
            </a:r>
          </a:p>
          <a:p>
            <a:r>
              <a:rPr lang="en-IN" dirty="0"/>
              <a:t>The length field defines the total size of the chunk, in bytes, including the type, flag, and length fields. Since the size of the information section is dependent on the type of chunk, we need to define the chunk boundaries. If a chunk carries no information, the value of the length field is 4 (4 bytes). </a:t>
            </a:r>
          </a:p>
          <a:p>
            <a:r>
              <a:rPr lang="en-IN" dirty="0"/>
              <a:t>Note that the length of the padding, if any, is not included in the calculation of the length field. This helps the receiver find out how many useful bytes a chunk carries. If the value is not a multiple of 4, the receiver knows there is padding.</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670952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 Packet Format</a:t>
            </a:r>
          </a:p>
        </p:txBody>
      </p:sp>
      <p:pic>
        <p:nvPicPr>
          <p:cNvPr id="5" name="Content Placeholder 4">
            <a:extLst>
              <a:ext uri="{FF2B5EF4-FFF2-40B4-BE49-F238E27FC236}">
                <a16:creationId xmlns:a16="http://schemas.microsoft.com/office/drawing/2014/main" id="{701D916D-51AE-CF63-7A7C-B59D8EF6DFBF}"/>
              </a:ext>
            </a:extLst>
          </p:cNvPr>
          <p:cNvPicPr>
            <a:picLocks noGrp="1" noChangeAspect="1"/>
          </p:cNvPicPr>
          <p:nvPr>
            <p:ph idx="1"/>
          </p:nvPr>
        </p:nvPicPr>
        <p:blipFill rotWithShape="1">
          <a:blip r:embed="rId2"/>
          <a:srcRect l="16160" t="21319" r="15709" b="6119"/>
          <a:stretch/>
        </p:blipFill>
        <p:spPr>
          <a:xfrm>
            <a:off x="2782043" y="1628800"/>
            <a:ext cx="7763467" cy="4392488"/>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7" name="TextBox 6">
            <a:extLst>
              <a:ext uri="{FF2B5EF4-FFF2-40B4-BE49-F238E27FC236}">
                <a16:creationId xmlns:a16="http://schemas.microsoft.com/office/drawing/2014/main" id="{5AAF8614-5805-F7B5-6D4B-C067F9051311}"/>
              </a:ext>
            </a:extLst>
          </p:cNvPr>
          <p:cNvSpPr txBox="1"/>
          <p:nvPr/>
        </p:nvSpPr>
        <p:spPr>
          <a:xfrm>
            <a:off x="5616571" y="6011996"/>
            <a:ext cx="6096000" cy="369332"/>
          </a:xfrm>
          <a:prstGeom prst="rect">
            <a:avLst/>
          </a:prstGeom>
          <a:noFill/>
        </p:spPr>
        <p:txBody>
          <a:bodyPr wrap="square">
            <a:spAutoFit/>
          </a:bodyPr>
          <a:lstStyle/>
          <a:p>
            <a:r>
              <a:rPr lang="en-IN" sz="1800" b="1" i="1" u="none" strike="noStrike" baseline="0" dirty="0">
                <a:latin typeface="Times-BoldItalic"/>
              </a:rPr>
              <a:t>Types of Chunks</a:t>
            </a:r>
            <a:endParaRPr lang="en-IN" dirty="0"/>
          </a:p>
        </p:txBody>
      </p:sp>
    </p:spTree>
    <p:extLst>
      <p:ext uri="{BB962C8B-B14F-4D97-AF65-F5344CB8AC3E}">
        <p14:creationId xmlns:p14="http://schemas.microsoft.com/office/powerpoint/2010/main" val="89115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An SCTP Associations</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SCTP, like TCP, is a connection-oriented protocol. </a:t>
            </a:r>
          </a:p>
          <a:p>
            <a:r>
              <a:rPr lang="en-IN" dirty="0"/>
              <a:t>However, a connection in SCTP is called an association to emphasize multihoming.</a:t>
            </a:r>
          </a:p>
          <a:p>
            <a:r>
              <a:rPr lang="en-IN" dirty="0"/>
              <a:t>In this section, we will discuss the following points.</a:t>
            </a:r>
          </a:p>
          <a:p>
            <a:pPr lvl="1"/>
            <a:r>
              <a:rPr lang="en-IN" dirty="0"/>
              <a:t>Association Establishment</a:t>
            </a:r>
          </a:p>
          <a:p>
            <a:pPr lvl="1"/>
            <a:r>
              <a:rPr lang="en-IN" dirty="0"/>
              <a:t>Data Transfer</a:t>
            </a:r>
          </a:p>
          <a:p>
            <a:pPr lvl="1"/>
            <a:r>
              <a:rPr lang="en-IN" dirty="0"/>
              <a:t>Association Termination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01552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Association Establishment</a:t>
            </a:r>
          </a:p>
        </p:txBody>
      </p:sp>
      <p:pic>
        <p:nvPicPr>
          <p:cNvPr id="5" name="Content Placeholder 4">
            <a:extLst>
              <a:ext uri="{FF2B5EF4-FFF2-40B4-BE49-F238E27FC236}">
                <a16:creationId xmlns:a16="http://schemas.microsoft.com/office/drawing/2014/main" id="{DF7CD40C-9ED6-ECBC-435F-23684F33E605}"/>
              </a:ext>
            </a:extLst>
          </p:cNvPr>
          <p:cNvPicPr>
            <a:picLocks noGrp="1" noChangeAspect="1"/>
          </p:cNvPicPr>
          <p:nvPr>
            <p:ph idx="1"/>
          </p:nvPr>
        </p:nvPicPr>
        <p:blipFill rotWithShape="1">
          <a:blip r:embed="rId2"/>
          <a:srcRect l="18876" t="23304" r="12992" b="26072"/>
          <a:stretch/>
        </p:blipFill>
        <p:spPr>
          <a:xfrm>
            <a:off x="1413892" y="1988840"/>
            <a:ext cx="10033115" cy="3960440"/>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723917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Association Establishment</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Association establishment in SCTP requires a four-way handshake. </a:t>
            </a:r>
          </a:p>
          <a:p>
            <a:r>
              <a:rPr lang="en-IN" dirty="0"/>
              <a:t>In this procedure, a process, normally a client, wants to establish an association with another process, normally a server, using SCTP as the transport-layer protocol. </a:t>
            </a:r>
          </a:p>
          <a:p>
            <a:r>
              <a:rPr lang="en-IN" dirty="0"/>
              <a:t>Similar to TCP, the SCTP server needs to be prepared to receive any association (passive open). Association establishment, however, is initiated by the client (active open). </a:t>
            </a:r>
          </a:p>
          <a:p>
            <a:r>
              <a:rPr lang="en-IN" dirty="0"/>
              <a:t>SCTP association establishment is shown in Figure(Previous Slides).</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1683933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Association Establishment (Step – 1)</a:t>
            </a:r>
          </a:p>
        </p:txBody>
      </p:sp>
      <p:sp>
        <p:nvSpPr>
          <p:cNvPr id="14" name="Content Placeholder 13"/>
          <p:cNvSpPr>
            <a:spLocks noGrp="1"/>
          </p:cNvSpPr>
          <p:nvPr>
            <p:ph idx="1"/>
          </p:nvPr>
        </p:nvSpPr>
        <p:spPr>
          <a:xfrm>
            <a:off x="1629916" y="1727056"/>
            <a:ext cx="10044606" cy="4267200"/>
          </a:xfrm>
        </p:spPr>
        <p:txBody>
          <a:bodyPr>
            <a:normAutofit fontScale="92500"/>
          </a:bodyPr>
          <a:lstStyle/>
          <a:p>
            <a:r>
              <a:rPr lang="en-IN" dirty="0"/>
              <a:t>The client sends the first packet, which contains an INIT chunk. The verification tag (VT) of this packet (defined in the general header) is 0 because no verification tag has yet been defined for this direction (client to server). </a:t>
            </a:r>
          </a:p>
          <a:p>
            <a:r>
              <a:rPr lang="en-IN" dirty="0"/>
              <a:t>The INIT tag includes an initiation tag to be used for packets from the other direction (server to client). </a:t>
            </a:r>
          </a:p>
          <a:p>
            <a:r>
              <a:rPr lang="en-IN" dirty="0"/>
              <a:t>The chunk also defines the initial TSN for this direction and advertises a value for </a:t>
            </a:r>
            <a:r>
              <a:rPr lang="en-IN" dirty="0" err="1"/>
              <a:t>rwnd</a:t>
            </a:r>
            <a:r>
              <a:rPr lang="en-IN" dirty="0"/>
              <a:t>. </a:t>
            </a:r>
          </a:p>
          <a:p>
            <a:r>
              <a:rPr lang="en-IN" dirty="0"/>
              <a:t>The value of </a:t>
            </a:r>
            <a:r>
              <a:rPr lang="en-IN" dirty="0" err="1"/>
              <a:t>rwnd</a:t>
            </a:r>
            <a:r>
              <a:rPr lang="en-IN" dirty="0"/>
              <a:t> is normally advertised in a SACK chunk; it is done here because SCTP allows the inclusion of a DATA chunk in the third and fourth packets; the server must be aware of the available client buffer size. Note that no other chunks can be sent with the first packet.</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8931927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Association Establishment (Step – 2)</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The server sends the second packet, which contains an INIT ACK chunk. </a:t>
            </a:r>
          </a:p>
          <a:p>
            <a:r>
              <a:rPr lang="en-IN" dirty="0"/>
              <a:t>The verification tag is the value of the initial tag field in the INIT chunk. </a:t>
            </a:r>
          </a:p>
          <a:p>
            <a:r>
              <a:rPr lang="en-IN" dirty="0"/>
              <a:t>This chunk initiates the tag to be used in the other direction, defines the initial TSN, for data flow from server to client, and sets the server’s </a:t>
            </a:r>
            <a:r>
              <a:rPr lang="en-IN" dirty="0" err="1"/>
              <a:t>rwnd</a:t>
            </a:r>
            <a:r>
              <a:rPr lang="en-IN" dirty="0"/>
              <a:t>. </a:t>
            </a:r>
          </a:p>
          <a:p>
            <a:r>
              <a:rPr lang="en-IN" dirty="0"/>
              <a:t>The value of </a:t>
            </a:r>
            <a:r>
              <a:rPr lang="en-IN" dirty="0" err="1"/>
              <a:t>rwnd</a:t>
            </a:r>
            <a:r>
              <a:rPr lang="en-IN" dirty="0"/>
              <a:t> is defined to allow the client to send a DATA chunk with the third packet. </a:t>
            </a:r>
          </a:p>
          <a:p>
            <a:r>
              <a:rPr lang="en-IN" dirty="0"/>
              <a:t>The INIT ACK also sends a cookie that defines the state of the server at this moment.</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019093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Association Establishment (Step – 3)</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The client sends the third packet, which includes a COOKIE ECHO chunk. </a:t>
            </a:r>
          </a:p>
          <a:p>
            <a:r>
              <a:rPr lang="en-IN" dirty="0"/>
              <a:t>This is a very simple chunk that echoes, without change, the cookie sent by the server. </a:t>
            </a:r>
          </a:p>
          <a:p>
            <a:r>
              <a:rPr lang="en-IN" dirty="0"/>
              <a:t>SCTP allows the inclusion of data chunks in this packet.</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8466132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Association Establishment (Step – 4)</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The server sends the fourth packet, which includes the COOKIE ACK chunk that acknowledges the receipt of the COOKIE ECHO chunk. </a:t>
            </a:r>
          </a:p>
          <a:p>
            <a:r>
              <a:rPr lang="en-IN" dirty="0"/>
              <a:t>SCTP allows the inclusion of data chunks with this packet.</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0805968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Transfer</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The whole purpose of an association is to transfer data between two ends. </a:t>
            </a:r>
          </a:p>
          <a:p>
            <a:r>
              <a:rPr lang="en-IN" dirty="0"/>
              <a:t>After the association is established, bidirectional data transfer can take place. </a:t>
            </a:r>
          </a:p>
          <a:p>
            <a:r>
              <a:rPr lang="en-IN" dirty="0"/>
              <a:t>The client and the server can both send data. Like TCP, SCTP supports piggybacking.</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50828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Transfer</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There is a major difference, however, between data transfer in TCP and SCTP. </a:t>
            </a:r>
          </a:p>
          <a:p>
            <a:r>
              <a:rPr lang="en-IN" dirty="0"/>
              <a:t>TCP receives messages from a process as a stream of bytes without recognizing any boundary between them. The process may insert some boundaries for its peer use, but TCP treats that mark as part of the text. In other words, TCP takes each message and appends it to its buffer. A segment can carry parts of two different messages. The only ordering system imposed by TCP is the byte numbers.</a:t>
            </a:r>
          </a:p>
          <a:p>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299360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Transfer</a:t>
            </a:r>
          </a:p>
        </p:txBody>
      </p:sp>
      <p:sp>
        <p:nvSpPr>
          <p:cNvPr id="14" name="Content Placeholder 13"/>
          <p:cNvSpPr>
            <a:spLocks noGrp="1"/>
          </p:cNvSpPr>
          <p:nvPr>
            <p:ph idx="1"/>
          </p:nvPr>
        </p:nvSpPr>
        <p:spPr>
          <a:xfrm>
            <a:off x="1629916" y="1727056"/>
            <a:ext cx="10044606" cy="4267200"/>
          </a:xfrm>
        </p:spPr>
        <p:txBody>
          <a:bodyPr>
            <a:normAutofit fontScale="92500"/>
          </a:bodyPr>
          <a:lstStyle/>
          <a:p>
            <a:r>
              <a:rPr lang="en-IN" dirty="0"/>
              <a:t>SCTP, on the other hand, recognizes and maintains boundaries. </a:t>
            </a:r>
          </a:p>
          <a:p>
            <a:r>
              <a:rPr lang="en-IN" dirty="0"/>
              <a:t>Each message coming from the process is treated as one unit and inserted into a DATA chunk unless it is fragmented (discussed later). </a:t>
            </a:r>
          </a:p>
          <a:p>
            <a:r>
              <a:rPr lang="en-IN" dirty="0"/>
              <a:t>In this sense, SCTP is like UDP, with one big advantage: data chunks are related to each other.</a:t>
            </a:r>
          </a:p>
          <a:p>
            <a:r>
              <a:rPr lang="en-IN" dirty="0"/>
              <a:t>A message received from a process becomes a DATA chunk, or chunks if fragmented, by adding a DATA chunk header to the message. </a:t>
            </a:r>
          </a:p>
          <a:p>
            <a:r>
              <a:rPr lang="en-IN" dirty="0"/>
              <a:t>Each DATA chunk formed by a message or a fragment of a message has one TSN. </a:t>
            </a:r>
          </a:p>
          <a:p>
            <a:r>
              <a:rPr lang="en-IN" dirty="0"/>
              <a:t>We need to remember that only DATA chunks use TSNs and only DATA chunks are acknowledged by SACK chunks.</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4344360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Transfer(Multihoming Data Transfer)</a:t>
            </a:r>
          </a:p>
        </p:txBody>
      </p:sp>
      <p:sp>
        <p:nvSpPr>
          <p:cNvPr id="14" name="Content Placeholder 13"/>
          <p:cNvSpPr>
            <a:spLocks noGrp="1"/>
          </p:cNvSpPr>
          <p:nvPr>
            <p:ph idx="1"/>
          </p:nvPr>
        </p:nvSpPr>
        <p:spPr>
          <a:xfrm>
            <a:off x="1629916" y="1727056"/>
            <a:ext cx="10044606" cy="4267200"/>
          </a:xfrm>
        </p:spPr>
        <p:txBody>
          <a:bodyPr>
            <a:normAutofit fontScale="92500" lnSpcReduction="10000"/>
          </a:bodyPr>
          <a:lstStyle/>
          <a:p>
            <a:pPr marL="0" indent="0">
              <a:buNone/>
            </a:pPr>
            <a:endParaRPr lang="en-US" dirty="0"/>
          </a:p>
          <a:p>
            <a:r>
              <a:rPr lang="en-IN" dirty="0"/>
              <a:t>We discussed the multihoming capability of SCTP, a feature that distinguishes SCTP from UDP and TCP. </a:t>
            </a:r>
          </a:p>
          <a:p>
            <a:r>
              <a:rPr lang="en-IN" dirty="0"/>
              <a:t>Multihoming allows both ends to define multiple IP addresses for communication. </a:t>
            </a:r>
          </a:p>
          <a:p>
            <a:r>
              <a:rPr lang="en-IN" dirty="0"/>
              <a:t>However, only one of these addresses can be defined as the primary address; the rest are alternative addresses. </a:t>
            </a:r>
          </a:p>
          <a:p>
            <a:r>
              <a:rPr lang="en-IN" dirty="0"/>
              <a:t>The primary address is defined during association establishment. </a:t>
            </a:r>
          </a:p>
          <a:p>
            <a:r>
              <a:rPr lang="en-IN" dirty="0"/>
              <a:t>The interesting point is that the primary address of an end is determined by the other end.</a:t>
            </a:r>
          </a:p>
          <a:p>
            <a:r>
              <a:rPr lang="en-IN" dirty="0"/>
              <a:t>In other words, a source defines the primary address for a destination.</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68322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Data Transfer(Multihoming Data Transfer)</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Data transfer, by default, uses the primary address of the destination. </a:t>
            </a:r>
          </a:p>
          <a:p>
            <a:r>
              <a:rPr lang="en-IN" dirty="0"/>
              <a:t>If the primary is not available, one of the alternative addresses is used. </a:t>
            </a:r>
          </a:p>
          <a:p>
            <a:r>
              <a:rPr lang="en-IN" dirty="0"/>
              <a:t>The process, however, can always override the primary address and explicitly request that a message be sent to one of the alternative addresses. </a:t>
            </a:r>
          </a:p>
          <a:p>
            <a:r>
              <a:rPr lang="en-IN" dirty="0"/>
              <a:t>A process can also explicitly change the primary address of the current association.</a:t>
            </a:r>
          </a:p>
          <a:p>
            <a:r>
              <a:rPr lang="en-IN" dirty="0"/>
              <a:t>A logical question that arises is where to send a SACK. SCTP dictates that a SACK be sent to the address from which the corresponding SCTP packet originated.</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7826159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err="1"/>
              <a:t>Multistream</a:t>
            </a:r>
            <a:r>
              <a:rPr lang="en-US" dirty="0"/>
              <a:t> Delivery</a:t>
            </a:r>
          </a:p>
        </p:txBody>
      </p:sp>
      <p:sp>
        <p:nvSpPr>
          <p:cNvPr id="14" name="Content Placeholder 13"/>
          <p:cNvSpPr>
            <a:spLocks noGrp="1"/>
          </p:cNvSpPr>
          <p:nvPr>
            <p:ph idx="1"/>
          </p:nvPr>
        </p:nvSpPr>
        <p:spPr>
          <a:xfrm>
            <a:off x="1629916" y="1727056"/>
            <a:ext cx="10044606" cy="4267200"/>
          </a:xfrm>
        </p:spPr>
        <p:txBody>
          <a:bodyPr>
            <a:normAutofit lnSpcReduction="10000"/>
          </a:bodyPr>
          <a:lstStyle/>
          <a:p>
            <a:r>
              <a:rPr lang="en-IN" dirty="0"/>
              <a:t>Another interesting feature of SCTP is the distinction between data transfer and data delivery. </a:t>
            </a:r>
          </a:p>
          <a:p>
            <a:r>
              <a:rPr lang="en-IN" dirty="0"/>
              <a:t>SCTP uses TSN numbers to handle data transfer, movement of data chunks between the source and destination. </a:t>
            </a:r>
          </a:p>
          <a:p>
            <a:r>
              <a:rPr lang="en-IN" dirty="0"/>
              <a:t>The delivery of the data chunks is controlled by SIs and SSNs. </a:t>
            </a:r>
          </a:p>
          <a:p>
            <a:r>
              <a:rPr lang="en-IN" dirty="0"/>
              <a:t>SCTP can support multiple streams, which means that the sender process can define different streams and a message can belong to one of these streams. </a:t>
            </a:r>
          </a:p>
          <a:p>
            <a:r>
              <a:rPr lang="en-IN" dirty="0"/>
              <a:t>Each stream is assigned a stream identifier (SI) which uniquely defines that stream.</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536170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err="1"/>
              <a:t>Multistream</a:t>
            </a:r>
            <a:r>
              <a:rPr lang="en-US" dirty="0"/>
              <a:t> Delivery</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However, SCTP supports two types of data delivery in each stream: </a:t>
            </a:r>
          </a:p>
          <a:p>
            <a:pPr lvl="1"/>
            <a:r>
              <a:rPr lang="en-IN" dirty="0"/>
              <a:t>ordered (default) </a:t>
            </a:r>
          </a:p>
          <a:p>
            <a:pPr lvl="1"/>
            <a:r>
              <a:rPr lang="en-IN" dirty="0"/>
              <a:t>and unordered. </a:t>
            </a:r>
          </a:p>
          <a:p>
            <a:r>
              <a:rPr lang="en-IN" dirty="0"/>
              <a:t>In ordered data delivery, data chunks in a stream use stream sequence numbers (SSNs) to define their order in the stream. When the chunks arrive at the destination, SCTP is responsible for message delivery according to the SSN defined in the chunk. This may delay the delivery because some chunks may arrive out of order. </a:t>
            </a:r>
          </a:p>
          <a:p>
            <a:r>
              <a:rPr lang="en-IN" dirty="0"/>
              <a:t>In unordered data delivery, the data chunks in a stream have the U flag set, but their SSN field value is ignored.</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8185159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err="1"/>
              <a:t>Multistream</a:t>
            </a:r>
            <a:r>
              <a:rPr lang="en-US" dirty="0"/>
              <a:t> Delivery</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In unordered data delivery, the data chunks in a stream have the U flag set, but their SSN field value is ignored. They do not consume SSNs. </a:t>
            </a:r>
          </a:p>
          <a:p>
            <a:r>
              <a:rPr lang="en-IN" dirty="0"/>
              <a:t>When an unordered data chunk arrives at the destination SCTP, it delivers the message carrying the chunk to the application without waiting for the other messages. </a:t>
            </a:r>
          </a:p>
          <a:p>
            <a:r>
              <a:rPr lang="en-IN" dirty="0"/>
              <a:t>Most of the time, applications use the ordered-delivery service, but occasionally some applications need to send urgent data that must be delivered out of order (recall the urgent data and urgent pointer facility of TCP). In these cases, the application can define the delivery as unordered.</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0312892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Fragmentation</a:t>
            </a:r>
          </a:p>
        </p:txBody>
      </p:sp>
      <p:sp>
        <p:nvSpPr>
          <p:cNvPr id="14" name="Content Placeholder 13"/>
          <p:cNvSpPr>
            <a:spLocks noGrp="1"/>
          </p:cNvSpPr>
          <p:nvPr>
            <p:ph idx="1"/>
          </p:nvPr>
        </p:nvSpPr>
        <p:spPr>
          <a:xfrm>
            <a:off x="1629916" y="1727056"/>
            <a:ext cx="10044606" cy="4267200"/>
          </a:xfrm>
        </p:spPr>
        <p:txBody>
          <a:bodyPr>
            <a:normAutofit/>
          </a:bodyPr>
          <a:lstStyle/>
          <a:p>
            <a:r>
              <a:rPr lang="en-IN" dirty="0"/>
              <a:t>Another issue in data transfer is fragmentation. </a:t>
            </a:r>
          </a:p>
          <a:p>
            <a:r>
              <a:rPr lang="en-IN" dirty="0"/>
              <a:t>Although SCTP shares this term with IP , fragmentation in IP and SCTP belong to different levels: the former at the network layer, the latter at the transport layer. </a:t>
            </a:r>
          </a:p>
          <a:p>
            <a:r>
              <a:rPr lang="en-IN" dirty="0"/>
              <a:t>SCTP preserves the boundaries of the message from process to process when creating a DATA chunk from a message if the size of the message (when encapsulated in an IP datagram) does not exceed the MTU  of the path. The size of an IP datagram carrying a message can be determined by adding the size of the message, in bytes, to the four overheads: data chunk header, necessary SACK chunks, SCTP general header, and IP header. If the total size exceeds the MTU, the message needs to be fragmented. </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9950354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Association Termination</a:t>
            </a:r>
          </a:p>
        </p:txBody>
      </p:sp>
      <p:pic>
        <p:nvPicPr>
          <p:cNvPr id="5" name="Content Placeholder 4">
            <a:extLst>
              <a:ext uri="{FF2B5EF4-FFF2-40B4-BE49-F238E27FC236}">
                <a16:creationId xmlns:a16="http://schemas.microsoft.com/office/drawing/2014/main" id="{575FF798-9CC4-5E94-815B-F075C58A75FB}"/>
              </a:ext>
            </a:extLst>
          </p:cNvPr>
          <p:cNvPicPr>
            <a:picLocks noGrp="1" noChangeAspect="1"/>
          </p:cNvPicPr>
          <p:nvPr>
            <p:ph idx="1"/>
          </p:nvPr>
        </p:nvPicPr>
        <p:blipFill rotWithShape="1">
          <a:blip r:embed="rId2"/>
          <a:srcRect l="38571" t="36506" r="13020" b="24682"/>
          <a:stretch/>
        </p:blipFill>
        <p:spPr>
          <a:xfrm>
            <a:off x="1845940" y="1916832"/>
            <a:ext cx="9129362" cy="3888432"/>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50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0755963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Association Termination</a:t>
            </a:r>
          </a:p>
        </p:txBody>
      </p:sp>
      <p:sp>
        <p:nvSpPr>
          <p:cNvPr id="14" name="Content Placeholder 13"/>
          <p:cNvSpPr>
            <a:spLocks noGrp="1"/>
          </p:cNvSpPr>
          <p:nvPr>
            <p:ph idx="1"/>
          </p:nvPr>
        </p:nvSpPr>
        <p:spPr>
          <a:xfrm>
            <a:off x="1629916" y="1727056"/>
            <a:ext cx="10044606" cy="4267200"/>
          </a:xfrm>
        </p:spPr>
        <p:txBody>
          <a:bodyPr>
            <a:normAutofit lnSpcReduction="10000"/>
          </a:bodyPr>
          <a:lstStyle/>
          <a:p>
            <a:r>
              <a:rPr lang="en-IN" dirty="0"/>
              <a:t>In SCTP, like TCP, either of the two parties involved in exchanging data (client or server) can close the connection. </a:t>
            </a:r>
          </a:p>
          <a:p>
            <a:r>
              <a:rPr lang="en-IN" dirty="0"/>
              <a:t>However, unlike TCP, SCTP does not allow a “</a:t>
            </a:r>
            <a:r>
              <a:rPr lang="en-IN" dirty="0" err="1"/>
              <a:t>halfclosed</a:t>
            </a:r>
            <a:r>
              <a:rPr lang="en-IN" dirty="0"/>
              <a:t>” association.</a:t>
            </a:r>
          </a:p>
          <a:p>
            <a:r>
              <a:rPr lang="en-IN" dirty="0"/>
              <a:t>If one end closes the association, the other end must stop sending new data. If any data are left over in the queue of the recipient of the termination request, they are sent and the association is closed. </a:t>
            </a:r>
          </a:p>
          <a:p>
            <a:r>
              <a:rPr lang="en-IN" dirty="0"/>
              <a:t>Association termination uses three packets, as shown in Figure(Previous Slides). </a:t>
            </a:r>
          </a:p>
          <a:p>
            <a:r>
              <a:rPr lang="en-IN" dirty="0"/>
              <a:t>Note that although the figure shows the case in which termination is initiated by the client, it can also be initiated by the server.</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51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8971648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52</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53</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1546</TotalTime>
  <Words>4322</Words>
  <Application>Microsoft Office PowerPoint</Application>
  <PresentationFormat>Custom</PresentationFormat>
  <Paragraphs>322</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Consolas</vt:lpstr>
      <vt:lpstr>Corbel</vt:lpstr>
      <vt:lpstr>Times-BoldItalic</vt:lpstr>
      <vt:lpstr>Times-Italic</vt:lpstr>
      <vt:lpstr>Chalkboard 16x9</vt:lpstr>
      <vt:lpstr>Advanced Computer Network  (4350706)  Unit-4 Transport Layer Protocols</vt:lpstr>
      <vt:lpstr>Topics to be discussed</vt:lpstr>
      <vt:lpstr>Introduction</vt:lpstr>
      <vt:lpstr>SCTP Services</vt:lpstr>
      <vt:lpstr>Process-to-Process Communication</vt:lpstr>
      <vt:lpstr>Multiple Streams</vt:lpstr>
      <vt:lpstr>Multiple Streams</vt:lpstr>
      <vt:lpstr>Multihoming</vt:lpstr>
      <vt:lpstr>Multihoming</vt:lpstr>
      <vt:lpstr>Multihoming</vt:lpstr>
      <vt:lpstr>Full Duplex Communication</vt:lpstr>
      <vt:lpstr>Connection Oriented Service</vt:lpstr>
      <vt:lpstr>Reliable Service</vt:lpstr>
      <vt:lpstr>SCTP Features</vt:lpstr>
      <vt:lpstr>Transmission Sequence Number</vt:lpstr>
      <vt:lpstr>Stream Identifier</vt:lpstr>
      <vt:lpstr>Stream Sequence Number (SSN)</vt:lpstr>
      <vt:lpstr>Packets</vt:lpstr>
      <vt:lpstr>Packets</vt:lpstr>
      <vt:lpstr>Packets</vt:lpstr>
      <vt:lpstr>Packets</vt:lpstr>
      <vt:lpstr>Packets</vt:lpstr>
      <vt:lpstr>Packets</vt:lpstr>
      <vt:lpstr>Acknowledgement Number</vt:lpstr>
      <vt:lpstr>Acknowledgement Number</vt:lpstr>
      <vt:lpstr>A Packet Format</vt:lpstr>
      <vt:lpstr>A Packet Format</vt:lpstr>
      <vt:lpstr>A Packet Format</vt:lpstr>
      <vt:lpstr>A Packet Format</vt:lpstr>
      <vt:lpstr>A Packet Format</vt:lpstr>
      <vt:lpstr>A Packet Format</vt:lpstr>
      <vt:lpstr>A Packet Format</vt:lpstr>
      <vt:lpstr>A Packet Format</vt:lpstr>
      <vt:lpstr>An SCTP Associations</vt:lpstr>
      <vt:lpstr>Association Establishment</vt:lpstr>
      <vt:lpstr>Association Establishment</vt:lpstr>
      <vt:lpstr>Association Establishment (Step – 1)</vt:lpstr>
      <vt:lpstr>Association Establishment (Step – 2)</vt:lpstr>
      <vt:lpstr>Association Establishment (Step – 3)</vt:lpstr>
      <vt:lpstr>Association Establishment (Step – 4)</vt:lpstr>
      <vt:lpstr>Data Transfer</vt:lpstr>
      <vt:lpstr>Data Transfer</vt:lpstr>
      <vt:lpstr>Data Transfer</vt:lpstr>
      <vt:lpstr>Data Transfer(Multihoming Data Transfer)</vt:lpstr>
      <vt:lpstr>Data Transfer(Multihoming Data Transfer)</vt:lpstr>
      <vt:lpstr>Multistream Delivery</vt:lpstr>
      <vt:lpstr>Multistream Delivery</vt:lpstr>
      <vt:lpstr>Multistream Delivery</vt:lpstr>
      <vt:lpstr>Fragmentation</vt:lpstr>
      <vt:lpstr>Association Termination</vt:lpstr>
      <vt:lpstr>Association Termination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29</cp:revision>
  <dcterms:created xsi:type="dcterms:W3CDTF">2023-08-27T07:27:45Z</dcterms:created>
  <dcterms:modified xsi:type="dcterms:W3CDTF">2023-10-28T12:13:38Z</dcterms:modified>
</cp:coreProperties>
</file>