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handoutMasterIdLst>
    <p:handoutMasterId r:id="rId24"/>
  </p:handoutMasterIdLst>
  <p:sldIdLst>
    <p:sldId id="256" r:id="rId2"/>
    <p:sldId id="257" r:id="rId3"/>
    <p:sldId id="315" r:id="rId4"/>
    <p:sldId id="316" r:id="rId5"/>
    <p:sldId id="317" r:id="rId6"/>
    <p:sldId id="318" r:id="rId7"/>
    <p:sldId id="319" r:id="rId8"/>
    <p:sldId id="327" r:id="rId9"/>
    <p:sldId id="320" r:id="rId10"/>
    <p:sldId id="321" r:id="rId11"/>
    <p:sldId id="322" r:id="rId12"/>
    <p:sldId id="323" r:id="rId13"/>
    <p:sldId id="324" r:id="rId14"/>
    <p:sldId id="328" r:id="rId15"/>
    <p:sldId id="325" r:id="rId16"/>
    <p:sldId id="326" r:id="rId17"/>
    <p:sldId id="329" r:id="rId18"/>
    <p:sldId id="330" r:id="rId19"/>
    <p:sldId id="331" r:id="rId20"/>
    <p:sldId id="305" r:id="rId21"/>
    <p:sldId id="304" r:id="rId22"/>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599" autoAdjust="0"/>
  </p:normalViewPr>
  <p:slideViewPr>
    <p:cSldViewPr>
      <p:cViewPr varScale="1">
        <p:scale>
          <a:sx n="82" d="100"/>
          <a:sy n="82" d="100"/>
        </p:scale>
        <p:origin x="629" y="72"/>
      </p:cViewPr>
      <p:guideLst>
        <p:guide pos="3839"/>
        <p:guide orient="horz" pos="2160"/>
      </p:guideLst>
    </p:cSldViewPr>
  </p:slideViewPr>
  <p:notesTextViewPr>
    <p:cViewPr>
      <p:scale>
        <a:sx n="1" d="1"/>
        <a:sy n="1" d="1"/>
      </p:scale>
      <p:origin x="0" y="0"/>
    </p:cViewPr>
  </p:notesTextViewPr>
  <p:notesViewPr>
    <p:cSldViewPr showGuides="1">
      <p:cViewPr varScale="1">
        <p:scale>
          <a:sx n="52" d="100"/>
          <a:sy n="52" d="100"/>
        </p:scale>
        <p:origin x="2664" y="3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8/31/2023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8/31/2023</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dirty="0"/>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IN"/>
              <a:t>Prepared By: Mr. Chetan C. Kamani, Lecturer computer department, GP, Jamnagar</a:t>
            </a:r>
            <a:endParaRPr/>
          </a:p>
        </p:txBody>
      </p:sp>
      <p:sp>
        <p:nvSpPr>
          <p:cNvPr id="7" name="Date Placeholder 6"/>
          <p:cNvSpPr>
            <a:spLocks noGrp="1"/>
          </p:cNvSpPr>
          <p:nvPr>
            <p:ph type="dt" sz="half" idx="10"/>
          </p:nvPr>
        </p:nvSpPr>
        <p:spPr/>
        <p:txBody>
          <a:bodyPr/>
          <a:lstStyle/>
          <a:p>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r>
              <a:rPr lang="en-IN"/>
              <a:t>Prepared By: Mr. Chetan C. Kamani, Lecturer computer department, GP, Jamnagar</a:t>
            </a:r>
            <a:endParaRPr/>
          </a:p>
        </p:txBody>
      </p:sp>
      <p:sp>
        <p:nvSpPr>
          <p:cNvPr id="3" name="Date Placeholder 2"/>
          <p:cNvSpPr>
            <a:spLocks noGrp="1"/>
          </p:cNvSpPr>
          <p:nvPr>
            <p:ph type="dt" sz="half" idx="10"/>
          </p:nvPr>
        </p:nvSpPr>
        <p:spPr/>
        <p:txBody>
          <a:bodyPr/>
          <a:lstStyle/>
          <a:p>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Prepared By: Mr. Chetan C. Kamani, Lecturer computer department, GP, Jamnagar</a:t>
            </a:r>
            <a:endParaRPr/>
          </a:p>
        </p:txBody>
      </p:sp>
      <p:sp>
        <p:nvSpPr>
          <p:cNvPr id="2" name="Date Placeholder 1"/>
          <p:cNvSpPr>
            <a:spLocks noGrp="1"/>
          </p:cNvSpPr>
          <p:nvPr>
            <p:ph type="dt" sz="half" idx="10"/>
          </p:nvPr>
        </p:nvSpPr>
        <p:spPr/>
        <p:txBody>
          <a:bodyPr/>
          <a:lstStyle/>
          <a:p>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IN"/>
              <a:t>Prepared By: Mr. Chetan C. Kamani, Lecturer computer department, GP, Jamnagar</a:t>
            </a:r>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4259" y="1754628"/>
            <a:ext cx="9144000" cy="2667000"/>
          </a:xfrm>
        </p:spPr>
        <p:txBody>
          <a:bodyPr/>
          <a:lstStyle/>
          <a:p>
            <a:pPr algn="ctr"/>
            <a:r>
              <a:rPr lang="en-US" sz="4000" dirty="0"/>
              <a:t>Advanced Computer Network </a:t>
            </a:r>
            <a:br>
              <a:rPr lang="en-US" sz="4000" dirty="0"/>
            </a:br>
            <a:r>
              <a:rPr lang="en-US" sz="4000" dirty="0"/>
              <a:t>(4350706)</a:t>
            </a:r>
            <a:br>
              <a:rPr lang="en-US" sz="4000" dirty="0"/>
            </a:br>
            <a:br>
              <a:rPr lang="en-US" sz="4000" dirty="0"/>
            </a:br>
            <a:r>
              <a:rPr lang="en-US" sz="4000" dirty="0"/>
              <a:t>Unit-1</a:t>
            </a:r>
            <a:br>
              <a:rPr lang="en-US" sz="4000" dirty="0"/>
            </a:br>
            <a:r>
              <a:rPr lang="en-US" sz="4000" dirty="0"/>
              <a:t>Network Layer Protocols </a:t>
            </a:r>
          </a:p>
        </p:txBody>
      </p:sp>
      <p:sp>
        <p:nvSpPr>
          <p:cNvPr id="3" name="Subtitle 2"/>
          <p:cNvSpPr>
            <a:spLocks noGrp="1"/>
          </p:cNvSpPr>
          <p:nvPr>
            <p:ph type="subTitle" idx="1"/>
          </p:nvPr>
        </p:nvSpPr>
        <p:spPr/>
        <p:txBody>
          <a:bodyPr>
            <a:normAutofit fontScale="62500" lnSpcReduction="20000"/>
          </a:bodyPr>
          <a:lstStyle/>
          <a:p>
            <a:pPr>
              <a:lnSpc>
                <a:spcPct val="120000"/>
              </a:lnSpc>
            </a:pPr>
            <a:r>
              <a:rPr lang="en-US" dirty="0"/>
              <a:t>Prepared By : </a:t>
            </a:r>
          </a:p>
          <a:p>
            <a:pPr>
              <a:lnSpc>
                <a:spcPct val="120000"/>
              </a:lnSpc>
            </a:pPr>
            <a:r>
              <a:rPr lang="en-US" dirty="0"/>
              <a:t>Mr. Chetan C. Kamani</a:t>
            </a:r>
          </a:p>
          <a:p>
            <a:pPr>
              <a:lnSpc>
                <a:spcPct val="120000"/>
              </a:lnSpc>
            </a:pPr>
            <a:r>
              <a:rPr lang="en-US" dirty="0"/>
              <a:t>Lecturer, Computer Engineering Department</a:t>
            </a:r>
          </a:p>
          <a:p>
            <a:pPr>
              <a:lnSpc>
                <a:spcPct val="120000"/>
              </a:lnSpc>
            </a:pPr>
            <a:r>
              <a:rPr lang="en-US" dirty="0"/>
              <a:t>Government Polytechnic, Jamnagar</a:t>
            </a:r>
          </a:p>
          <a:p>
            <a:pPr>
              <a:lnSpc>
                <a:spcPct val="120000"/>
              </a:lnSpc>
            </a:pPr>
            <a:endParaRPr lang="en-US" dirty="0"/>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Topics to be discussed</a:t>
            </a:r>
          </a:p>
        </p:txBody>
      </p:sp>
      <p:sp>
        <p:nvSpPr>
          <p:cNvPr id="14" name="Content Placeholder 13"/>
          <p:cNvSpPr>
            <a:spLocks noGrp="1"/>
          </p:cNvSpPr>
          <p:nvPr>
            <p:ph idx="1"/>
          </p:nvPr>
        </p:nvSpPr>
        <p:spPr/>
        <p:txBody>
          <a:bodyPr/>
          <a:lstStyle/>
          <a:p>
            <a:r>
              <a:rPr lang="en-US" dirty="0"/>
              <a:t>ICMPv4</a:t>
            </a:r>
          </a:p>
          <a:p>
            <a:pPr lvl="1"/>
            <a:r>
              <a:rPr lang="en-US" dirty="0"/>
              <a:t>Messages</a:t>
            </a:r>
          </a:p>
          <a:p>
            <a:pPr lvl="1"/>
            <a:r>
              <a:rPr lang="en-US" dirty="0"/>
              <a:t>Debugging tools</a:t>
            </a:r>
          </a:p>
          <a:p>
            <a:pPr lvl="1"/>
            <a:r>
              <a:rPr lang="en-US" dirty="0"/>
              <a:t>ICMP Checksum</a:t>
            </a:r>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2</a:t>
            </a:fld>
            <a:endParaRPr lang="en-IN" dirty="0"/>
          </a:p>
        </p:txBody>
      </p: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ICMPv4</a:t>
            </a:r>
          </a:p>
        </p:txBody>
      </p:sp>
      <p:sp>
        <p:nvSpPr>
          <p:cNvPr id="14" name="Content Placeholder 13"/>
          <p:cNvSpPr>
            <a:spLocks noGrp="1"/>
          </p:cNvSpPr>
          <p:nvPr>
            <p:ph idx="1"/>
          </p:nvPr>
        </p:nvSpPr>
        <p:spPr/>
        <p:txBody>
          <a:bodyPr/>
          <a:lstStyle/>
          <a:p>
            <a:r>
              <a:rPr lang="en-IN" dirty="0"/>
              <a:t>The IPv4 has no error-reporting or error-correcting mechanism.</a:t>
            </a:r>
          </a:p>
          <a:p>
            <a:pPr lvl="1"/>
            <a:r>
              <a:rPr lang="en-IN" dirty="0"/>
              <a:t>What happens if something goes wrong?</a:t>
            </a:r>
          </a:p>
          <a:p>
            <a:pPr lvl="1"/>
            <a:r>
              <a:rPr lang="en-IN" dirty="0"/>
              <a:t>What happens if a router must discard a datagram because it cannot find a route to the final destination, or because the time-to-live field has a zero value?</a:t>
            </a:r>
          </a:p>
          <a:p>
            <a:pPr lvl="1"/>
            <a:r>
              <a:rPr lang="en-IN" dirty="0"/>
              <a:t>What happens if the final destination host must discard the received fragments of a datagram because it has not received all fragments within a predetermined time limit?</a:t>
            </a:r>
            <a:endParaRPr lang="en-US" dirty="0"/>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3</a:t>
            </a:fld>
            <a:endParaRPr lang="en-IN" dirty="0"/>
          </a:p>
        </p:txBody>
      </p:sp>
    </p:spTree>
    <p:extLst>
      <p:ext uri="{BB962C8B-B14F-4D97-AF65-F5344CB8AC3E}">
        <p14:creationId xmlns:p14="http://schemas.microsoft.com/office/powerpoint/2010/main" val="41880111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ICMPv4</a:t>
            </a:r>
          </a:p>
        </p:txBody>
      </p:sp>
      <p:sp>
        <p:nvSpPr>
          <p:cNvPr id="14" name="Content Placeholder 13"/>
          <p:cNvSpPr>
            <a:spLocks noGrp="1"/>
          </p:cNvSpPr>
          <p:nvPr>
            <p:ph idx="1"/>
          </p:nvPr>
        </p:nvSpPr>
        <p:spPr/>
        <p:txBody>
          <a:bodyPr/>
          <a:lstStyle/>
          <a:p>
            <a:r>
              <a:rPr lang="en-IN" dirty="0"/>
              <a:t>These are examples of situations where an error has occurred, and the IP protocol has no built-in mechanism to notify the original host.</a:t>
            </a:r>
          </a:p>
          <a:p>
            <a:r>
              <a:rPr lang="en-IN" dirty="0"/>
              <a:t>The IP protocol also lacks a mechanism for host and management queries.</a:t>
            </a:r>
          </a:p>
          <a:p>
            <a:r>
              <a:rPr lang="en-IN" dirty="0"/>
              <a:t>A host sometimes needs to determine if a router or another host is alive. And sometimes a network manager needs information from another host or router.</a:t>
            </a:r>
          </a:p>
          <a:p>
            <a:r>
              <a:rPr lang="en-IN" dirty="0"/>
              <a:t>The Internet Control Message Protocol version 4 (ICMPv4) has been designed to compensate for the above two deficiencies.</a:t>
            </a:r>
            <a:endParaRPr lang="en-US" dirty="0"/>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4</a:t>
            </a:fld>
            <a:endParaRPr lang="en-IN" dirty="0"/>
          </a:p>
        </p:txBody>
      </p:sp>
    </p:spTree>
    <p:extLst>
      <p:ext uri="{BB962C8B-B14F-4D97-AF65-F5344CB8AC3E}">
        <p14:creationId xmlns:p14="http://schemas.microsoft.com/office/powerpoint/2010/main" val="35837160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ICMPv4</a:t>
            </a:r>
          </a:p>
        </p:txBody>
      </p:sp>
      <p:sp>
        <p:nvSpPr>
          <p:cNvPr id="14" name="Content Placeholder 13"/>
          <p:cNvSpPr>
            <a:spLocks noGrp="1"/>
          </p:cNvSpPr>
          <p:nvPr>
            <p:ph idx="1"/>
          </p:nvPr>
        </p:nvSpPr>
        <p:spPr/>
        <p:txBody>
          <a:bodyPr/>
          <a:lstStyle/>
          <a:p>
            <a:r>
              <a:rPr lang="en-IN" dirty="0"/>
              <a:t>It is a companion to the IP protocol.</a:t>
            </a:r>
          </a:p>
          <a:p>
            <a:r>
              <a:rPr lang="en-IN" dirty="0"/>
              <a:t>ICMP itself is a network-layer protocol. </a:t>
            </a:r>
          </a:p>
          <a:p>
            <a:r>
              <a:rPr lang="en-IN" dirty="0"/>
              <a:t>However, its messages are not passed directly to the data-link layer as would be expected. Instead, the messages are first encapsulated inside IP datagrams before going to the lower layer. When an IP datagram encapsulates an ICMP message, the value of the protocol field in the IP datagram is set to 1 to indicate that the IP payroll is an ICMP message.</a:t>
            </a:r>
            <a:endParaRPr lang="en-US" dirty="0"/>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5</a:t>
            </a:fld>
            <a:endParaRPr lang="en-IN" dirty="0"/>
          </a:p>
        </p:txBody>
      </p:sp>
    </p:spTree>
    <p:extLst>
      <p:ext uri="{BB962C8B-B14F-4D97-AF65-F5344CB8AC3E}">
        <p14:creationId xmlns:p14="http://schemas.microsoft.com/office/powerpoint/2010/main" val="33220835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Messages</a:t>
            </a:r>
          </a:p>
        </p:txBody>
      </p:sp>
      <p:sp>
        <p:nvSpPr>
          <p:cNvPr id="14" name="Content Placeholder 13"/>
          <p:cNvSpPr>
            <a:spLocks noGrp="1"/>
          </p:cNvSpPr>
          <p:nvPr>
            <p:ph idx="1"/>
          </p:nvPr>
        </p:nvSpPr>
        <p:spPr/>
        <p:txBody>
          <a:bodyPr/>
          <a:lstStyle/>
          <a:p>
            <a:r>
              <a:rPr lang="en-IN" dirty="0"/>
              <a:t>ICMP messages are divided into two broad categories:</a:t>
            </a:r>
          </a:p>
          <a:p>
            <a:pPr lvl="1"/>
            <a:r>
              <a:rPr lang="en-IN" dirty="0"/>
              <a:t>Error-reporting messages</a:t>
            </a:r>
          </a:p>
          <a:p>
            <a:pPr lvl="1"/>
            <a:r>
              <a:rPr lang="en-IN" dirty="0"/>
              <a:t>Query messages.</a:t>
            </a:r>
          </a:p>
          <a:p>
            <a:r>
              <a:rPr lang="en-IN" dirty="0"/>
              <a:t>The error-reporting messages report problems that a router or a host (destination) may encounter when it processes an IP packet.</a:t>
            </a:r>
          </a:p>
          <a:p>
            <a:r>
              <a:rPr lang="en-IN" dirty="0"/>
              <a:t>The query messages, which occur in pairs, help a host or a network manager get specific information from a router or another host.</a:t>
            </a:r>
            <a:endParaRPr lang="en-US" dirty="0"/>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6</a:t>
            </a:fld>
            <a:endParaRPr lang="en-IN" dirty="0"/>
          </a:p>
        </p:txBody>
      </p:sp>
    </p:spTree>
    <p:extLst>
      <p:ext uri="{BB962C8B-B14F-4D97-AF65-F5344CB8AC3E}">
        <p14:creationId xmlns:p14="http://schemas.microsoft.com/office/powerpoint/2010/main" val="31031685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Messages</a:t>
            </a:r>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7</a:t>
            </a:fld>
            <a:endParaRPr lang="en-IN" dirty="0"/>
          </a:p>
        </p:txBody>
      </p:sp>
      <p:pic>
        <p:nvPicPr>
          <p:cNvPr id="5" name="Picture 4">
            <a:extLst>
              <a:ext uri="{FF2B5EF4-FFF2-40B4-BE49-F238E27FC236}">
                <a16:creationId xmlns:a16="http://schemas.microsoft.com/office/drawing/2014/main" id="{A5F3ED63-A07E-FD74-397B-0E66789C8F66}"/>
              </a:ext>
            </a:extLst>
          </p:cNvPr>
          <p:cNvPicPr>
            <a:picLocks noChangeAspect="1"/>
          </p:cNvPicPr>
          <p:nvPr/>
        </p:nvPicPr>
        <p:blipFill rotWithShape="1">
          <a:blip r:embed="rId2"/>
          <a:srcRect l="34049" t="35543" r="21052" b="24423"/>
          <a:stretch/>
        </p:blipFill>
        <p:spPr>
          <a:xfrm>
            <a:off x="1948407" y="1772816"/>
            <a:ext cx="9121015" cy="4320480"/>
          </a:xfrm>
          <a:prstGeom prst="rect">
            <a:avLst/>
          </a:prstGeom>
        </p:spPr>
      </p:pic>
    </p:spTree>
    <p:extLst>
      <p:ext uri="{BB962C8B-B14F-4D97-AF65-F5344CB8AC3E}">
        <p14:creationId xmlns:p14="http://schemas.microsoft.com/office/powerpoint/2010/main" val="13605709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Error Reporting Messages</a:t>
            </a:r>
          </a:p>
        </p:txBody>
      </p:sp>
      <p:sp>
        <p:nvSpPr>
          <p:cNvPr id="14" name="Content Placeholder 13"/>
          <p:cNvSpPr>
            <a:spLocks noGrp="1"/>
          </p:cNvSpPr>
          <p:nvPr>
            <p:ph idx="1"/>
          </p:nvPr>
        </p:nvSpPr>
        <p:spPr/>
        <p:txBody>
          <a:bodyPr/>
          <a:lstStyle/>
          <a:p>
            <a:r>
              <a:rPr lang="en-US" dirty="0"/>
              <a:t>Destination Unreachable</a:t>
            </a:r>
          </a:p>
          <a:p>
            <a:r>
              <a:rPr lang="en-US" dirty="0"/>
              <a:t>Source Quench</a:t>
            </a:r>
          </a:p>
          <a:p>
            <a:r>
              <a:rPr lang="en-US" dirty="0"/>
              <a:t>Redirection Message</a:t>
            </a:r>
          </a:p>
          <a:p>
            <a:r>
              <a:rPr lang="en-US" dirty="0"/>
              <a:t>Time Exceed Message</a:t>
            </a:r>
          </a:p>
          <a:p>
            <a:r>
              <a:rPr lang="en-US" dirty="0"/>
              <a:t>Parameter Problem</a:t>
            </a:r>
          </a:p>
          <a:p>
            <a:endParaRPr lang="en-US" dirty="0"/>
          </a:p>
          <a:p>
            <a:endParaRPr lang="en-US" dirty="0"/>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8</a:t>
            </a:fld>
            <a:endParaRPr lang="en-IN" dirty="0"/>
          </a:p>
        </p:txBody>
      </p:sp>
    </p:spTree>
    <p:extLst>
      <p:ext uri="{BB962C8B-B14F-4D97-AF65-F5344CB8AC3E}">
        <p14:creationId xmlns:p14="http://schemas.microsoft.com/office/powerpoint/2010/main" val="16743527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Destination Unreachable</a:t>
            </a:r>
          </a:p>
        </p:txBody>
      </p:sp>
      <p:sp>
        <p:nvSpPr>
          <p:cNvPr id="14" name="Content Placeholder 13"/>
          <p:cNvSpPr>
            <a:spLocks noGrp="1"/>
          </p:cNvSpPr>
          <p:nvPr>
            <p:ph idx="1"/>
          </p:nvPr>
        </p:nvSpPr>
        <p:spPr/>
        <p:txBody>
          <a:bodyPr/>
          <a:lstStyle/>
          <a:p>
            <a:r>
              <a:rPr lang="en-IN" dirty="0"/>
              <a:t>The most widely used error message is the destination unreachable (type 3).</a:t>
            </a:r>
          </a:p>
          <a:p>
            <a:r>
              <a:rPr lang="en-IN" dirty="0"/>
              <a:t>This message uses different codes (0 to 15) to define the type of error message and the reason why a datagram has not reached its final destination.</a:t>
            </a:r>
          </a:p>
          <a:p>
            <a:r>
              <a:rPr lang="en-IN" dirty="0"/>
              <a:t>For example, code 0 tells the source that a host is unreachable. This may happen, for example, when we use the HTTP protocol to access a web page, but the server is down. The message “destination host is not reachable” is created and sent back to the source.</a:t>
            </a:r>
            <a:endParaRPr lang="en-US" dirty="0"/>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9</a:t>
            </a:fld>
            <a:endParaRPr lang="en-IN" dirty="0"/>
          </a:p>
        </p:txBody>
      </p:sp>
    </p:spTree>
    <p:extLst>
      <p:ext uri="{BB962C8B-B14F-4D97-AF65-F5344CB8AC3E}">
        <p14:creationId xmlns:p14="http://schemas.microsoft.com/office/powerpoint/2010/main" val="27689238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Source Quench</a:t>
            </a:r>
          </a:p>
        </p:txBody>
      </p:sp>
      <p:sp>
        <p:nvSpPr>
          <p:cNvPr id="14" name="Content Placeholder 13"/>
          <p:cNvSpPr>
            <a:spLocks noGrp="1"/>
          </p:cNvSpPr>
          <p:nvPr>
            <p:ph idx="1"/>
          </p:nvPr>
        </p:nvSpPr>
        <p:spPr/>
        <p:txBody>
          <a:bodyPr/>
          <a:lstStyle/>
          <a:p>
            <a:r>
              <a:rPr lang="en-IN" dirty="0"/>
              <a:t>The source quench (type 4) message, which informs the sender that the network has encountered congestion and the datagram has been dropped; the source needs to slow down sending more datagrams.</a:t>
            </a:r>
          </a:p>
          <a:p>
            <a:r>
              <a:rPr lang="en-IN" dirty="0"/>
              <a:t>In other words, ICMP adds a kind of congestion control mechanism to the IP protocol by using this type of message.</a:t>
            </a:r>
            <a:endParaRPr lang="en-US" dirty="0"/>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10</a:t>
            </a:fld>
            <a:endParaRPr lang="en-IN" dirty="0"/>
          </a:p>
        </p:txBody>
      </p:sp>
    </p:spTree>
    <p:extLst>
      <p:ext uri="{BB962C8B-B14F-4D97-AF65-F5344CB8AC3E}">
        <p14:creationId xmlns:p14="http://schemas.microsoft.com/office/powerpoint/2010/main" val="4127103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Redirection Message</a:t>
            </a:r>
          </a:p>
        </p:txBody>
      </p:sp>
      <p:sp>
        <p:nvSpPr>
          <p:cNvPr id="14" name="Content Placeholder 13"/>
          <p:cNvSpPr>
            <a:spLocks noGrp="1"/>
          </p:cNvSpPr>
          <p:nvPr>
            <p:ph idx="1"/>
          </p:nvPr>
        </p:nvSpPr>
        <p:spPr/>
        <p:txBody>
          <a:bodyPr/>
          <a:lstStyle/>
          <a:p>
            <a:r>
              <a:rPr lang="en-IN" dirty="0"/>
              <a:t>The redirection message (type 5) is used when the source uses a wrong router to send out its message.</a:t>
            </a:r>
          </a:p>
          <a:p>
            <a:r>
              <a:rPr lang="en-IN" dirty="0"/>
              <a:t>The router redirects the message to the appropriate router, but informs the source that it needs to change its default router in the future.</a:t>
            </a:r>
          </a:p>
          <a:p>
            <a:r>
              <a:rPr lang="en-IN" dirty="0"/>
              <a:t>The IP address of the default router is sent in the message.</a:t>
            </a:r>
            <a:endParaRPr lang="en-US" dirty="0"/>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11</a:t>
            </a:fld>
            <a:endParaRPr lang="en-IN" dirty="0"/>
          </a:p>
        </p:txBody>
      </p:sp>
    </p:spTree>
    <p:extLst>
      <p:ext uri="{BB962C8B-B14F-4D97-AF65-F5344CB8AC3E}">
        <p14:creationId xmlns:p14="http://schemas.microsoft.com/office/powerpoint/2010/main" val="5789011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Time Exceed Message</a:t>
            </a:r>
          </a:p>
        </p:txBody>
      </p:sp>
      <p:sp>
        <p:nvSpPr>
          <p:cNvPr id="14" name="Content Placeholder 13"/>
          <p:cNvSpPr>
            <a:spLocks noGrp="1"/>
          </p:cNvSpPr>
          <p:nvPr>
            <p:ph idx="1"/>
          </p:nvPr>
        </p:nvSpPr>
        <p:spPr/>
        <p:txBody>
          <a:bodyPr/>
          <a:lstStyle/>
          <a:p>
            <a:r>
              <a:rPr lang="en-IN" dirty="0"/>
              <a:t>When the TTL value becomes 0, the datagram is dropped by the visiting router and a time exceeded message (type 11) with code 0 is sent to the source to inform it about the situation.</a:t>
            </a:r>
          </a:p>
          <a:p>
            <a:r>
              <a:rPr lang="en-IN" dirty="0"/>
              <a:t>The time-exceeded message (with code 1) can also be sent when not all fragments of a datagram arrive within a predefined period of time.</a:t>
            </a:r>
            <a:endParaRPr lang="en-US" dirty="0"/>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12</a:t>
            </a:fld>
            <a:endParaRPr lang="en-IN" dirty="0"/>
          </a:p>
        </p:txBody>
      </p:sp>
    </p:spTree>
    <p:extLst>
      <p:ext uri="{BB962C8B-B14F-4D97-AF65-F5344CB8AC3E}">
        <p14:creationId xmlns:p14="http://schemas.microsoft.com/office/powerpoint/2010/main" val="39728493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Parameter Problem</a:t>
            </a:r>
          </a:p>
        </p:txBody>
      </p:sp>
      <p:sp>
        <p:nvSpPr>
          <p:cNvPr id="14" name="Content Placeholder 13"/>
          <p:cNvSpPr>
            <a:spLocks noGrp="1"/>
          </p:cNvSpPr>
          <p:nvPr>
            <p:ph idx="1"/>
          </p:nvPr>
        </p:nvSpPr>
        <p:spPr/>
        <p:txBody>
          <a:bodyPr/>
          <a:lstStyle/>
          <a:p>
            <a:r>
              <a:rPr lang="en-IN" dirty="0"/>
              <a:t>A parameter problem message (type 12) can be sent when either there is a problem in the header of a datagram (code 0) or some options are missing or cannot be interpreted (code 1).</a:t>
            </a:r>
            <a:endParaRPr lang="en-US" dirty="0"/>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13</a:t>
            </a:fld>
            <a:endParaRPr lang="en-IN" dirty="0"/>
          </a:p>
        </p:txBody>
      </p:sp>
    </p:spTree>
    <p:extLst>
      <p:ext uri="{BB962C8B-B14F-4D97-AF65-F5344CB8AC3E}">
        <p14:creationId xmlns:p14="http://schemas.microsoft.com/office/powerpoint/2010/main" val="25624789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Query Messages</a:t>
            </a:r>
          </a:p>
        </p:txBody>
      </p:sp>
      <p:sp>
        <p:nvSpPr>
          <p:cNvPr id="14" name="Content Placeholder 13"/>
          <p:cNvSpPr>
            <a:spLocks noGrp="1"/>
          </p:cNvSpPr>
          <p:nvPr>
            <p:ph idx="1"/>
          </p:nvPr>
        </p:nvSpPr>
        <p:spPr/>
        <p:txBody>
          <a:bodyPr/>
          <a:lstStyle/>
          <a:p>
            <a:r>
              <a:rPr lang="en-US" dirty="0"/>
              <a:t>Echo request and echo reply</a:t>
            </a:r>
          </a:p>
          <a:p>
            <a:r>
              <a:rPr lang="en-IN" dirty="0"/>
              <a:t>The timestamp request (type 13) and the timestamp reply (type 14)</a:t>
            </a:r>
            <a:endParaRPr lang="en-US" dirty="0"/>
          </a:p>
          <a:p>
            <a:endParaRPr lang="en-US" dirty="0"/>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14</a:t>
            </a:fld>
            <a:endParaRPr lang="en-IN" dirty="0"/>
          </a:p>
        </p:txBody>
      </p:sp>
    </p:spTree>
    <p:extLst>
      <p:ext uri="{BB962C8B-B14F-4D97-AF65-F5344CB8AC3E}">
        <p14:creationId xmlns:p14="http://schemas.microsoft.com/office/powerpoint/2010/main" val="22338096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Echo request and echo reply</a:t>
            </a:r>
          </a:p>
        </p:txBody>
      </p:sp>
      <p:sp>
        <p:nvSpPr>
          <p:cNvPr id="14" name="Content Placeholder 13"/>
          <p:cNvSpPr>
            <a:spLocks noGrp="1"/>
          </p:cNvSpPr>
          <p:nvPr>
            <p:ph idx="1"/>
          </p:nvPr>
        </p:nvSpPr>
        <p:spPr/>
        <p:txBody>
          <a:bodyPr/>
          <a:lstStyle/>
          <a:p>
            <a:r>
              <a:rPr lang="en-IN" dirty="0"/>
              <a:t>The echo request (type 8) and the echo reply (type 0) pair of messages are used by a host or a router to test the liveliness of another host or router.</a:t>
            </a:r>
          </a:p>
          <a:p>
            <a:r>
              <a:rPr lang="en-IN" dirty="0"/>
              <a:t>A host or router sends an echo request message to another host or router; if the latter is alive, it responds with an echo reply message.</a:t>
            </a:r>
            <a:endParaRPr lang="en-US" dirty="0"/>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15</a:t>
            </a:fld>
            <a:endParaRPr lang="en-IN" dirty="0"/>
          </a:p>
        </p:txBody>
      </p:sp>
    </p:spTree>
    <p:extLst>
      <p:ext uri="{BB962C8B-B14F-4D97-AF65-F5344CB8AC3E}">
        <p14:creationId xmlns:p14="http://schemas.microsoft.com/office/powerpoint/2010/main" val="23689069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IN" dirty="0"/>
              <a:t>The timestamp request (type 13) and the timestamp reply (type 14)</a:t>
            </a:r>
            <a:endParaRPr lang="en-US" dirty="0"/>
          </a:p>
        </p:txBody>
      </p:sp>
      <p:sp>
        <p:nvSpPr>
          <p:cNvPr id="14" name="Content Placeholder 13"/>
          <p:cNvSpPr>
            <a:spLocks noGrp="1"/>
          </p:cNvSpPr>
          <p:nvPr>
            <p:ph idx="1"/>
          </p:nvPr>
        </p:nvSpPr>
        <p:spPr/>
        <p:txBody>
          <a:bodyPr>
            <a:normAutofit lnSpcReduction="10000"/>
          </a:bodyPr>
          <a:lstStyle/>
          <a:p>
            <a:r>
              <a:rPr lang="en-IN" dirty="0"/>
              <a:t>The timestamp request (type 13) and the timestamp reply (type 14)pair of messages are used to find the round-trip time between two devices or to check whether the clocks in two devices are synchronized.</a:t>
            </a:r>
          </a:p>
          <a:p>
            <a:r>
              <a:rPr lang="en-IN" dirty="0"/>
              <a:t>The timestamp request message sends a 32-bit number, which defines the time the message is sent.</a:t>
            </a:r>
          </a:p>
          <a:p>
            <a:r>
              <a:rPr lang="en-IN" dirty="0"/>
              <a:t>The timestamp reply resends that number, but also includes two new 32-bit numbers representing the time the request was received and the time the response was sent.</a:t>
            </a:r>
          </a:p>
          <a:p>
            <a:r>
              <a:rPr lang="en-IN" dirty="0"/>
              <a:t>If all timestamps represent Universal time, the sender can calculate the one-way and round-trip time.</a:t>
            </a:r>
            <a:endParaRPr lang="en-US" dirty="0"/>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16</a:t>
            </a:fld>
            <a:endParaRPr lang="en-IN" dirty="0"/>
          </a:p>
        </p:txBody>
      </p:sp>
    </p:spTree>
    <p:extLst>
      <p:ext uri="{BB962C8B-B14F-4D97-AF65-F5344CB8AC3E}">
        <p14:creationId xmlns:p14="http://schemas.microsoft.com/office/powerpoint/2010/main" val="10200578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IN" dirty="0"/>
              <a:t>Deprecated Messages</a:t>
            </a:r>
            <a:endParaRPr lang="en-US" dirty="0"/>
          </a:p>
        </p:txBody>
      </p:sp>
      <p:sp>
        <p:nvSpPr>
          <p:cNvPr id="14" name="Content Placeholder 13"/>
          <p:cNvSpPr>
            <a:spLocks noGrp="1"/>
          </p:cNvSpPr>
          <p:nvPr>
            <p:ph idx="1"/>
          </p:nvPr>
        </p:nvSpPr>
        <p:spPr/>
        <p:txBody>
          <a:bodyPr>
            <a:normAutofit/>
          </a:bodyPr>
          <a:lstStyle/>
          <a:p>
            <a:r>
              <a:rPr lang="en-IN" dirty="0"/>
              <a:t>Three pairs of messages are declared obsolete by IETF:</a:t>
            </a:r>
          </a:p>
          <a:p>
            <a:r>
              <a:rPr lang="en-IN" dirty="0"/>
              <a:t>Information request and replay messages are not used today because their duties are done by the Address Resolution Protocol (ARP).</a:t>
            </a:r>
          </a:p>
          <a:p>
            <a:r>
              <a:rPr lang="en-IN" dirty="0"/>
              <a:t>Address mask request and reply messages are not used today because their duties are done by the Dynamic Host Configuration Protocol (DHCP).</a:t>
            </a:r>
          </a:p>
          <a:p>
            <a:r>
              <a:rPr lang="en-IN" dirty="0"/>
              <a:t>Router solicitation and advertisement messages are not used today because their duties are done by the Dynamic Host Configuration Protocol (DHCP).</a:t>
            </a:r>
            <a:endParaRPr lang="en-US" dirty="0"/>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17</a:t>
            </a:fld>
            <a:endParaRPr lang="en-IN" dirty="0"/>
          </a:p>
        </p:txBody>
      </p:sp>
    </p:spTree>
    <p:extLst>
      <p:ext uri="{BB962C8B-B14F-4D97-AF65-F5344CB8AC3E}">
        <p14:creationId xmlns:p14="http://schemas.microsoft.com/office/powerpoint/2010/main" val="35298214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IN" dirty="0"/>
              <a:t>Debugging Tools</a:t>
            </a:r>
            <a:endParaRPr lang="en-US" dirty="0"/>
          </a:p>
        </p:txBody>
      </p:sp>
      <p:sp>
        <p:nvSpPr>
          <p:cNvPr id="14" name="Content Placeholder 13"/>
          <p:cNvSpPr>
            <a:spLocks noGrp="1"/>
          </p:cNvSpPr>
          <p:nvPr>
            <p:ph idx="1"/>
          </p:nvPr>
        </p:nvSpPr>
        <p:spPr/>
        <p:txBody>
          <a:bodyPr>
            <a:normAutofit/>
          </a:bodyPr>
          <a:lstStyle/>
          <a:p>
            <a:r>
              <a:rPr lang="en-IN" dirty="0"/>
              <a:t>There are several tools that can be used in the Internet for debugging.</a:t>
            </a:r>
          </a:p>
          <a:p>
            <a:r>
              <a:rPr lang="en-IN" dirty="0"/>
              <a:t>We can determine the viability of a host or router.</a:t>
            </a:r>
          </a:p>
          <a:p>
            <a:r>
              <a:rPr lang="en-IN" dirty="0"/>
              <a:t>We can trace the route of a packet.</a:t>
            </a:r>
          </a:p>
          <a:p>
            <a:r>
              <a:rPr lang="en-IN" dirty="0"/>
              <a:t>We introduce two tools that use ICMP for debugging:</a:t>
            </a:r>
          </a:p>
          <a:p>
            <a:pPr lvl="1"/>
            <a:r>
              <a:rPr lang="en-IN" dirty="0"/>
              <a:t>ping</a:t>
            </a:r>
          </a:p>
          <a:p>
            <a:pPr lvl="1"/>
            <a:r>
              <a:rPr lang="en-IN" dirty="0"/>
              <a:t>Traceroute or </a:t>
            </a:r>
            <a:r>
              <a:rPr lang="en-IN" dirty="0" err="1"/>
              <a:t>tracert</a:t>
            </a:r>
            <a:r>
              <a:rPr lang="en-IN" dirty="0"/>
              <a:t>.</a:t>
            </a:r>
            <a:endParaRPr lang="en-US" dirty="0"/>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18</a:t>
            </a:fld>
            <a:endParaRPr lang="en-IN" dirty="0"/>
          </a:p>
        </p:txBody>
      </p:sp>
    </p:spTree>
    <p:extLst>
      <p:ext uri="{BB962C8B-B14F-4D97-AF65-F5344CB8AC3E}">
        <p14:creationId xmlns:p14="http://schemas.microsoft.com/office/powerpoint/2010/main" val="24975026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IN" dirty="0"/>
              <a:t>ICMP Checksum</a:t>
            </a:r>
            <a:endParaRPr lang="en-US" dirty="0"/>
          </a:p>
        </p:txBody>
      </p:sp>
      <p:sp>
        <p:nvSpPr>
          <p:cNvPr id="14" name="Content Placeholder 13"/>
          <p:cNvSpPr>
            <a:spLocks noGrp="1"/>
          </p:cNvSpPr>
          <p:nvPr>
            <p:ph idx="1"/>
          </p:nvPr>
        </p:nvSpPr>
        <p:spPr/>
        <p:txBody>
          <a:bodyPr>
            <a:normAutofit/>
          </a:bodyPr>
          <a:lstStyle/>
          <a:p>
            <a:r>
              <a:rPr lang="en-IN" dirty="0"/>
              <a:t>In ICMP the checksum is calculated over the entire message (header and data).</a:t>
            </a:r>
            <a:endParaRPr lang="en-US" dirty="0"/>
          </a:p>
        </p:txBody>
      </p:sp>
      <p:sp>
        <p:nvSpPr>
          <p:cNvPr id="2" name="Footer Placeholder 1">
            <a:extLst>
              <a:ext uri="{FF2B5EF4-FFF2-40B4-BE49-F238E27FC236}">
                <a16:creationId xmlns:a16="http://schemas.microsoft.com/office/drawing/2014/main" id="{970571D0-7C10-975F-2E3C-2C9411B4883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69C5419-DDF8-E05A-2DFF-959AB86276C8}"/>
              </a:ext>
            </a:extLst>
          </p:cNvPr>
          <p:cNvSpPr>
            <a:spLocks noGrp="1"/>
          </p:cNvSpPr>
          <p:nvPr>
            <p:ph type="sldNum" sz="quarter" idx="12"/>
          </p:nvPr>
        </p:nvSpPr>
        <p:spPr/>
        <p:txBody>
          <a:bodyPr/>
          <a:lstStyle/>
          <a:p>
            <a:fld id="{25BA54BD-C84D-46CE-8B72-31BFB26ABA43}" type="slidenum">
              <a:rPr lang="en-IN" smtClean="0"/>
              <a:t>19</a:t>
            </a:fld>
            <a:endParaRPr lang="en-IN" dirty="0"/>
          </a:p>
        </p:txBody>
      </p:sp>
    </p:spTree>
    <p:extLst>
      <p:ext uri="{BB962C8B-B14F-4D97-AF65-F5344CB8AC3E}">
        <p14:creationId xmlns:p14="http://schemas.microsoft.com/office/powerpoint/2010/main" val="31667263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CEA67-3E49-4E7D-7A98-16AF0A7AE2D0}"/>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628D34CA-3057-3B29-235C-391804E572D6}"/>
              </a:ext>
            </a:extLst>
          </p:cNvPr>
          <p:cNvSpPr>
            <a:spLocks noGrp="1"/>
          </p:cNvSpPr>
          <p:nvPr>
            <p:ph idx="1"/>
          </p:nvPr>
        </p:nvSpPr>
        <p:spPr>
          <a:xfrm>
            <a:off x="1522414" y="1905000"/>
            <a:ext cx="9972598" cy="4267200"/>
          </a:xfrm>
        </p:spPr>
        <p:txBody>
          <a:bodyPr/>
          <a:lstStyle/>
          <a:p>
            <a:r>
              <a:rPr lang="en-IN" dirty="0"/>
              <a:t>Data Communication and Networking, Fifth Edition, BEHROUZ A. FOROUZAN</a:t>
            </a:r>
          </a:p>
          <a:p>
            <a:r>
              <a:rPr lang="en-IN" dirty="0"/>
              <a:t>Data Communication and Networking, Fourth Edition, BEHROUZAN A. FOROUZA</a:t>
            </a:r>
          </a:p>
          <a:p>
            <a:r>
              <a:rPr lang="en-IN" dirty="0"/>
              <a:t>https://www.geeksforgeeks.org/introduction-of-classful-ip-addressing/</a:t>
            </a:r>
          </a:p>
        </p:txBody>
      </p:sp>
      <p:sp>
        <p:nvSpPr>
          <p:cNvPr id="4" name="Slide Number Placeholder 3">
            <a:extLst>
              <a:ext uri="{FF2B5EF4-FFF2-40B4-BE49-F238E27FC236}">
                <a16:creationId xmlns:a16="http://schemas.microsoft.com/office/drawing/2014/main" id="{CC2B7138-204E-E4B0-95AD-9C0A1E5E2757}"/>
              </a:ext>
            </a:extLst>
          </p:cNvPr>
          <p:cNvSpPr>
            <a:spLocks noGrp="1"/>
          </p:cNvSpPr>
          <p:nvPr>
            <p:ph type="sldNum" sz="quarter" idx="12"/>
          </p:nvPr>
        </p:nvSpPr>
        <p:spPr/>
        <p:txBody>
          <a:bodyPr/>
          <a:lstStyle/>
          <a:p>
            <a:fld id="{25BA54BD-C84D-46CE-8B72-31BFB26ABA43}" type="slidenum">
              <a:rPr lang="en-IN" smtClean="0"/>
              <a:t>20</a:t>
            </a:fld>
            <a:endParaRPr lang="en-IN" dirty="0"/>
          </a:p>
        </p:txBody>
      </p:sp>
      <p:sp>
        <p:nvSpPr>
          <p:cNvPr id="5" name="Footer Placeholder 4">
            <a:extLst>
              <a:ext uri="{FF2B5EF4-FFF2-40B4-BE49-F238E27FC236}">
                <a16:creationId xmlns:a16="http://schemas.microsoft.com/office/drawing/2014/main" id="{AFA4CB0E-E2D9-6205-4A43-3F8B6BE7281F}"/>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79521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47610-DBBD-DB92-3D84-C72F837108B4}"/>
              </a:ext>
            </a:extLst>
          </p:cNvPr>
          <p:cNvSpPr/>
          <p:nvPr/>
        </p:nvSpPr>
        <p:spPr>
          <a:xfrm>
            <a:off x="3043046" y="2852936"/>
            <a:ext cx="6102732" cy="1446550"/>
          </a:xfrm>
          <a:prstGeom prst="rect">
            <a:avLst/>
          </a:prstGeom>
          <a:noFill/>
        </p:spPr>
        <p:txBody>
          <a:bodyPr wrap="square" lIns="91440" tIns="45720" rIns="91440" bIns="45720">
            <a:spAutoFit/>
          </a:bodyPr>
          <a:lstStyle/>
          <a:p>
            <a:pPr algn="ctr"/>
            <a:r>
              <a:rPr lang="en-US" sz="8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Thank You</a:t>
            </a:r>
          </a:p>
        </p:txBody>
      </p:sp>
      <p:sp>
        <p:nvSpPr>
          <p:cNvPr id="3" name="Slide Number Placeholder 2">
            <a:extLst>
              <a:ext uri="{FF2B5EF4-FFF2-40B4-BE49-F238E27FC236}">
                <a16:creationId xmlns:a16="http://schemas.microsoft.com/office/drawing/2014/main" id="{F7CE38C1-8290-85FE-30CB-97B4DF97642A}"/>
              </a:ext>
            </a:extLst>
          </p:cNvPr>
          <p:cNvSpPr>
            <a:spLocks noGrp="1"/>
          </p:cNvSpPr>
          <p:nvPr>
            <p:ph type="sldNum" sz="quarter" idx="12"/>
          </p:nvPr>
        </p:nvSpPr>
        <p:spPr/>
        <p:txBody>
          <a:bodyPr/>
          <a:lstStyle/>
          <a:p>
            <a:fld id="{25BA54BD-C84D-46CE-8B72-31BFB26ABA43}" type="slidenum">
              <a:rPr lang="en-IN" smtClean="0"/>
              <a:t>21</a:t>
            </a:fld>
            <a:endParaRPr lang="en-IN"/>
          </a:p>
        </p:txBody>
      </p:sp>
      <p:sp>
        <p:nvSpPr>
          <p:cNvPr id="4" name="Footer Placeholder 3">
            <a:extLst>
              <a:ext uri="{FF2B5EF4-FFF2-40B4-BE49-F238E27FC236}">
                <a16:creationId xmlns:a16="http://schemas.microsoft.com/office/drawing/2014/main" id="{F0B58446-4D58-3800-90DD-01829CC0966C}"/>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218193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Chalkboard education presentation (widescreen)</Template>
  <TotalTime>195</TotalTime>
  <Words>1464</Words>
  <Application>Microsoft Office PowerPoint</Application>
  <PresentationFormat>Custom</PresentationFormat>
  <Paragraphs>123</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Consolas</vt:lpstr>
      <vt:lpstr>Corbel</vt:lpstr>
      <vt:lpstr>Chalkboard 16x9</vt:lpstr>
      <vt:lpstr>Advanced Computer Network  (4350706)  Unit-1 Network Layer Protocols </vt:lpstr>
      <vt:lpstr>Topics to be discussed</vt:lpstr>
      <vt:lpstr>ICMPv4</vt:lpstr>
      <vt:lpstr>ICMPv4</vt:lpstr>
      <vt:lpstr>ICMPv4</vt:lpstr>
      <vt:lpstr>Messages</vt:lpstr>
      <vt:lpstr>Messages</vt:lpstr>
      <vt:lpstr>Error Reporting Messages</vt:lpstr>
      <vt:lpstr>Destination Unreachable</vt:lpstr>
      <vt:lpstr>Source Quench</vt:lpstr>
      <vt:lpstr>Redirection Message</vt:lpstr>
      <vt:lpstr>Time Exceed Message</vt:lpstr>
      <vt:lpstr>Parameter Problem</vt:lpstr>
      <vt:lpstr>Query Messages</vt:lpstr>
      <vt:lpstr>Echo request and echo reply</vt:lpstr>
      <vt:lpstr>The timestamp request (type 13) and the timestamp reply (type 14)</vt:lpstr>
      <vt:lpstr>Deprecated Messages</vt:lpstr>
      <vt:lpstr>Debugging Tools</vt:lpstr>
      <vt:lpstr>ICMP Checksum</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Computer Network  (4350706)  Unit-1 Network Layer Protocols</dc:title>
  <dc:creator>CHETANKUMAR KAMANI</dc:creator>
  <cp:lastModifiedBy>CHETANKUMAR KAMANI</cp:lastModifiedBy>
  <cp:revision>7</cp:revision>
  <dcterms:created xsi:type="dcterms:W3CDTF">2023-08-27T07:27:45Z</dcterms:created>
  <dcterms:modified xsi:type="dcterms:W3CDTF">2023-08-31T07:53:08Z</dcterms:modified>
</cp:coreProperties>
</file>