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handoutMasterIdLst>
    <p:handoutMasterId r:id="rId24"/>
  </p:handoutMasterIdLst>
  <p:sldIdLst>
    <p:sldId id="256" r:id="rId2"/>
    <p:sldId id="257" r:id="rId3"/>
    <p:sldId id="270" r:id="rId4"/>
    <p:sldId id="271" r:id="rId5"/>
    <p:sldId id="272"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5" r:id="rId19"/>
    <p:sldId id="314" r:id="rId20"/>
    <p:sldId id="305" r:id="rId21"/>
    <p:sldId id="304" r:id="rId22"/>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599" autoAdjust="0"/>
  </p:normalViewPr>
  <p:slideViewPr>
    <p:cSldViewPr>
      <p:cViewPr varScale="1">
        <p:scale>
          <a:sx n="82" d="100"/>
          <a:sy n="82" d="100"/>
        </p:scale>
        <p:origin x="629" y="72"/>
      </p:cViewPr>
      <p:guideLst>
        <p:guide pos="3839"/>
        <p:guide orient="horz" pos="2160"/>
      </p:guideLst>
    </p:cSldViewPr>
  </p:slideViewPr>
  <p:notesTextViewPr>
    <p:cViewPr>
      <p:scale>
        <a:sx n="1" d="1"/>
        <a:sy n="1" d="1"/>
      </p:scale>
      <p:origin x="0" y="0"/>
    </p:cViewPr>
  </p:notesTextViewPr>
  <p:notesViewPr>
    <p:cSldViewPr showGuides="1">
      <p:cViewPr varScale="1">
        <p:scale>
          <a:sx n="52" d="100"/>
          <a:sy n="52" d="100"/>
        </p:scale>
        <p:origin x="2664" y="3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9/12/2023</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9/12/2023</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a:lvl1pPr>
          </a:lstStyle>
          <a:p>
            <a:r>
              <a:rPr lang="en-US"/>
              <a:t>Click to edit Master title style</a:t>
            </a:r>
            <a:endParaRPr/>
          </a:p>
        </p:txBody>
      </p:sp>
      <p:grpSp>
        <p:nvGrpSpPr>
          <p:cNvPr id="256" name="line" descr="Line graphic"/>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67" name="line" descr="Line graphic"/>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dirty="0"/>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dirty="0"/>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a:t>Click to edit Master title style</a:t>
            </a:r>
            <a:endParaRPr/>
          </a:p>
        </p:txBody>
      </p:sp>
      <p:grpSp>
        <p:nvGrpSpPr>
          <p:cNvPr id="255" name="line" descr="Line graphic"/>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58" name="line" descr="Line graphic"/>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grpSp>
        <p:nvGrpSpPr>
          <p:cNvPr id="160" name="line" descr="Line graphic"/>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IN"/>
              <a:t>Prepared By: Mr. Chetan C. Kamani, Lecturer computer department, GP, Jamnagar</a:t>
            </a:r>
            <a:endParaRPr/>
          </a:p>
        </p:txBody>
      </p:sp>
      <p:sp>
        <p:nvSpPr>
          <p:cNvPr id="7" name="Date Placeholder 6"/>
          <p:cNvSpPr>
            <a:spLocks noGrp="1"/>
          </p:cNvSpPr>
          <p:nvPr>
            <p:ph type="dt" sz="half" idx="10"/>
          </p:nvPr>
        </p:nvSpPr>
        <p:spPr/>
        <p:txBody>
          <a:bodyPr/>
          <a:lstStyle/>
          <a:p>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156" name="line" descr="Line graphic"/>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Footer Placeholder 3"/>
          <p:cNvSpPr>
            <a:spLocks noGrp="1"/>
          </p:cNvSpPr>
          <p:nvPr>
            <p:ph type="ftr" sz="quarter" idx="11"/>
          </p:nvPr>
        </p:nvSpPr>
        <p:spPr/>
        <p:txBody>
          <a:bodyPr/>
          <a:lstStyle/>
          <a:p>
            <a:r>
              <a:rPr lang="en-IN"/>
              <a:t>Prepared By: Mr. Chetan C. Kamani, Lecturer computer department, GP, Jamnagar</a:t>
            </a:r>
            <a:endParaRPr/>
          </a:p>
        </p:txBody>
      </p:sp>
      <p:sp>
        <p:nvSpPr>
          <p:cNvPr id="3" name="Date Placeholder 2"/>
          <p:cNvSpPr>
            <a:spLocks noGrp="1"/>
          </p:cNvSpPr>
          <p:nvPr>
            <p:ph type="dt" sz="half" idx="10"/>
          </p:nvPr>
        </p:nvSpPr>
        <p:spPr/>
        <p:txBody>
          <a:bodyPr/>
          <a:lstStyle/>
          <a:p>
            <a:endParaRP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Prepared By: Mr. Chetan C. Kamani, Lecturer computer department, GP, Jamnagar</a:t>
            </a:r>
            <a:endParaRPr/>
          </a:p>
        </p:txBody>
      </p:sp>
      <p:sp>
        <p:nvSpPr>
          <p:cNvPr id="2" name="Date Placeholder 1"/>
          <p:cNvSpPr>
            <a:spLocks noGrp="1"/>
          </p:cNvSpPr>
          <p:nvPr>
            <p:ph type="dt" sz="half" idx="10"/>
          </p:nvPr>
        </p:nvSpPr>
        <p:spPr/>
        <p:txBody>
          <a:bodyPr/>
          <a:lstStyle/>
          <a:p>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grpSp>
        <p:nvGrpSpPr>
          <p:cNvPr id="615" name="frame" descr="Box graphic"/>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grpSp>
        <p:nvGrpSpPr>
          <p:cNvPr id="614" name="frame" descr="Box graphic"/>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7" name="line" descr="Line graphic"/>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1612" y="274639"/>
            <a:ext cx="1371600" cy="5901747"/>
          </a:xfrm>
        </p:spPr>
        <p:txBody>
          <a:bodyPr vert="eaVert"/>
          <a:lstStyle/>
          <a:p>
            <a:r>
              <a:rPr lang="en-US"/>
              <a:t>Click to edit Master title style</a:t>
            </a:r>
            <a:endParaRPr/>
          </a:p>
        </p:txBody>
      </p:sp>
      <p:grpSp>
        <p:nvGrpSpPr>
          <p:cNvPr id="7" name="line" descr="Line graphic"/>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hasCustomPrompt="1"/>
          </p:nvPr>
        </p:nvSpPr>
        <p:spPr>
          <a:xfrm>
            <a:off x="608012" y="277813"/>
            <a:ext cx="9144001" cy="5898573"/>
          </a:xfrm>
        </p:spPr>
        <p:txBody>
          <a:bodyPr vert="eaVert"/>
          <a:lstStyle>
            <a:lvl5pPr>
              <a:defRPr/>
            </a:lvl5pPr>
            <a:lvl6pPr marL="1261872" indent="0">
              <a:buNone/>
              <a:defRPr/>
            </a:lvl6pPr>
            <a:lvl7pPr>
              <a:defRPr/>
            </a:lvl7pPr>
            <a:lvl8pPr>
              <a:defRPr baseline="0"/>
            </a:lvl8pPr>
            <a:lvl9pPr>
              <a:defRPr baseline="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en-US" dirty="0"/>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IN"/>
              <a:t>Prepared By: Mr. Chetan C. Kamani, Lecturer computer department, GP, Jamnagar</a:t>
            </a:r>
            <a:endParaRPr lang="en-US"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4259" y="1754628"/>
            <a:ext cx="9144000" cy="2667000"/>
          </a:xfrm>
        </p:spPr>
        <p:txBody>
          <a:bodyPr/>
          <a:lstStyle/>
          <a:p>
            <a:pPr algn="ctr"/>
            <a:r>
              <a:rPr lang="en-US" sz="4000" dirty="0"/>
              <a:t>Advanced Computer Network </a:t>
            </a:r>
            <a:br>
              <a:rPr lang="en-US" sz="4000" dirty="0"/>
            </a:br>
            <a:r>
              <a:rPr lang="en-US" sz="4000" dirty="0"/>
              <a:t>(4350706)</a:t>
            </a:r>
            <a:br>
              <a:rPr lang="en-US" sz="4000" dirty="0"/>
            </a:br>
            <a:br>
              <a:rPr lang="en-US" sz="4000" dirty="0"/>
            </a:br>
            <a:r>
              <a:rPr lang="en-US" sz="4000" dirty="0"/>
              <a:t>Unit-1</a:t>
            </a:r>
            <a:br>
              <a:rPr lang="en-US" sz="4000" dirty="0"/>
            </a:br>
            <a:r>
              <a:rPr lang="en-US" sz="4000" dirty="0"/>
              <a:t>Network Layer Protocols </a:t>
            </a:r>
          </a:p>
        </p:txBody>
      </p:sp>
      <p:sp>
        <p:nvSpPr>
          <p:cNvPr id="3" name="Subtitle 2"/>
          <p:cNvSpPr>
            <a:spLocks noGrp="1"/>
          </p:cNvSpPr>
          <p:nvPr>
            <p:ph type="subTitle" idx="1"/>
          </p:nvPr>
        </p:nvSpPr>
        <p:spPr/>
        <p:txBody>
          <a:bodyPr>
            <a:normAutofit fontScale="62500" lnSpcReduction="20000"/>
          </a:bodyPr>
          <a:lstStyle/>
          <a:p>
            <a:pPr>
              <a:lnSpc>
                <a:spcPct val="120000"/>
              </a:lnSpc>
            </a:pPr>
            <a:r>
              <a:rPr lang="en-US" dirty="0"/>
              <a:t>Prepared By : </a:t>
            </a:r>
          </a:p>
          <a:p>
            <a:pPr>
              <a:lnSpc>
                <a:spcPct val="120000"/>
              </a:lnSpc>
            </a:pPr>
            <a:r>
              <a:rPr lang="en-US" dirty="0"/>
              <a:t>Mr. Chetan C. Kamani</a:t>
            </a:r>
          </a:p>
          <a:p>
            <a:pPr>
              <a:lnSpc>
                <a:spcPct val="120000"/>
              </a:lnSpc>
            </a:pPr>
            <a:r>
              <a:rPr lang="en-US" dirty="0"/>
              <a:t>Lecturer, Computer Engineering Department</a:t>
            </a:r>
          </a:p>
          <a:p>
            <a:pPr>
              <a:lnSpc>
                <a:spcPct val="120000"/>
              </a:lnSpc>
            </a:pPr>
            <a:r>
              <a:rPr lang="en-US" dirty="0"/>
              <a:t>Government Polytechnic, Jamnagar</a:t>
            </a:r>
          </a:p>
          <a:p>
            <a:pPr>
              <a:lnSpc>
                <a:spcPct val="120000"/>
              </a:lnSpc>
            </a:pPr>
            <a:endParaRPr lang="en-US" dirty="0"/>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Topics to be discussed</a:t>
            </a:r>
          </a:p>
        </p:txBody>
      </p:sp>
      <p:sp>
        <p:nvSpPr>
          <p:cNvPr id="14" name="Content Placeholder 13"/>
          <p:cNvSpPr>
            <a:spLocks noGrp="1"/>
          </p:cNvSpPr>
          <p:nvPr>
            <p:ph idx="1"/>
          </p:nvPr>
        </p:nvSpPr>
        <p:spPr/>
        <p:txBody>
          <a:bodyPr/>
          <a:lstStyle/>
          <a:p>
            <a:r>
              <a:rPr lang="en-US" dirty="0"/>
              <a:t>Forwarding of IP packets</a:t>
            </a:r>
          </a:p>
          <a:p>
            <a:pPr lvl="1"/>
            <a:r>
              <a:rPr lang="en-US" dirty="0"/>
              <a:t>Forwarding based on destination address</a:t>
            </a:r>
          </a:p>
          <a:p>
            <a:pPr lvl="2"/>
            <a:r>
              <a:rPr lang="en-US" dirty="0"/>
              <a:t>Address Aggregation</a:t>
            </a:r>
          </a:p>
          <a:p>
            <a:pPr lvl="2"/>
            <a:r>
              <a:rPr lang="en-US" dirty="0"/>
              <a:t>Longest Match Making</a:t>
            </a:r>
          </a:p>
          <a:p>
            <a:pPr lvl="2"/>
            <a:r>
              <a:rPr lang="en-US" dirty="0"/>
              <a:t>Hierarchical Routing</a:t>
            </a:r>
          </a:p>
          <a:p>
            <a:pPr lvl="2"/>
            <a:r>
              <a:rPr lang="en-US" dirty="0"/>
              <a:t>Geographical Routing</a:t>
            </a:r>
          </a:p>
          <a:p>
            <a:pPr lvl="2"/>
            <a:r>
              <a:rPr lang="en-US" dirty="0"/>
              <a:t>Forwarding table search algorithm</a:t>
            </a:r>
          </a:p>
        </p:txBody>
      </p:sp>
      <p:sp>
        <p:nvSpPr>
          <p:cNvPr id="2" name="Footer Placeholder 1">
            <a:extLst>
              <a:ext uri="{FF2B5EF4-FFF2-40B4-BE49-F238E27FC236}">
                <a16:creationId xmlns:a16="http://schemas.microsoft.com/office/drawing/2014/main" id="{E17B8319-9832-9436-8F73-ADFDE92BC08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8706FF17-6BEC-6B2E-EC3D-DDFA1B1CA13F}"/>
              </a:ext>
            </a:extLst>
          </p:cNvPr>
          <p:cNvSpPr>
            <a:spLocks noGrp="1"/>
          </p:cNvSpPr>
          <p:nvPr>
            <p:ph type="sldNum" sz="quarter" idx="12"/>
          </p:nvPr>
        </p:nvSpPr>
        <p:spPr/>
        <p:txBody>
          <a:bodyPr/>
          <a:lstStyle/>
          <a:p>
            <a:fld id="{25BA54BD-C84D-46CE-8B72-31BFB26ABA43}" type="slidenum">
              <a:rPr lang="en-IN" smtClean="0"/>
              <a:t>2</a:t>
            </a:fld>
            <a:endParaRPr lang="en-IN" dirty="0"/>
          </a:p>
        </p:txBody>
      </p:sp>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Forwarding of IP packets</a:t>
            </a:r>
          </a:p>
        </p:txBody>
      </p:sp>
      <p:sp>
        <p:nvSpPr>
          <p:cNvPr id="14" name="Content Placeholder 13"/>
          <p:cNvSpPr>
            <a:spLocks noGrp="1"/>
          </p:cNvSpPr>
          <p:nvPr>
            <p:ph idx="1"/>
          </p:nvPr>
        </p:nvSpPr>
        <p:spPr>
          <a:xfrm>
            <a:off x="1522414" y="1916832"/>
            <a:ext cx="9144000" cy="4267200"/>
          </a:xfrm>
        </p:spPr>
        <p:txBody>
          <a:bodyPr>
            <a:normAutofit fontScale="92500" lnSpcReduction="10000"/>
          </a:bodyPr>
          <a:lstStyle/>
          <a:p>
            <a:pPr algn="just"/>
            <a:r>
              <a:rPr lang="en-IN" dirty="0"/>
              <a:t>A forwarding means to place the packet in its route to its destination.</a:t>
            </a:r>
          </a:p>
          <a:p>
            <a:pPr algn="just"/>
            <a:r>
              <a:rPr lang="en-IN" dirty="0"/>
              <a:t>Since the Internet today is made of a combination of links (networks), forwarding means to deliver the packet to the next hop (which can be the final destination or the intermediate connecting device).</a:t>
            </a:r>
          </a:p>
          <a:p>
            <a:pPr algn="just"/>
            <a:r>
              <a:rPr lang="en-IN" dirty="0"/>
              <a:t>Although the IP protocol was originally designed as a connectionless protocol, today the tendency is to change it to a connection-oriented protocol.</a:t>
            </a:r>
          </a:p>
          <a:p>
            <a:pPr algn="just"/>
            <a:r>
              <a:rPr lang="en-IN" dirty="0"/>
              <a:t>When IP is used as a connectionless protocol, forwarding is based on the destination address of the IP datagram; when the IP is used as a connection-oriented protocol, forwarding is based on the label attached to an IP datagram.</a:t>
            </a:r>
          </a:p>
          <a:p>
            <a:pPr algn="just"/>
            <a:r>
              <a:rPr lang="en-IN" dirty="0"/>
              <a:t>We will discuss only forwarding based on the destination address here</a:t>
            </a:r>
            <a:endParaRPr lang="en-US" dirty="0"/>
          </a:p>
        </p:txBody>
      </p:sp>
      <p:sp>
        <p:nvSpPr>
          <p:cNvPr id="2" name="Footer Placeholder 1">
            <a:extLst>
              <a:ext uri="{FF2B5EF4-FFF2-40B4-BE49-F238E27FC236}">
                <a16:creationId xmlns:a16="http://schemas.microsoft.com/office/drawing/2014/main" id="{C126B488-A50E-1833-0414-5E00915B7F6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AB0FCBB6-95CD-EEAB-EC13-6FD33FE36C53}"/>
              </a:ext>
            </a:extLst>
          </p:cNvPr>
          <p:cNvSpPr>
            <a:spLocks noGrp="1"/>
          </p:cNvSpPr>
          <p:nvPr>
            <p:ph type="sldNum" sz="quarter" idx="12"/>
          </p:nvPr>
        </p:nvSpPr>
        <p:spPr/>
        <p:txBody>
          <a:bodyPr/>
          <a:lstStyle/>
          <a:p>
            <a:fld id="{25BA54BD-C84D-46CE-8B72-31BFB26ABA43}" type="slidenum">
              <a:rPr lang="en-IN" smtClean="0"/>
              <a:t>3</a:t>
            </a:fld>
            <a:endParaRPr lang="en-IN" dirty="0"/>
          </a:p>
        </p:txBody>
      </p:sp>
    </p:spTree>
    <p:extLst>
      <p:ext uri="{BB962C8B-B14F-4D97-AF65-F5344CB8AC3E}">
        <p14:creationId xmlns:p14="http://schemas.microsoft.com/office/powerpoint/2010/main" val="711562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Forwarding based on destination address</a:t>
            </a:r>
          </a:p>
        </p:txBody>
      </p:sp>
      <p:sp>
        <p:nvSpPr>
          <p:cNvPr id="14" name="Content Placeholder 13"/>
          <p:cNvSpPr>
            <a:spLocks noGrp="1"/>
          </p:cNvSpPr>
          <p:nvPr>
            <p:ph idx="1"/>
          </p:nvPr>
        </p:nvSpPr>
        <p:spPr>
          <a:xfrm>
            <a:off x="1522414" y="1916832"/>
            <a:ext cx="9144000" cy="4267200"/>
          </a:xfrm>
        </p:spPr>
        <p:txBody>
          <a:bodyPr>
            <a:normAutofit fontScale="92500" lnSpcReduction="10000"/>
          </a:bodyPr>
          <a:lstStyle/>
          <a:p>
            <a:pPr algn="just"/>
            <a:r>
              <a:rPr lang="en-IN" dirty="0"/>
              <a:t>This is a traditional approach, which is prevalent today.</a:t>
            </a:r>
          </a:p>
          <a:p>
            <a:pPr algn="just"/>
            <a:r>
              <a:rPr lang="en-IN" dirty="0"/>
              <a:t>In this case, forwarding requires a host or a router to have a forwarding table.</a:t>
            </a:r>
          </a:p>
          <a:p>
            <a:pPr algn="just"/>
            <a:r>
              <a:rPr lang="en-IN" dirty="0"/>
              <a:t>When a host has a packet to send or when a router has received a packet to be forwarded, it looks at this table to find the next hop to deliver the packet to.</a:t>
            </a:r>
          </a:p>
          <a:p>
            <a:pPr algn="just"/>
            <a:r>
              <a:rPr lang="en-IN" dirty="0"/>
              <a:t>In classless addressing, the whole address space is one entity; there are no classes. This means that forwarding requires one row of information for each block involved. The table needs to be searched based on the network address (first address in the block). Unfortunately, the destination address in the packet gives no clue about the network address. To solve the problem, we need to include the mask (/n) in the table.</a:t>
            </a:r>
          </a:p>
        </p:txBody>
      </p:sp>
      <p:sp>
        <p:nvSpPr>
          <p:cNvPr id="2" name="Footer Placeholder 1">
            <a:extLst>
              <a:ext uri="{FF2B5EF4-FFF2-40B4-BE49-F238E27FC236}">
                <a16:creationId xmlns:a16="http://schemas.microsoft.com/office/drawing/2014/main" id="{87EF1066-FEE6-C52F-DF00-8F5B5DDABCA2}"/>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D76FDA59-0716-B837-399C-FC6CE123AA6A}"/>
              </a:ext>
            </a:extLst>
          </p:cNvPr>
          <p:cNvSpPr>
            <a:spLocks noGrp="1"/>
          </p:cNvSpPr>
          <p:nvPr>
            <p:ph type="sldNum" sz="quarter" idx="12"/>
          </p:nvPr>
        </p:nvSpPr>
        <p:spPr/>
        <p:txBody>
          <a:bodyPr/>
          <a:lstStyle/>
          <a:p>
            <a:fld id="{25BA54BD-C84D-46CE-8B72-31BFB26ABA43}" type="slidenum">
              <a:rPr lang="en-IN" smtClean="0"/>
              <a:t>4</a:t>
            </a:fld>
            <a:endParaRPr lang="en-IN" dirty="0"/>
          </a:p>
        </p:txBody>
      </p:sp>
    </p:spTree>
    <p:extLst>
      <p:ext uri="{BB962C8B-B14F-4D97-AF65-F5344CB8AC3E}">
        <p14:creationId xmlns:p14="http://schemas.microsoft.com/office/powerpoint/2010/main" val="378825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Forwarding based on destination address</a:t>
            </a:r>
          </a:p>
        </p:txBody>
      </p:sp>
      <p:sp>
        <p:nvSpPr>
          <p:cNvPr id="14" name="Content Placeholder 13"/>
          <p:cNvSpPr>
            <a:spLocks noGrp="1"/>
          </p:cNvSpPr>
          <p:nvPr>
            <p:ph idx="1"/>
          </p:nvPr>
        </p:nvSpPr>
        <p:spPr>
          <a:xfrm>
            <a:off x="1522414" y="1916832"/>
            <a:ext cx="9144000" cy="4267200"/>
          </a:xfrm>
        </p:spPr>
        <p:txBody>
          <a:bodyPr>
            <a:normAutofit/>
          </a:bodyPr>
          <a:lstStyle/>
          <a:p>
            <a:pPr algn="just"/>
            <a:r>
              <a:rPr lang="en-IN" dirty="0"/>
              <a:t>In other words, a classless forwarding table needs to include four pieces of information: the mask, the network address, the interface number, and the IP address of the next router.</a:t>
            </a:r>
          </a:p>
          <a:p>
            <a:pPr algn="just"/>
            <a:r>
              <a:rPr lang="en-IN" dirty="0"/>
              <a:t>However, we often see in the literature that the first two pieces are combined. For example, if n is 26 and the network address is 180.70.65.192, then one can combine the two as one piece of information: 180.70.65.192/26.</a:t>
            </a:r>
            <a:endParaRPr lang="en-US" dirty="0"/>
          </a:p>
        </p:txBody>
      </p:sp>
      <p:sp>
        <p:nvSpPr>
          <p:cNvPr id="2" name="Footer Placeholder 1">
            <a:extLst>
              <a:ext uri="{FF2B5EF4-FFF2-40B4-BE49-F238E27FC236}">
                <a16:creationId xmlns:a16="http://schemas.microsoft.com/office/drawing/2014/main" id="{51438955-26BE-6E1C-AC7D-32EC011A1C7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983993CF-357C-4709-75BA-4E4FC14AC9CF}"/>
              </a:ext>
            </a:extLst>
          </p:cNvPr>
          <p:cNvSpPr>
            <a:spLocks noGrp="1"/>
          </p:cNvSpPr>
          <p:nvPr>
            <p:ph type="sldNum" sz="quarter" idx="12"/>
          </p:nvPr>
        </p:nvSpPr>
        <p:spPr/>
        <p:txBody>
          <a:bodyPr/>
          <a:lstStyle/>
          <a:p>
            <a:fld id="{25BA54BD-C84D-46CE-8B72-31BFB26ABA43}" type="slidenum">
              <a:rPr lang="en-IN" smtClean="0"/>
              <a:t>5</a:t>
            </a:fld>
            <a:endParaRPr lang="en-IN" dirty="0"/>
          </a:p>
        </p:txBody>
      </p:sp>
    </p:spTree>
    <p:extLst>
      <p:ext uri="{BB962C8B-B14F-4D97-AF65-F5344CB8AC3E}">
        <p14:creationId xmlns:p14="http://schemas.microsoft.com/office/powerpoint/2010/main" val="41773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Forwarding based on destination address</a:t>
            </a:r>
          </a:p>
        </p:txBody>
      </p:sp>
      <p:pic>
        <p:nvPicPr>
          <p:cNvPr id="3" name="Picture 2">
            <a:extLst>
              <a:ext uri="{FF2B5EF4-FFF2-40B4-BE49-F238E27FC236}">
                <a16:creationId xmlns:a16="http://schemas.microsoft.com/office/drawing/2014/main" id="{4DD940EC-9442-F9ED-790F-CBFBA41A3FE5}"/>
              </a:ext>
            </a:extLst>
          </p:cNvPr>
          <p:cNvPicPr>
            <a:picLocks noChangeAspect="1"/>
          </p:cNvPicPr>
          <p:nvPr/>
        </p:nvPicPr>
        <p:blipFill rotWithShape="1">
          <a:blip r:embed="rId2"/>
          <a:srcRect l="44683" t="36655" r="25779" b="42216"/>
          <a:stretch/>
        </p:blipFill>
        <p:spPr>
          <a:xfrm>
            <a:off x="1341884" y="2276872"/>
            <a:ext cx="9853730" cy="3744416"/>
          </a:xfrm>
          <a:prstGeom prst="rect">
            <a:avLst/>
          </a:prstGeom>
        </p:spPr>
      </p:pic>
      <p:sp>
        <p:nvSpPr>
          <p:cNvPr id="6" name="Footer Placeholder 5">
            <a:extLst>
              <a:ext uri="{FF2B5EF4-FFF2-40B4-BE49-F238E27FC236}">
                <a16:creationId xmlns:a16="http://schemas.microsoft.com/office/drawing/2014/main" id="{5185B3F1-1995-F9FC-727F-F62A7F88EC2A}"/>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7" name="Slide Number Placeholder 6">
            <a:extLst>
              <a:ext uri="{FF2B5EF4-FFF2-40B4-BE49-F238E27FC236}">
                <a16:creationId xmlns:a16="http://schemas.microsoft.com/office/drawing/2014/main" id="{64AE9D1F-F95E-2795-FB1B-A90D0899CB2D}"/>
              </a:ext>
            </a:extLst>
          </p:cNvPr>
          <p:cNvSpPr>
            <a:spLocks noGrp="1"/>
          </p:cNvSpPr>
          <p:nvPr>
            <p:ph type="sldNum" sz="quarter" idx="12"/>
          </p:nvPr>
        </p:nvSpPr>
        <p:spPr/>
        <p:txBody>
          <a:bodyPr/>
          <a:lstStyle/>
          <a:p>
            <a:fld id="{25BA54BD-C84D-46CE-8B72-31BFB26ABA43}" type="slidenum">
              <a:rPr lang="en-IN" smtClean="0"/>
              <a:t>6</a:t>
            </a:fld>
            <a:endParaRPr lang="en-IN" dirty="0"/>
          </a:p>
        </p:txBody>
      </p:sp>
    </p:spTree>
    <p:extLst>
      <p:ext uri="{BB962C8B-B14F-4D97-AF65-F5344CB8AC3E}">
        <p14:creationId xmlns:p14="http://schemas.microsoft.com/office/powerpoint/2010/main" val="1670062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Example</a:t>
            </a:r>
          </a:p>
        </p:txBody>
      </p:sp>
      <p:sp>
        <p:nvSpPr>
          <p:cNvPr id="14" name="Content Placeholder 13"/>
          <p:cNvSpPr>
            <a:spLocks noGrp="1"/>
          </p:cNvSpPr>
          <p:nvPr>
            <p:ph idx="1"/>
          </p:nvPr>
        </p:nvSpPr>
        <p:spPr>
          <a:xfrm>
            <a:off x="1522414" y="1916832"/>
            <a:ext cx="3419870" cy="4267200"/>
          </a:xfrm>
        </p:spPr>
        <p:txBody>
          <a:bodyPr>
            <a:normAutofit/>
          </a:bodyPr>
          <a:lstStyle/>
          <a:p>
            <a:pPr marL="0" indent="0" algn="just">
              <a:buNone/>
            </a:pPr>
            <a:r>
              <a:rPr lang="en-IN" dirty="0"/>
              <a:t>Make a forwarding table for router R1 using the configuration as shown in the following figure</a:t>
            </a:r>
          </a:p>
          <a:p>
            <a:pPr marL="457200" indent="-457200" algn="just">
              <a:buAutoNum type="arabicPeriod"/>
            </a:pPr>
            <a:r>
              <a:rPr lang="en-US" dirty="0"/>
              <a:t>Design forwarding table in dotted-decimal notation.</a:t>
            </a:r>
          </a:p>
          <a:p>
            <a:pPr marL="457200" indent="-457200" algn="just">
              <a:buAutoNum type="arabicPeriod"/>
            </a:pPr>
            <a:r>
              <a:rPr lang="en-US" dirty="0"/>
              <a:t>Design forwarding table in binary notation.</a:t>
            </a:r>
          </a:p>
        </p:txBody>
      </p:sp>
      <p:pic>
        <p:nvPicPr>
          <p:cNvPr id="3" name="Picture 2">
            <a:extLst>
              <a:ext uri="{FF2B5EF4-FFF2-40B4-BE49-F238E27FC236}">
                <a16:creationId xmlns:a16="http://schemas.microsoft.com/office/drawing/2014/main" id="{0D745C3F-015F-0760-FBF8-0C5952A52BA8}"/>
              </a:ext>
            </a:extLst>
          </p:cNvPr>
          <p:cNvPicPr>
            <a:picLocks noChangeAspect="1"/>
          </p:cNvPicPr>
          <p:nvPr/>
        </p:nvPicPr>
        <p:blipFill rotWithShape="1">
          <a:blip r:embed="rId2"/>
          <a:srcRect l="45864" t="41104" r="32277" b="26646"/>
          <a:stretch/>
        </p:blipFill>
        <p:spPr>
          <a:xfrm>
            <a:off x="5662364" y="1925960"/>
            <a:ext cx="5684437" cy="4455368"/>
          </a:xfrm>
          <a:prstGeom prst="rect">
            <a:avLst/>
          </a:prstGeom>
        </p:spPr>
      </p:pic>
      <p:sp>
        <p:nvSpPr>
          <p:cNvPr id="4" name="Footer Placeholder 3">
            <a:extLst>
              <a:ext uri="{FF2B5EF4-FFF2-40B4-BE49-F238E27FC236}">
                <a16:creationId xmlns:a16="http://schemas.microsoft.com/office/drawing/2014/main" id="{5C2F04FE-715C-1847-B30B-443CDBCD4FEB}"/>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8BF97F7C-708E-390B-82F7-D22818B9E0A4}"/>
              </a:ext>
            </a:extLst>
          </p:cNvPr>
          <p:cNvSpPr>
            <a:spLocks noGrp="1"/>
          </p:cNvSpPr>
          <p:nvPr>
            <p:ph type="sldNum" sz="quarter" idx="12"/>
          </p:nvPr>
        </p:nvSpPr>
        <p:spPr/>
        <p:txBody>
          <a:bodyPr/>
          <a:lstStyle/>
          <a:p>
            <a:fld id="{25BA54BD-C84D-46CE-8B72-31BFB26ABA43}" type="slidenum">
              <a:rPr lang="en-IN" smtClean="0"/>
              <a:t>7</a:t>
            </a:fld>
            <a:endParaRPr lang="en-IN" dirty="0"/>
          </a:p>
        </p:txBody>
      </p:sp>
    </p:spTree>
    <p:extLst>
      <p:ext uri="{BB962C8B-B14F-4D97-AF65-F5344CB8AC3E}">
        <p14:creationId xmlns:p14="http://schemas.microsoft.com/office/powerpoint/2010/main" val="3859425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Example</a:t>
            </a:r>
          </a:p>
        </p:txBody>
      </p:sp>
      <p:sp>
        <p:nvSpPr>
          <p:cNvPr id="14" name="Content Placeholder 13"/>
          <p:cNvSpPr>
            <a:spLocks noGrp="1"/>
          </p:cNvSpPr>
          <p:nvPr>
            <p:ph idx="1"/>
          </p:nvPr>
        </p:nvSpPr>
        <p:spPr>
          <a:xfrm>
            <a:off x="1522414" y="1916832"/>
            <a:ext cx="3419870" cy="4267200"/>
          </a:xfrm>
        </p:spPr>
        <p:txBody>
          <a:bodyPr>
            <a:normAutofit/>
          </a:bodyPr>
          <a:lstStyle/>
          <a:p>
            <a:pPr marL="0" indent="0" algn="just">
              <a:buNone/>
            </a:pPr>
            <a:r>
              <a:rPr lang="en-IN" dirty="0"/>
              <a:t>Show the forwarding process if a packet arrives at R1 as shown in the figure with the destination address 180.70.65.140.</a:t>
            </a:r>
            <a:endParaRPr lang="en-US" dirty="0"/>
          </a:p>
        </p:txBody>
      </p:sp>
      <p:pic>
        <p:nvPicPr>
          <p:cNvPr id="3" name="Picture 2">
            <a:extLst>
              <a:ext uri="{FF2B5EF4-FFF2-40B4-BE49-F238E27FC236}">
                <a16:creationId xmlns:a16="http://schemas.microsoft.com/office/drawing/2014/main" id="{0D745C3F-015F-0760-FBF8-0C5952A52BA8}"/>
              </a:ext>
            </a:extLst>
          </p:cNvPr>
          <p:cNvPicPr>
            <a:picLocks noChangeAspect="1"/>
          </p:cNvPicPr>
          <p:nvPr/>
        </p:nvPicPr>
        <p:blipFill rotWithShape="1">
          <a:blip r:embed="rId2"/>
          <a:srcRect l="45864" t="41104" r="32277" b="26646"/>
          <a:stretch/>
        </p:blipFill>
        <p:spPr>
          <a:xfrm>
            <a:off x="5662364" y="1925960"/>
            <a:ext cx="5684437" cy="4455368"/>
          </a:xfrm>
          <a:prstGeom prst="rect">
            <a:avLst/>
          </a:prstGeom>
        </p:spPr>
      </p:pic>
      <p:sp>
        <p:nvSpPr>
          <p:cNvPr id="2" name="Footer Placeholder 1">
            <a:extLst>
              <a:ext uri="{FF2B5EF4-FFF2-40B4-BE49-F238E27FC236}">
                <a16:creationId xmlns:a16="http://schemas.microsoft.com/office/drawing/2014/main" id="{627EA8BF-937F-BCA7-3D9A-6849FFE11003}"/>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4" name="Slide Number Placeholder 3">
            <a:extLst>
              <a:ext uri="{FF2B5EF4-FFF2-40B4-BE49-F238E27FC236}">
                <a16:creationId xmlns:a16="http://schemas.microsoft.com/office/drawing/2014/main" id="{35182BF6-BDB1-A5AE-A286-7B66C169ECD8}"/>
              </a:ext>
            </a:extLst>
          </p:cNvPr>
          <p:cNvSpPr>
            <a:spLocks noGrp="1"/>
          </p:cNvSpPr>
          <p:nvPr>
            <p:ph type="sldNum" sz="quarter" idx="12"/>
          </p:nvPr>
        </p:nvSpPr>
        <p:spPr/>
        <p:txBody>
          <a:bodyPr/>
          <a:lstStyle/>
          <a:p>
            <a:fld id="{25BA54BD-C84D-46CE-8B72-31BFB26ABA43}" type="slidenum">
              <a:rPr lang="en-IN" smtClean="0"/>
              <a:t>8</a:t>
            </a:fld>
            <a:endParaRPr lang="en-IN" dirty="0"/>
          </a:p>
        </p:txBody>
      </p:sp>
    </p:spTree>
    <p:extLst>
      <p:ext uri="{BB962C8B-B14F-4D97-AF65-F5344CB8AC3E}">
        <p14:creationId xmlns:p14="http://schemas.microsoft.com/office/powerpoint/2010/main" val="1212233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Address Aggregation</a:t>
            </a:r>
          </a:p>
        </p:txBody>
      </p:sp>
      <p:sp>
        <p:nvSpPr>
          <p:cNvPr id="14" name="Content Placeholder 13"/>
          <p:cNvSpPr>
            <a:spLocks noGrp="1"/>
          </p:cNvSpPr>
          <p:nvPr>
            <p:ph idx="1"/>
          </p:nvPr>
        </p:nvSpPr>
        <p:spPr>
          <a:xfrm>
            <a:off x="1522414" y="1916832"/>
            <a:ext cx="9144000" cy="4267200"/>
          </a:xfrm>
        </p:spPr>
        <p:txBody>
          <a:bodyPr>
            <a:normAutofit lnSpcReduction="10000"/>
          </a:bodyPr>
          <a:lstStyle/>
          <a:p>
            <a:pPr algn="just"/>
            <a:r>
              <a:rPr lang="en-IN" dirty="0"/>
              <a:t>When we use classful addressing, there is only one entry in the forwarding table for each site outside the organization. The entry defines the site even if that site is </a:t>
            </a:r>
            <a:r>
              <a:rPr lang="en-IN" dirty="0" err="1"/>
              <a:t>subnetted</a:t>
            </a:r>
            <a:r>
              <a:rPr lang="en-IN" dirty="0"/>
              <a:t>. When a packet arrives at the router, the router checks the corresponding entry and forwards the packet accordingly.</a:t>
            </a:r>
          </a:p>
          <a:p>
            <a:pPr algn="just"/>
            <a:r>
              <a:rPr lang="en-IN" dirty="0"/>
              <a:t>When we use classless addressing, it is likely that the number of forwarding table entries will increase. This is because the intent of classless addressing is to divide up the whole address space into manageable blocks. The increased size of the table results in an increase in the amount of time needed to search the table.</a:t>
            </a:r>
          </a:p>
          <a:p>
            <a:pPr algn="just"/>
            <a:r>
              <a:rPr lang="en-IN" dirty="0"/>
              <a:t>To alleviate the problem, the idea of address aggregation was designed.</a:t>
            </a:r>
            <a:endParaRPr lang="en-US" dirty="0"/>
          </a:p>
        </p:txBody>
      </p:sp>
      <p:sp>
        <p:nvSpPr>
          <p:cNvPr id="2" name="Footer Placeholder 1">
            <a:extLst>
              <a:ext uri="{FF2B5EF4-FFF2-40B4-BE49-F238E27FC236}">
                <a16:creationId xmlns:a16="http://schemas.microsoft.com/office/drawing/2014/main" id="{98B92CC4-8CEE-E278-C3DE-24C53ADBA4C4}"/>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D8A40195-AB38-BC92-E7EE-50B5FB7E31D7}"/>
              </a:ext>
            </a:extLst>
          </p:cNvPr>
          <p:cNvSpPr>
            <a:spLocks noGrp="1"/>
          </p:cNvSpPr>
          <p:nvPr>
            <p:ph type="sldNum" sz="quarter" idx="12"/>
          </p:nvPr>
        </p:nvSpPr>
        <p:spPr/>
        <p:txBody>
          <a:bodyPr/>
          <a:lstStyle/>
          <a:p>
            <a:fld id="{25BA54BD-C84D-46CE-8B72-31BFB26ABA43}" type="slidenum">
              <a:rPr lang="en-IN" smtClean="0"/>
              <a:t>9</a:t>
            </a:fld>
            <a:endParaRPr lang="en-IN" dirty="0"/>
          </a:p>
        </p:txBody>
      </p:sp>
    </p:spTree>
    <p:extLst>
      <p:ext uri="{BB962C8B-B14F-4D97-AF65-F5344CB8AC3E}">
        <p14:creationId xmlns:p14="http://schemas.microsoft.com/office/powerpoint/2010/main" val="3598358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Address Aggregation</a:t>
            </a:r>
          </a:p>
        </p:txBody>
      </p:sp>
      <p:pic>
        <p:nvPicPr>
          <p:cNvPr id="3" name="Content Placeholder 2">
            <a:extLst>
              <a:ext uri="{FF2B5EF4-FFF2-40B4-BE49-F238E27FC236}">
                <a16:creationId xmlns:a16="http://schemas.microsoft.com/office/drawing/2014/main" id="{CF9D86A9-F990-8F9E-4F93-E1AA469937A2}"/>
              </a:ext>
            </a:extLst>
          </p:cNvPr>
          <p:cNvPicPr>
            <a:picLocks noGrp="1" noChangeAspect="1"/>
          </p:cNvPicPr>
          <p:nvPr>
            <p:ph idx="1"/>
          </p:nvPr>
        </p:nvPicPr>
        <p:blipFill rotWithShape="1">
          <a:blip r:embed="rId2"/>
          <a:srcRect l="39241" t="30939" r="23309" b="23499"/>
          <a:stretch/>
        </p:blipFill>
        <p:spPr>
          <a:xfrm>
            <a:off x="2494012" y="1652846"/>
            <a:ext cx="7204458" cy="4656474"/>
          </a:xfrm>
        </p:spPr>
      </p:pic>
      <p:sp>
        <p:nvSpPr>
          <p:cNvPr id="4" name="Footer Placeholder 3">
            <a:extLst>
              <a:ext uri="{FF2B5EF4-FFF2-40B4-BE49-F238E27FC236}">
                <a16:creationId xmlns:a16="http://schemas.microsoft.com/office/drawing/2014/main" id="{59D90402-8B66-77B7-A396-ACD1E486F81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306C226F-40D0-E58E-4F7C-DE6B593A18B3}"/>
              </a:ext>
            </a:extLst>
          </p:cNvPr>
          <p:cNvSpPr>
            <a:spLocks noGrp="1"/>
          </p:cNvSpPr>
          <p:nvPr>
            <p:ph type="sldNum" sz="quarter" idx="12"/>
          </p:nvPr>
        </p:nvSpPr>
        <p:spPr/>
        <p:txBody>
          <a:bodyPr/>
          <a:lstStyle/>
          <a:p>
            <a:fld id="{25BA54BD-C84D-46CE-8B72-31BFB26ABA43}" type="slidenum">
              <a:rPr lang="en-IN" smtClean="0"/>
              <a:t>10</a:t>
            </a:fld>
            <a:endParaRPr lang="en-IN" dirty="0"/>
          </a:p>
        </p:txBody>
      </p:sp>
    </p:spTree>
    <p:extLst>
      <p:ext uri="{BB962C8B-B14F-4D97-AF65-F5344CB8AC3E}">
        <p14:creationId xmlns:p14="http://schemas.microsoft.com/office/powerpoint/2010/main" val="1542642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Longest Match Making</a:t>
            </a:r>
          </a:p>
        </p:txBody>
      </p:sp>
      <p:sp>
        <p:nvSpPr>
          <p:cNvPr id="14" name="Content Placeholder 13"/>
          <p:cNvSpPr>
            <a:spLocks noGrp="1"/>
          </p:cNvSpPr>
          <p:nvPr>
            <p:ph idx="1"/>
          </p:nvPr>
        </p:nvSpPr>
        <p:spPr>
          <a:xfrm>
            <a:off x="1522414" y="1916832"/>
            <a:ext cx="9144000" cy="4267200"/>
          </a:xfrm>
        </p:spPr>
        <p:txBody>
          <a:bodyPr>
            <a:normAutofit fontScale="92500"/>
          </a:bodyPr>
          <a:lstStyle/>
          <a:p>
            <a:pPr algn="just"/>
            <a:r>
              <a:rPr lang="en-IN" dirty="0"/>
              <a:t>What happens if one of the organizations in the previous figure(Address Aggregation) is not geographically close to the other three?</a:t>
            </a:r>
          </a:p>
          <a:p>
            <a:pPr algn="just"/>
            <a:r>
              <a:rPr lang="en-IN" dirty="0"/>
              <a:t>For example, if organization 4 cannot be connected to router R1 for some reason, can we still use the idea of address aggregation and still assign block 140.24.7.192/26 to organization 4?</a:t>
            </a:r>
          </a:p>
          <a:p>
            <a:pPr algn="just"/>
            <a:r>
              <a:rPr lang="en-IN" dirty="0"/>
              <a:t>The answer is yes, because routing in classless addressing uses another principle, longest mask matching.</a:t>
            </a:r>
          </a:p>
          <a:p>
            <a:pPr algn="just"/>
            <a:r>
              <a:rPr lang="en-IN" dirty="0"/>
              <a:t>This principle states that the forwarding table is sorted from the longest mask to the shortest mask. In other words, if there are three masks, /27, /26, and /24, the mask /27 must be the first entry and /24 must be the last.</a:t>
            </a:r>
            <a:endParaRPr lang="en-US" dirty="0"/>
          </a:p>
        </p:txBody>
      </p:sp>
      <p:sp>
        <p:nvSpPr>
          <p:cNvPr id="2" name="Footer Placeholder 1">
            <a:extLst>
              <a:ext uri="{FF2B5EF4-FFF2-40B4-BE49-F238E27FC236}">
                <a16:creationId xmlns:a16="http://schemas.microsoft.com/office/drawing/2014/main" id="{15940287-47C6-BE4C-952C-FA98A333B9D8}"/>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17E74170-F5DC-C087-7ECF-327F3AA096C2}"/>
              </a:ext>
            </a:extLst>
          </p:cNvPr>
          <p:cNvSpPr>
            <a:spLocks noGrp="1"/>
          </p:cNvSpPr>
          <p:nvPr>
            <p:ph type="sldNum" sz="quarter" idx="12"/>
          </p:nvPr>
        </p:nvSpPr>
        <p:spPr/>
        <p:txBody>
          <a:bodyPr/>
          <a:lstStyle/>
          <a:p>
            <a:fld id="{25BA54BD-C84D-46CE-8B72-31BFB26ABA43}" type="slidenum">
              <a:rPr lang="en-IN" smtClean="0"/>
              <a:t>11</a:t>
            </a:fld>
            <a:endParaRPr lang="en-IN" dirty="0"/>
          </a:p>
        </p:txBody>
      </p:sp>
    </p:spTree>
    <p:extLst>
      <p:ext uri="{BB962C8B-B14F-4D97-AF65-F5344CB8AC3E}">
        <p14:creationId xmlns:p14="http://schemas.microsoft.com/office/powerpoint/2010/main" val="240587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Longest Match Making</a:t>
            </a:r>
          </a:p>
        </p:txBody>
      </p:sp>
      <p:pic>
        <p:nvPicPr>
          <p:cNvPr id="3" name="Content Placeholder 2">
            <a:extLst>
              <a:ext uri="{FF2B5EF4-FFF2-40B4-BE49-F238E27FC236}">
                <a16:creationId xmlns:a16="http://schemas.microsoft.com/office/drawing/2014/main" id="{B7985DD8-DB86-19D6-95A7-A302CE0DC0ED}"/>
              </a:ext>
            </a:extLst>
          </p:cNvPr>
          <p:cNvPicPr>
            <a:picLocks noGrp="1" noChangeAspect="1"/>
          </p:cNvPicPr>
          <p:nvPr>
            <p:ph idx="1"/>
          </p:nvPr>
        </p:nvPicPr>
        <p:blipFill rotWithShape="1">
          <a:blip r:embed="rId2"/>
          <a:srcRect l="40139" t="25312" r="23106" b="34189"/>
          <a:stretch/>
        </p:blipFill>
        <p:spPr>
          <a:xfrm>
            <a:off x="2133972" y="1628800"/>
            <a:ext cx="8208912" cy="4805217"/>
          </a:xfrm>
        </p:spPr>
      </p:pic>
      <p:sp>
        <p:nvSpPr>
          <p:cNvPr id="4" name="Footer Placeholder 3">
            <a:extLst>
              <a:ext uri="{FF2B5EF4-FFF2-40B4-BE49-F238E27FC236}">
                <a16:creationId xmlns:a16="http://schemas.microsoft.com/office/drawing/2014/main" id="{04A12D84-0AFB-D504-862D-5DD826837C66}"/>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B3C18DD4-23B6-1F59-AF38-144028D68913}"/>
              </a:ext>
            </a:extLst>
          </p:cNvPr>
          <p:cNvSpPr>
            <a:spLocks noGrp="1"/>
          </p:cNvSpPr>
          <p:nvPr>
            <p:ph type="sldNum" sz="quarter" idx="12"/>
          </p:nvPr>
        </p:nvSpPr>
        <p:spPr/>
        <p:txBody>
          <a:bodyPr/>
          <a:lstStyle/>
          <a:p>
            <a:fld id="{25BA54BD-C84D-46CE-8B72-31BFB26ABA43}" type="slidenum">
              <a:rPr lang="en-IN" smtClean="0"/>
              <a:t>12</a:t>
            </a:fld>
            <a:endParaRPr lang="en-IN" dirty="0"/>
          </a:p>
        </p:txBody>
      </p:sp>
    </p:spTree>
    <p:extLst>
      <p:ext uri="{BB962C8B-B14F-4D97-AF65-F5344CB8AC3E}">
        <p14:creationId xmlns:p14="http://schemas.microsoft.com/office/powerpoint/2010/main" val="2644181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Hierarchical Routing</a:t>
            </a:r>
          </a:p>
        </p:txBody>
      </p:sp>
      <p:sp>
        <p:nvSpPr>
          <p:cNvPr id="14" name="Content Placeholder 13"/>
          <p:cNvSpPr>
            <a:spLocks noGrp="1"/>
          </p:cNvSpPr>
          <p:nvPr>
            <p:ph idx="1"/>
          </p:nvPr>
        </p:nvSpPr>
        <p:spPr>
          <a:xfrm>
            <a:off x="1522414" y="1916832"/>
            <a:ext cx="9144000" cy="4267200"/>
          </a:xfrm>
        </p:spPr>
        <p:txBody>
          <a:bodyPr>
            <a:normAutofit fontScale="92500"/>
          </a:bodyPr>
          <a:lstStyle/>
          <a:p>
            <a:pPr algn="just"/>
            <a:r>
              <a:rPr lang="en-IN" dirty="0"/>
              <a:t>To solve the problem of gigantic forwarding tables, we can create a sense of hierarchy in the forwarding tables.</a:t>
            </a:r>
          </a:p>
          <a:p>
            <a:pPr algn="just"/>
            <a:r>
              <a:rPr lang="en-IN" dirty="0"/>
              <a:t>The Internet today has a sense of hierarchy. That the Internet is divided into backbone and national ISPs. National ISPs are divided into regional ISPs, and regional ISPs are divided into local ISPs.</a:t>
            </a:r>
          </a:p>
          <a:p>
            <a:pPr algn="just"/>
            <a:r>
              <a:rPr lang="en-IN" dirty="0"/>
              <a:t>If the forwarding table has a sense of hierarchy like the Internet architecture, the forwarding table can decrease in size.</a:t>
            </a:r>
          </a:p>
          <a:p>
            <a:pPr algn="just"/>
            <a:r>
              <a:rPr lang="en-IN" dirty="0"/>
              <a:t>Let us take the case of a local ISP. A local ISP can be assigned a single, but large, block of addresses with a certain prefix length. The local ISP can divide this block into smaller blocks of different sizes, and assign these to individual users and organizations, both large and small.</a:t>
            </a:r>
            <a:endParaRPr lang="en-US" dirty="0"/>
          </a:p>
        </p:txBody>
      </p:sp>
      <p:sp>
        <p:nvSpPr>
          <p:cNvPr id="2" name="Footer Placeholder 1">
            <a:extLst>
              <a:ext uri="{FF2B5EF4-FFF2-40B4-BE49-F238E27FC236}">
                <a16:creationId xmlns:a16="http://schemas.microsoft.com/office/drawing/2014/main" id="{4CE9EC11-5C47-C169-71C4-8863FDAA4E55}"/>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F691B14-2950-4CB9-C66E-7CE4A0550F32}"/>
              </a:ext>
            </a:extLst>
          </p:cNvPr>
          <p:cNvSpPr>
            <a:spLocks noGrp="1"/>
          </p:cNvSpPr>
          <p:nvPr>
            <p:ph type="sldNum" sz="quarter" idx="12"/>
          </p:nvPr>
        </p:nvSpPr>
        <p:spPr/>
        <p:txBody>
          <a:bodyPr/>
          <a:lstStyle/>
          <a:p>
            <a:fld id="{25BA54BD-C84D-46CE-8B72-31BFB26ABA43}" type="slidenum">
              <a:rPr lang="en-IN" smtClean="0"/>
              <a:t>13</a:t>
            </a:fld>
            <a:endParaRPr lang="en-IN" dirty="0"/>
          </a:p>
        </p:txBody>
      </p:sp>
    </p:spTree>
    <p:extLst>
      <p:ext uri="{BB962C8B-B14F-4D97-AF65-F5344CB8AC3E}">
        <p14:creationId xmlns:p14="http://schemas.microsoft.com/office/powerpoint/2010/main" val="2238065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Hierarchical Routing</a:t>
            </a:r>
          </a:p>
        </p:txBody>
      </p:sp>
      <p:sp>
        <p:nvSpPr>
          <p:cNvPr id="14" name="Content Placeholder 13"/>
          <p:cNvSpPr>
            <a:spLocks noGrp="1"/>
          </p:cNvSpPr>
          <p:nvPr>
            <p:ph idx="1"/>
          </p:nvPr>
        </p:nvSpPr>
        <p:spPr>
          <a:xfrm>
            <a:off x="1522414" y="1916832"/>
            <a:ext cx="9144000" cy="4267200"/>
          </a:xfrm>
        </p:spPr>
        <p:txBody>
          <a:bodyPr>
            <a:normAutofit/>
          </a:bodyPr>
          <a:lstStyle/>
          <a:p>
            <a:pPr algn="just"/>
            <a:r>
              <a:rPr lang="en-IN" dirty="0"/>
              <a:t>If the block assigned to the local ISP starts with </a:t>
            </a:r>
            <a:r>
              <a:rPr lang="en-IN" dirty="0" err="1"/>
              <a:t>a.b.c.d</a:t>
            </a:r>
            <a:r>
              <a:rPr lang="en-IN" dirty="0"/>
              <a:t>/n, the ISP can create blocks starting with </a:t>
            </a:r>
            <a:r>
              <a:rPr lang="en-IN" dirty="0" err="1"/>
              <a:t>e.f.g.h</a:t>
            </a:r>
            <a:r>
              <a:rPr lang="en-IN" dirty="0"/>
              <a:t>/m, where m may vary for each customer and is greater than n. How does this reduce the size of the forwarding table?</a:t>
            </a:r>
          </a:p>
          <a:p>
            <a:pPr algn="just"/>
            <a:r>
              <a:rPr lang="en-IN" dirty="0"/>
              <a:t>The rest of the Internet does not have to be aware of this division. All customers of the local ISP are defined as </a:t>
            </a:r>
            <a:r>
              <a:rPr lang="en-IN" dirty="0" err="1"/>
              <a:t>a.b.c.d</a:t>
            </a:r>
            <a:r>
              <a:rPr lang="en-IN" dirty="0"/>
              <a:t>/n to the rest of the Internet.</a:t>
            </a:r>
          </a:p>
          <a:p>
            <a:pPr algn="just"/>
            <a:r>
              <a:rPr lang="en-IN" dirty="0"/>
              <a:t>Every packet destined for one of the addresses in this large block is routed to the local ISP.</a:t>
            </a:r>
            <a:endParaRPr lang="en-US" dirty="0"/>
          </a:p>
        </p:txBody>
      </p:sp>
      <p:sp>
        <p:nvSpPr>
          <p:cNvPr id="2" name="Footer Placeholder 1">
            <a:extLst>
              <a:ext uri="{FF2B5EF4-FFF2-40B4-BE49-F238E27FC236}">
                <a16:creationId xmlns:a16="http://schemas.microsoft.com/office/drawing/2014/main" id="{7EFDD9DF-2BB9-6BA9-6782-5DC52EEB5ADC}"/>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887A6F6B-F42F-3D70-F3B8-77DE041ACE1C}"/>
              </a:ext>
            </a:extLst>
          </p:cNvPr>
          <p:cNvSpPr>
            <a:spLocks noGrp="1"/>
          </p:cNvSpPr>
          <p:nvPr>
            <p:ph type="sldNum" sz="quarter" idx="12"/>
          </p:nvPr>
        </p:nvSpPr>
        <p:spPr/>
        <p:txBody>
          <a:bodyPr/>
          <a:lstStyle/>
          <a:p>
            <a:fld id="{25BA54BD-C84D-46CE-8B72-31BFB26ABA43}" type="slidenum">
              <a:rPr lang="en-IN" smtClean="0"/>
              <a:t>14</a:t>
            </a:fld>
            <a:endParaRPr lang="en-IN" dirty="0"/>
          </a:p>
        </p:txBody>
      </p:sp>
    </p:spTree>
    <p:extLst>
      <p:ext uri="{BB962C8B-B14F-4D97-AF65-F5344CB8AC3E}">
        <p14:creationId xmlns:p14="http://schemas.microsoft.com/office/powerpoint/2010/main" val="531558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Hierarchical Routing</a:t>
            </a:r>
          </a:p>
        </p:txBody>
      </p:sp>
      <p:sp>
        <p:nvSpPr>
          <p:cNvPr id="14" name="Content Placeholder 13"/>
          <p:cNvSpPr>
            <a:spLocks noGrp="1"/>
          </p:cNvSpPr>
          <p:nvPr>
            <p:ph idx="1"/>
          </p:nvPr>
        </p:nvSpPr>
        <p:spPr>
          <a:xfrm>
            <a:off x="1522414" y="1916832"/>
            <a:ext cx="9144000" cy="4267200"/>
          </a:xfrm>
        </p:spPr>
        <p:txBody>
          <a:bodyPr>
            <a:normAutofit/>
          </a:bodyPr>
          <a:lstStyle/>
          <a:p>
            <a:pPr algn="just"/>
            <a:r>
              <a:rPr lang="en-IN" dirty="0"/>
              <a:t>There is only one entry in every router in the world for all of these customers. They all belong to the same group. Of course, inside the local ISP, the router must recognize the subblocks and route the packet to the destined customer. If one of the customers is a large organization, it also can create another level of hierarchy by subnetting and dividing its subblock into smaller subblocks (or sub-subblocks).</a:t>
            </a:r>
          </a:p>
          <a:p>
            <a:pPr algn="just"/>
            <a:r>
              <a:rPr lang="en-IN" dirty="0"/>
              <a:t>In classless routing, the levels of hierarchy are unlimited as long as we follow the rules of classless addressing.</a:t>
            </a:r>
            <a:endParaRPr lang="en-US" dirty="0"/>
          </a:p>
        </p:txBody>
      </p:sp>
      <p:sp>
        <p:nvSpPr>
          <p:cNvPr id="2" name="Footer Placeholder 1">
            <a:extLst>
              <a:ext uri="{FF2B5EF4-FFF2-40B4-BE49-F238E27FC236}">
                <a16:creationId xmlns:a16="http://schemas.microsoft.com/office/drawing/2014/main" id="{A3A2ED26-CEA2-9CD6-8A51-468FD1D39B4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6D4EFA08-C967-11F1-EDE7-E4ED3BFAE0A2}"/>
              </a:ext>
            </a:extLst>
          </p:cNvPr>
          <p:cNvSpPr>
            <a:spLocks noGrp="1"/>
          </p:cNvSpPr>
          <p:nvPr>
            <p:ph type="sldNum" sz="quarter" idx="12"/>
          </p:nvPr>
        </p:nvSpPr>
        <p:spPr/>
        <p:txBody>
          <a:bodyPr/>
          <a:lstStyle/>
          <a:p>
            <a:fld id="{25BA54BD-C84D-46CE-8B72-31BFB26ABA43}" type="slidenum">
              <a:rPr lang="en-IN" smtClean="0"/>
              <a:t>15</a:t>
            </a:fld>
            <a:endParaRPr lang="en-IN" dirty="0"/>
          </a:p>
        </p:txBody>
      </p:sp>
    </p:spTree>
    <p:extLst>
      <p:ext uri="{BB962C8B-B14F-4D97-AF65-F5344CB8AC3E}">
        <p14:creationId xmlns:p14="http://schemas.microsoft.com/office/powerpoint/2010/main" val="493686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Hierarchical Routing</a:t>
            </a:r>
          </a:p>
        </p:txBody>
      </p:sp>
      <p:pic>
        <p:nvPicPr>
          <p:cNvPr id="3" name="Content Placeholder 2">
            <a:extLst>
              <a:ext uri="{FF2B5EF4-FFF2-40B4-BE49-F238E27FC236}">
                <a16:creationId xmlns:a16="http://schemas.microsoft.com/office/drawing/2014/main" id="{9A9066CD-2084-33E0-EBDC-965CCE469598}"/>
              </a:ext>
            </a:extLst>
          </p:cNvPr>
          <p:cNvPicPr>
            <a:picLocks noGrp="1" noChangeAspect="1"/>
          </p:cNvPicPr>
          <p:nvPr>
            <p:ph idx="1"/>
          </p:nvPr>
        </p:nvPicPr>
        <p:blipFill rotWithShape="1">
          <a:blip r:embed="rId2"/>
          <a:srcRect l="24002" t="23641" r="15038" b="13922"/>
          <a:stretch/>
        </p:blipFill>
        <p:spPr>
          <a:xfrm>
            <a:off x="1985670" y="1700808"/>
            <a:ext cx="8677765" cy="4721725"/>
          </a:xfrm>
        </p:spPr>
      </p:pic>
      <p:sp>
        <p:nvSpPr>
          <p:cNvPr id="4" name="Footer Placeholder 3">
            <a:extLst>
              <a:ext uri="{FF2B5EF4-FFF2-40B4-BE49-F238E27FC236}">
                <a16:creationId xmlns:a16="http://schemas.microsoft.com/office/drawing/2014/main" id="{A1C8301B-248B-C278-8C80-9B13F9B25C94}"/>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28FB0A2E-CC33-0FD9-3554-287680C29C15}"/>
              </a:ext>
            </a:extLst>
          </p:cNvPr>
          <p:cNvSpPr>
            <a:spLocks noGrp="1"/>
          </p:cNvSpPr>
          <p:nvPr>
            <p:ph type="sldNum" sz="quarter" idx="12"/>
          </p:nvPr>
        </p:nvSpPr>
        <p:spPr/>
        <p:txBody>
          <a:bodyPr/>
          <a:lstStyle/>
          <a:p>
            <a:fld id="{25BA54BD-C84D-46CE-8B72-31BFB26ABA43}" type="slidenum">
              <a:rPr lang="en-IN" smtClean="0"/>
              <a:t>16</a:t>
            </a:fld>
            <a:endParaRPr lang="en-IN" dirty="0"/>
          </a:p>
        </p:txBody>
      </p:sp>
    </p:spTree>
    <p:extLst>
      <p:ext uri="{BB962C8B-B14F-4D97-AF65-F5344CB8AC3E}">
        <p14:creationId xmlns:p14="http://schemas.microsoft.com/office/powerpoint/2010/main" val="431467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Geographical Routing</a:t>
            </a:r>
          </a:p>
        </p:txBody>
      </p:sp>
      <p:sp>
        <p:nvSpPr>
          <p:cNvPr id="14" name="Content Placeholder 13"/>
          <p:cNvSpPr>
            <a:spLocks noGrp="1"/>
          </p:cNvSpPr>
          <p:nvPr>
            <p:ph idx="1"/>
          </p:nvPr>
        </p:nvSpPr>
        <p:spPr>
          <a:xfrm>
            <a:off x="1522414" y="1916832"/>
            <a:ext cx="9144000" cy="4267200"/>
          </a:xfrm>
        </p:spPr>
        <p:txBody>
          <a:bodyPr>
            <a:normAutofit/>
          </a:bodyPr>
          <a:lstStyle/>
          <a:p>
            <a:pPr algn="just"/>
            <a:r>
              <a:rPr lang="en-IN" dirty="0"/>
              <a:t>To decrease the size of the forwarding table even further, we need to extend hierarchical routing to include geographical routing.</a:t>
            </a:r>
          </a:p>
          <a:p>
            <a:pPr algn="just"/>
            <a:r>
              <a:rPr lang="en-IN" dirty="0"/>
              <a:t>We must divide the entire address space into a few large blocks.</a:t>
            </a:r>
          </a:p>
          <a:p>
            <a:pPr algn="just"/>
            <a:r>
              <a:rPr lang="en-IN" dirty="0"/>
              <a:t>We assign a block to America, a block to Europe, a block to Asia, a block to Africa, and so on.</a:t>
            </a:r>
          </a:p>
          <a:p>
            <a:pPr algn="just"/>
            <a:r>
              <a:rPr lang="en-IN" dirty="0"/>
              <a:t>The routers of ISPs outside of Europe will have only one entry for packets to Europe in their forwarding tables.</a:t>
            </a:r>
          </a:p>
          <a:p>
            <a:pPr algn="just"/>
            <a:r>
              <a:rPr lang="en-IN" dirty="0"/>
              <a:t>The routers of ISPs outside of America will have only one entry for packets to America in their forwarding tables, and so on.</a:t>
            </a:r>
            <a:endParaRPr lang="en-US" dirty="0"/>
          </a:p>
        </p:txBody>
      </p:sp>
      <p:sp>
        <p:nvSpPr>
          <p:cNvPr id="2" name="Footer Placeholder 1">
            <a:extLst>
              <a:ext uri="{FF2B5EF4-FFF2-40B4-BE49-F238E27FC236}">
                <a16:creationId xmlns:a16="http://schemas.microsoft.com/office/drawing/2014/main" id="{5F92CD85-9A18-B81D-211B-85FD75895737}"/>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5C51D5E6-5886-4C9D-9EA2-EEF5EAFEB344}"/>
              </a:ext>
            </a:extLst>
          </p:cNvPr>
          <p:cNvSpPr>
            <a:spLocks noGrp="1"/>
          </p:cNvSpPr>
          <p:nvPr>
            <p:ph type="sldNum" sz="quarter" idx="12"/>
          </p:nvPr>
        </p:nvSpPr>
        <p:spPr/>
        <p:txBody>
          <a:bodyPr/>
          <a:lstStyle/>
          <a:p>
            <a:fld id="{25BA54BD-C84D-46CE-8B72-31BFB26ABA43}" type="slidenum">
              <a:rPr lang="en-IN" smtClean="0"/>
              <a:t>17</a:t>
            </a:fld>
            <a:endParaRPr lang="en-IN" dirty="0"/>
          </a:p>
        </p:txBody>
      </p:sp>
    </p:spTree>
    <p:extLst>
      <p:ext uri="{BB962C8B-B14F-4D97-AF65-F5344CB8AC3E}">
        <p14:creationId xmlns:p14="http://schemas.microsoft.com/office/powerpoint/2010/main" val="1596636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Forwarding Table Search Algorithm</a:t>
            </a:r>
          </a:p>
        </p:txBody>
      </p:sp>
      <p:sp>
        <p:nvSpPr>
          <p:cNvPr id="14" name="Content Placeholder 13"/>
          <p:cNvSpPr>
            <a:spLocks noGrp="1"/>
          </p:cNvSpPr>
          <p:nvPr>
            <p:ph idx="1"/>
          </p:nvPr>
        </p:nvSpPr>
        <p:spPr>
          <a:xfrm>
            <a:off x="1522414" y="1916832"/>
            <a:ext cx="9144000" cy="4267200"/>
          </a:xfrm>
        </p:spPr>
        <p:txBody>
          <a:bodyPr>
            <a:normAutofit fontScale="92500" lnSpcReduction="10000"/>
          </a:bodyPr>
          <a:lstStyle/>
          <a:p>
            <a:pPr algn="just"/>
            <a:r>
              <a:rPr lang="en-IN" dirty="0"/>
              <a:t>In classless addressing, there is no network information in the destination address.</a:t>
            </a:r>
          </a:p>
          <a:p>
            <a:pPr algn="just"/>
            <a:r>
              <a:rPr lang="en-IN" dirty="0"/>
              <a:t>The simplest, but not the most efficient, search method is called the longest prefix match (as we discussed before).</a:t>
            </a:r>
          </a:p>
          <a:p>
            <a:pPr algn="just"/>
            <a:r>
              <a:rPr lang="en-IN" dirty="0"/>
              <a:t>The forwarding table can be divided into buckets, one for each prefix.</a:t>
            </a:r>
          </a:p>
          <a:p>
            <a:pPr algn="just"/>
            <a:r>
              <a:rPr lang="en-IN" dirty="0"/>
              <a:t>The router first tries the longest prefix. If the destination address is found in this bucket, the search is complete. If the address is not found, the next prefix is searched, and so on.</a:t>
            </a:r>
          </a:p>
          <a:p>
            <a:pPr algn="just"/>
            <a:r>
              <a:rPr lang="en-IN" dirty="0"/>
              <a:t>It is obvious that this type of search takes a long time. One solution is to change the data structure used for searching. Instead of a list, other data structures (such as a tree or a binary tree) can be used. One candidate is a tree (a special kind of tree). </a:t>
            </a:r>
            <a:endParaRPr lang="en-US" dirty="0"/>
          </a:p>
        </p:txBody>
      </p:sp>
      <p:sp>
        <p:nvSpPr>
          <p:cNvPr id="2" name="Footer Placeholder 1">
            <a:extLst>
              <a:ext uri="{FF2B5EF4-FFF2-40B4-BE49-F238E27FC236}">
                <a16:creationId xmlns:a16="http://schemas.microsoft.com/office/drawing/2014/main" id="{3D278491-6D69-4DFB-858C-B20D1459F087}"/>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3" name="Slide Number Placeholder 2">
            <a:extLst>
              <a:ext uri="{FF2B5EF4-FFF2-40B4-BE49-F238E27FC236}">
                <a16:creationId xmlns:a16="http://schemas.microsoft.com/office/drawing/2014/main" id="{302E31A9-1B4B-0613-1E7A-40147CE2BB55}"/>
              </a:ext>
            </a:extLst>
          </p:cNvPr>
          <p:cNvSpPr>
            <a:spLocks noGrp="1"/>
          </p:cNvSpPr>
          <p:nvPr>
            <p:ph type="sldNum" sz="quarter" idx="12"/>
          </p:nvPr>
        </p:nvSpPr>
        <p:spPr/>
        <p:txBody>
          <a:bodyPr/>
          <a:lstStyle/>
          <a:p>
            <a:fld id="{25BA54BD-C84D-46CE-8B72-31BFB26ABA43}" type="slidenum">
              <a:rPr lang="en-IN" smtClean="0"/>
              <a:t>18</a:t>
            </a:fld>
            <a:endParaRPr lang="en-IN" dirty="0"/>
          </a:p>
        </p:txBody>
      </p:sp>
    </p:spTree>
    <p:extLst>
      <p:ext uri="{BB962C8B-B14F-4D97-AF65-F5344CB8AC3E}">
        <p14:creationId xmlns:p14="http://schemas.microsoft.com/office/powerpoint/2010/main" val="2950926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Questions</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sz="half" idx="2"/>
          </p:nvPr>
        </p:nvSpPr>
        <p:spPr>
          <a:xfrm>
            <a:off x="1522413" y="1700808"/>
            <a:ext cx="9828582" cy="4548336"/>
          </a:xfrm>
        </p:spPr>
        <p:txBody>
          <a:bodyPr>
            <a:normAutofit/>
          </a:bodyPr>
          <a:lstStyle/>
          <a:p>
            <a:pPr algn="just"/>
            <a:r>
              <a:rPr lang="en-IN" dirty="0"/>
              <a:t>Explain forwarding of IP packet based on destination address.</a:t>
            </a:r>
          </a:p>
        </p:txBody>
      </p:sp>
      <p:sp>
        <p:nvSpPr>
          <p:cNvPr id="4" name="Slide Number Placeholder 3">
            <a:extLst>
              <a:ext uri="{FF2B5EF4-FFF2-40B4-BE49-F238E27FC236}">
                <a16:creationId xmlns:a16="http://schemas.microsoft.com/office/drawing/2014/main" id="{7166B7F0-FAD0-1A34-FDC1-5E3F881A8218}"/>
              </a:ext>
            </a:extLst>
          </p:cNvPr>
          <p:cNvSpPr>
            <a:spLocks noGrp="1"/>
          </p:cNvSpPr>
          <p:nvPr>
            <p:ph type="sldNum" sz="quarter" idx="12"/>
          </p:nvPr>
        </p:nvSpPr>
        <p:spPr/>
        <p:txBody>
          <a:bodyPr/>
          <a:lstStyle/>
          <a:p>
            <a:fld id="{25BA54BD-C84D-46CE-8B72-31BFB26ABA43}" type="slidenum">
              <a:rPr lang="en-IN" smtClean="0"/>
              <a:t>19</a:t>
            </a:fld>
            <a:endParaRPr lang="en-IN"/>
          </a:p>
        </p:txBody>
      </p:sp>
      <p:sp>
        <p:nvSpPr>
          <p:cNvPr id="6" name="Footer Placeholder 5">
            <a:extLst>
              <a:ext uri="{FF2B5EF4-FFF2-40B4-BE49-F238E27FC236}">
                <a16:creationId xmlns:a16="http://schemas.microsoft.com/office/drawing/2014/main" id="{DD6ED850-8E54-66EB-261F-98C6024F0E14}"/>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3296368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CEA67-3E49-4E7D-7A98-16AF0A7AE2D0}"/>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628D34CA-3057-3B29-235C-391804E572D6}"/>
              </a:ext>
            </a:extLst>
          </p:cNvPr>
          <p:cNvSpPr>
            <a:spLocks noGrp="1"/>
          </p:cNvSpPr>
          <p:nvPr>
            <p:ph idx="1"/>
          </p:nvPr>
        </p:nvSpPr>
        <p:spPr>
          <a:xfrm>
            <a:off x="1522414" y="1905000"/>
            <a:ext cx="9972598" cy="4267200"/>
          </a:xfrm>
        </p:spPr>
        <p:txBody>
          <a:bodyPr/>
          <a:lstStyle/>
          <a:p>
            <a:r>
              <a:rPr lang="en-IN" dirty="0"/>
              <a:t>Data Communication and Networking, Fifth Edition, BEHROUZ A. FOROUZAN</a:t>
            </a:r>
          </a:p>
          <a:p>
            <a:r>
              <a:rPr lang="en-IN" dirty="0"/>
              <a:t>Data Communication and Networking, Fourth Edition, BEHROUZAN A. FOROUZA</a:t>
            </a:r>
          </a:p>
          <a:p>
            <a:r>
              <a:rPr lang="en-IN" dirty="0"/>
              <a:t>https://www.geeksforgeeks.org/introduction-of-classful-ip-addressing/</a:t>
            </a:r>
          </a:p>
        </p:txBody>
      </p:sp>
      <p:sp>
        <p:nvSpPr>
          <p:cNvPr id="4" name="Slide Number Placeholder 3">
            <a:extLst>
              <a:ext uri="{FF2B5EF4-FFF2-40B4-BE49-F238E27FC236}">
                <a16:creationId xmlns:a16="http://schemas.microsoft.com/office/drawing/2014/main" id="{CC2B7138-204E-E4B0-95AD-9C0A1E5E2757}"/>
              </a:ext>
            </a:extLst>
          </p:cNvPr>
          <p:cNvSpPr>
            <a:spLocks noGrp="1"/>
          </p:cNvSpPr>
          <p:nvPr>
            <p:ph type="sldNum" sz="quarter" idx="12"/>
          </p:nvPr>
        </p:nvSpPr>
        <p:spPr/>
        <p:txBody>
          <a:bodyPr/>
          <a:lstStyle/>
          <a:p>
            <a:fld id="{25BA54BD-C84D-46CE-8B72-31BFB26ABA43}" type="slidenum">
              <a:rPr lang="en-IN" smtClean="0"/>
              <a:t>20</a:t>
            </a:fld>
            <a:endParaRPr lang="en-IN" dirty="0"/>
          </a:p>
        </p:txBody>
      </p:sp>
      <p:sp>
        <p:nvSpPr>
          <p:cNvPr id="5" name="Footer Placeholder 4">
            <a:extLst>
              <a:ext uri="{FF2B5EF4-FFF2-40B4-BE49-F238E27FC236}">
                <a16:creationId xmlns:a16="http://schemas.microsoft.com/office/drawing/2014/main" id="{AFA4CB0E-E2D9-6205-4A43-3F8B6BE7281F}"/>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795212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47610-DBBD-DB92-3D84-C72F837108B4}"/>
              </a:ext>
            </a:extLst>
          </p:cNvPr>
          <p:cNvSpPr/>
          <p:nvPr/>
        </p:nvSpPr>
        <p:spPr>
          <a:xfrm>
            <a:off x="3043046" y="2852936"/>
            <a:ext cx="6102732" cy="1446550"/>
          </a:xfrm>
          <a:prstGeom prst="rect">
            <a:avLst/>
          </a:prstGeom>
          <a:noFill/>
        </p:spPr>
        <p:txBody>
          <a:bodyPr wrap="square" lIns="91440" tIns="45720" rIns="91440" bIns="45720">
            <a:spAutoFit/>
          </a:bodyPr>
          <a:lstStyle/>
          <a:p>
            <a:pPr algn="ctr"/>
            <a:r>
              <a:rPr lang="en-US" sz="8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Thank You</a:t>
            </a:r>
          </a:p>
        </p:txBody>
      </p:sp>
      <p:sp>
        <p:nvSpPr>
          <p:cNvPr id="3" name="Slide Number Placeholder 2">
            <a:extLst>
              <a:ext uri="{FF2B5EF4-FFF2-40B4-BE49-F238E27FC236}">
                <a16:creationId xmlns:a16="http://schemas.microsoft.com/office/drawing/2014/main" id="{F7CE38C1-8290-85FE-30CB-97B4DF97642A}"/>
              </a:ext>
            </a:extLst>
          </p:cNvPr>
          <p:cNvSpPr>
            <a:spLocks noGrp="1"/>
          </p:cNvSpPr>
          <p:nvPr>
            <p:ph type="sldNum" sz="quarter" idx="12"/>
          </p:nvPr>
        </p:nvSpPr>
        <p:spPr/>
        <p:txBody>
          <a:bodyPr/>
          <a:lstStyle/>
          <a:p>
            <a:fld id="{25BA54BD-C84D-46CE-8B72-31BFB26ABA43}" type="slidenum">
              <a:rPr lang="en-IN" smtClean="0"/>
              <a:t>21</a:t>
            </a:fld>
            <a:endParaRPr lang="en-IN"/>
          </a:p>
        </p:txBody>
      </p:sp>
      <p:sp>
        <p:nvSpPr>
          <p:cNvPr id="4" name="Footer Placeholder 3">
            <a:extLst>
              <a:ext uri="{FF2B5EF4-FFF2-40B4-BE49-F238E27FC236}">
                <a16:creationId xmlns:a16="http://schemas.microsoft.com/office/drawing/2014/main" id="{F0B58446-4D58-3800-90DD-01829CC0966C}"/>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2181935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0001018.potx" id="{D19C2884-2C55-4C1A-A5C2-5D03FF1F35A4}" vid="{5F7A9C6A-558C-4654-B762-2F22BC904FAE}"/>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Chalkboard education presentation (widescreen)</Template>
  <TotalTime>232</TotalTime>
  <Words>1792</Words>
  <Application>Microsoft Office PowerPoint</Application>
  <PresentationFormat>Custom</PresentationFormat>
  <Paragraphs>117</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Consolas</vt:lpstr>
      <vt:lpstr>Corbel</vt:lpstr>
      <vt:lpstr>Chalkboard 16x9</vt:lpstr>
      <vt:lpstr>Advanced Computer Network  (4350706)  Unit-1 Network Layer Protocols </vt:lpstr>
      <vt:lpstr>Topics to be discussed</vt:lpstr>
      <vt:lpstr>Forwarding of IP packets</vt:lpstr>
      <vt:lpstr>Forwarding based on destination address</vt:lpstr>
      <vt:lpstr>Forwarding based on destination address</vt:lpstr>
      <vt:lpstr>Forwarding based on destination address</vt:lpstr>
      <vt:lpstr>Example</vt:lpstr>
      <vt:lpstr>Example</vt:lpstr>
      <vt:lpstr>Address Aggregation</vt:lpstr>
      <vt:lpstr>Address Aggregation</vt:lpstr>
      <vt:lpstr>Longest Match Making</vt:lpstr>
      <vt:lpstr>Longest Match Making</vt:lpstr>
      <vt:lpstr>Hierarchical Routing</vt:lpstr>
      <vt:lpstr>Hierarchical Routing</vt:lpstr>
      <vt:lpstr>Hierarchical Routing</vt:lpstr>
      <vt:lpstr>Hierarchical Routing</vt:lpstr>
      <vt:lpstr>Geographical Routing</vt:lpstr>
      <vt:lpstr>Forwarding Table Search Algorithm</vt:lpstr>
      <vt:lpstr>Questions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Computer Network  (4350706)  Unit-1 Network Layer Protocols</dc:title>
  <dc:creator>CHETANKUMAR KAMANI</dc:creator>
  <cp:lastModifiedBy>CHETANKUMAR KAMANI</cp:lastModifiedBy>
  <cp:revision>9</cp:revision>
  <dcterms:created xsi:type="dcterms:W3CDTF">2023-08-27T07:27:45Z</dcterms:created>
  <dcterms:modified xsi:type="dcterms:W3CDTF">2023-09-12T10:37:56Z</dcterms:modified>
</cp:coreProperties>
</file>